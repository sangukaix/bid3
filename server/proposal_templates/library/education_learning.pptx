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b6af0ddb514205" /><Relationship Type="http://schemas.openxmlformats.org/officeDocument/2006/relationships/extended-properties" Target="/docProps/app.xml" Id="R2c878271425d4cb4" /><Relationship Type="http://schemas.openxmlformats.org/officeDocument/2006/relationships/officeDocument" Target="/ppt/presentation.xml" Id="R797cd327e4134a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4e82a5ebfd4360"/>
  </p:sldMasterIdLst>
  <p:notesMasterIdLst>
    <p:notesMasterId xmlns:r="http://schemas.openxmlformats.org/officeDocument/2006/relationships" r:id="R7e1e279b85154a3a"/>
  </p:notesMasterIdLst>
  <p:sldIdLst>
    <p:sldId xmlns:r="http://schemas.openxmlformats.org/officeDocument/2006/relationships" id="256" r:id="R186455a2d00a42fb"/>
    <p:sldId xmlns:r="http://schemas.openxmlformats.org/officeDocument/2006/relationships" id="257" r:id="Re5d2678ef19d4444"/>
    <p:sldId xmlns:r="http://schemas.openxmlformats.org/officeDocument/2006/relationships" id="258" r:id="R6260332fc8bc4266"/>
    <p:sldId xmlns:r="http://schemas.openxmlformats.org/officeDocument/2006/relationships" id="259" r:id="R9aab3ebc8710403e"/>
    <p:sldId xmlns:r="http://schemas.openxmlformats.org/officeDocument/2006/relationships" id="260" r:id="Ra7583f4bb1e84805"/>
    <p:sldId xmlns:r="http://schemas.openxmlformats.org/officeDocument/2006/relationships" id="261" r:id="Rb90fa773f55a4835"/>
    <p:sldId xmlns:r="http://schemas.openxmlformats.org/officeDocument/2006/relationships" id="262" r:id="R34d2d6bfaa2242f1"/>
    <p:sldId xmlns:r="http://schemas.openxmlformats.org/officeDocument/2006/relationships" id="263" r:id="R1b1b4727039a4163"/>
    <p:sldId xmlns:r="http://schemas.openxmlformats.org/officeDocument/2006/relationships" id="264" r:id="R40b1e87395434a8d"/>
    <p:sldId xmlns:r="http://schemas.openxmlformats.org/officeDocument/2006/relationships" id="265" r:id="R1de0ceaaf3184795"/>
    <p:sldId xmlns:r="http://schemas.openxmlformats.org/officeDocument/2006/relationships" id="266" r:id="R26a8b1ee29914cb1"/>
    <p:sldId xmlns:r="http://schemas.openxmlformats.org/officeDocument/2006/relationships" id="267" r:id="R94405578da234ee4"/>
    <p:sldId xmlns:r="http://schemas.openxmlformats.org/officeDocument/2006/relationships" id="268" r:id="Ra7eb1e4507a74dbd"/>
    <p:sldId xmlns:r="http://schemas.openxmlformats.org/officeDocument/2006/relationships" id="269" r:id="Ra367826d7e6b41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da3846fc9c469c" /><Relationship Type="http://schemas.openxmlformats.org/officeDocument/2006/relationships/slideMaster" Target="/ppt/slideMasters/slideMaster1.xml" Id="R3f4e82a5ebfd4360" /><Relationship Type="http://schemas.openxmlformats.org/officeDocument/2006/relationships/notesMaster" Target="/ppt/notesMasters/notesMaster1.xml" Id="R7e1e279b85154a3a" /><Relationship Type="http://schemas.openxmlformats.org/officeDocument/2006/relationships/presProps" Target="/ppt/presProps.xml" Id="R1171e51b3f5f47df" /><Relationship Type="http://schemas.openxmlformats.org/officeDocument/2006/relationships/tableStyles" Target="/ppt/tableStyles.xml" Id="R71b5ebdd66684a9a" /><Relationship Type="http://schemas.openxmlformats.org/officeDocument/2006/relationships/slide" Target="/ppt/slides/slide1.xml" Id="R186455a2d00a42fb" /><Relationship Type="http://schemas.openxmlformats.org/officeDocument/2006/relationships/slide" Target="/ppt/slides/slide2.xml" Id="Re5d2678ef19d4444" /><Relationship Type="http://schemas.openxmlformats.org/officeDocument/2006/relationships/slide" Target="/ppt/slides/slide3.xml" Id="R6260332fc8bc4266" /><Relationship Type="http://schemas.openxmlformats.org/officeDocument/2006/relationships/slide" Target="/ppt/slides/slide4.xml" Id="R9aab3ebc8710403e" /><Relationship Type="http://schemas.openxmlformats.org/officeDocument/2006/relationships/slide" Target="/ppt/slides/slide5.xml" Id="Ra7583f4bb1e84805" /><Relationship Type="http://schemas.openxmlformats.org/officeDocument/2006/relationships/slide" Target="/ppt/slides/slide6.xml" Id="Rb90fa773f55a4835" /><Relationship Type="http://schemas.openxmlformats.org/officeDocument/2006/relationships/slide" Target="/ppt/slides/slide7.xml" Id="R34d2d6bfaa2242f1" /><Relationship Type="http://schemas.openxmlformats.org/officeDocument/2006/relationships/slide" Target="/ppt/slides/slide8.xml" Id="R1b1b4727039a4163" /><Relationship Type="http://schemas.openxmlformats.org/officeDocument/2006/relationships/slide" Target="/ppt/slides/slide9.xml" Id="R40b1e87395434a8d" /><Relationship Type="http://schemas.openxmlformats.org/officeDocument/2006/relationships/slide" Target="/ppt/slides/slide10.xml" Id="R1de0ceaaf3184795" /><Relationship Type="http://schemas.openxmlformats.org/officeDocument/2006/relationships/slide" Target="/ppt/slides/slide11.xml" Id="R26a8b1ee29914cb1" /><Relationship Type="http://schemas.openxmlformats.org/officeDocument/2006/relationships/slide" Target="/ppt/slides/slide12.xml" Id="R94405578da234ee4" /><Relationship Type="http://schemas.openxmlformats.org/officeDocument/2006/relationships/slide" Target="/ppt/slides/slide13.xml" Id="Ra7eb1e4507a74dbd" /><Relationship Type="http://schemas.openxmlformats.org/officeDocument/2006/relationships/slide" Target="/ppt/slides/slide14.xml" Id="Ra367826d7e6b41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3be74b9b1b4a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c107fbe4a2424f" /><Relationship Type="http://schemas.openxmlformats.org/officeDocument/2006/relationships/notesMaster" Target="/ppt/notesMasters/notesMaster1.xml" Id="Raf46c95d62844c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00543dc17b4c7f" /><Relationship Type="http://schemas.openxmlformats.org/officeDocument/2006/relationships/notesMaster" Target="/ppt/notesMasters/notesMaster1.xml" Id="R7055126733094b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5f1411c6594e22" /><Relationship Type="http://schemas.openxmlformats.org/officeDocument/2006/relationships/notesMaster" Target="/ppt/notesMasters/notesMaster1.xml" Id="R53646330d1f649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ca393217104a8a" /><Relationship Type="http://schemas.openxmlformats.org/officeDocument/2006/relationships/notesMaster" Target="/ppt/notesMasters/notesMaster1.xml" Id="Ra52c7c8d32074b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546d4f74bd4a88" /><Relationship Type="http://schemas.openxmlformats.org/officeDocument/2006/relationships/notesMaster" Target="/ppt/notesMasters/notesMaster1.xml" Id="R2b13e86c958842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211e776aba44f3" /><Relationship Type="http://schemas.openxmlformats.org/officeDocument/2006/relationships/notesMaster" Target="/ppt/notesMasters/notesMaster1.xml" Id="R5aa6fc8d6c7045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2260dc83b44f76" /><Relationship Type="http://schemas.openxmlformats.org/officeDocument/2006/relationships/notesMaster" Target="/ppt/notesMasters/notesMaster1.xml" Id="Rb09c3fbddca141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de7241db864c85" /><Relationship Type="http://schemas.openxmlformats.org/officeDocument/2006/relationships/notesMaster" Target="/ppt/notesMasters/notesMaster1.xml" Id="R3f765401cbe14a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54bf4415964418" /><Relationship Type="http://schemas.openxmlformats.org/officeDocument/2006/relationships/notesMaster" Target="/ppt/notesMasters/notesMaster1.xml" Id="Rc6a3e9db742446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809e1c607864f57" /><Relationship Type="http://schemas.openxmlformats.org/officeDocument/2006/relationships/notesMaster" Target="/ppt/notesMasters/notesMaster1.xml" Id="R07aaf7d146fd49a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9488b82afca48b2" /><Relationship Type="http://schemas.openxmlformats.org/officeDocument/2006/relationships/notesMaster" Target="/ppt/notesMasters/notesMaster1.xml" Id="Ra596c690174b45d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3f39bb9d1bd4c6f" /><Relationship Type="http://schemas.openxmlformats.org/officeDocument/2006/relationships/notesMaster" Target="/ppt/notesMasters/notesMaster1.xml" Id="R9f708d9f146d435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fef88f79f2c44e8" /><Relationship Type="http://schemas.openxmlformats.org/officeDocument/2006/relationships/notesMaster" Target="/ppt/notesMasters/notesMaster1.xml" Id="Rfb727defc668422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db78126d777402b" /><Relationship Type="http://schemas.openxmlformats.org/officeDocument/2006/relationships/notesMaster" Target="/ppt/notesMasters/notesMaster1.xml" Id="R7c6d948a75c04d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생성 가상 교육 장면. 실제 회사 직원·강사·수행 사진 아님.</a:t>
            </a:r>
          </a:p>
          <a:p xmlns:a="http://schemas.openxmlformats.org/drawingml/2006/main">
            <a:r>
              <a:t>이미지 출처: BID3 기존 Codex 생성 이미지</a:t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공개 교육 제안서: 로앤비 기업 맞춤형 교육 프로그램 제안서</a:t>
            </a:r>
          </a:p>
          <a:p xmlns:a="http://schemas.openxmlformats.org/drawingml/2006/main">
            <a:r>
              <a:t>https://www.lawnbedu.com/File/UploadImg/2018-05-03/tr_lawnbedu_company_lecture_20180503.pdf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공개 교육 제안서: 로앤비 기업 맞춤형 교육 프로그램 제안서</a:t>
            </a:r>
          </a:p>
          <a:p xmlns:a="http://schemas.openxmlformats.org/drawingml/2006/main">
            <a:r>
              <a:t>https://www.lawnbedu.com/File/UploadImg/2018-05-03/tr_lawnbedu_company_lecture_20180503.pdf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생성 가상 교육 장면. 실제 회사 직원·강사·수행 사진 아님.</a:t>
            </a:r>
          </a:p>
          <a:p xmlns:a="http://schemas.openxmlformats.org/drawingml/2006/main">
            <a:r>
              <a:t>이미지 출처: BID3 기존 Codex 생성 이미지</a:t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공개 교육 제안서: 로앤비 기업 맞춤형 교육 프로그램 제안서</a:t>
            </a:r>
          </a:p>
          <a:p xmlns:a="http://schemas.openxmlformats.org/drawingml/2006/main">
            <a:r>
              <a:t>https://www.lawnbedu.com/File/UploadImg/2018-05-03/tr_lawnbedu_company_lecture_20180503.pdf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공개 교육 제안서: 로앤비 기업 맞춤형 교육 프로그램 제안서</a:t>
            </a:r>
          </a:p>
          <a:p xmlns:a="http://schemas.openxmlformats.org/drawingml/2006/main">
            <a:r>
              <a:t>https://www.lawnbedu.com/File/UploadImg/2018-05-03/tr_lawnbedu_company_lecture_20180503.pdf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공개 교육 제안서: 로앤비 기업 맞춤형 교육 프로그램 제안서</a:t>
            </a:r>
          </a:p>
          <a:p xmlns:a="http://schemas.openxmlformats.org/drawingml/2006/main">
            <a:r>
              <a:t>https://www.lawnbedu.com/File/UploadImg/2018-05-03/tr_lawnbedu_company_lecture_20180503.pdf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공개 교육 제안서: 로앤비 기업 맞춤형 교육 프로그램 제안서</a:t>
            </a:r>
          </a:p>
          <a:p xmlns:a="http://schemas.openxmlformats.org/drawingml/2006/main">
            <a:r>
              <a:t>https://www.lawnbedu.com/File/UploadImg/2018-05-03/tr_lawnbedu_company_lecture_20180503.pdf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공개 교육 제안서: 로앤비 기업 맞춤형 교육 프로그램 제안서</a:t>
            </a:r>
          </a:p>
          <a:p xmlns:a="http://schemas.openxmlformats.org/drawingml/2006/main">
            <a:r>
              <a:t>https://www.lawnbedu.com/File/UploadImg/2018-05-03/tr_lawnbedu_company_lecture_20180503.pdf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공개 교육 제안서: 로앤비 기업 맞춤형 교육 프로그램 제안서</a:t>
            </a:r>
          </a:p>
          <a:p xmlns:a="http://schemas.openxmlformats.org/drawingml/2006/main">
            <a:r>
              <a:t>https://www.lawnbedu.com/File/UploadImg/2018-05-03/tr_lawnbedu_company_lecture_20180503.pdf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공개 교육 제안서: 로앤비 기업 맞춤형 교육 프로그램 제안서</a:t>
            </a:r>
          </a:p>
          <a:p xmlns:a="http://schemas.openxmlformats.org/drawingml/2006/main">
            <a:r>
              <a:t>https://www.lawnbedu.com/File/UploadImg/2018-05-03/tr_lawnbedu_company_lecture_20180503.pdf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공개 교육 제안서: 로앤비 기업 맞춤형 교육 프로그램 제안서</a:t>
            </a:r>
          </a:p>
          <a:p xmlns:a="http://schemas.openxmlformats.org/drawingml/2006/main">
            <a:r>
              <a:t>https://www.lawnbedu.com/File/UploadImg/2018-05-03/tr_lawnbedu_company_lecture_20180503.pdf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공개 교육 제안서: 로앤비 기업 맞춤형 교육 프로그램 제안서</a:t>
            </a:r>
          </a:p>
          <a:p xmlns:a="http://schemas.openxmlformats.org/drawingml/2006/main">
            <a:r>
              <a:t>https://www.lawnbedu.com/File/UploadImg/2018-05-03/tr_lawnbedu_company_lecture_20180503.pdf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공개 교육 제안서: 로앤비 기업 맞춤형 교육 프로그램 제안서</a:t>
            </a:r>
          </a:p>
          <a:p xmlns:a="http://schemas.openxmlformats.org/drawingml/2006/main">
            <a:r>
              <a:t>https://www.lawnbedu.com/File/UploadImg/2018-05-03/tr_lawnbedu_company_lecture_20180503.pdf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공개 교육 제안서: 로앤비 기업 맞춤형 교육 프로그램 제안서</a:t>
            </a:r>
          </a:p>
          <a:p xmlns:a="http://schemas.openxmlformats.org/drawingml/2006/main">
            <a:r>
              <a:t>https://www.lawnbedu.com/File/UploadImg/2018-05-03/tr_lawnbedu_company_lecture_20180503.pdf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공개 교육 제안서: 로앤비 기업 맞춤형 교육 프로그램 제안서</a:t>
            </a:r>
          </a:p>
          <a:p xmlns:a="http://schemas.openxmlformats.org/drawingml/2006/main">
            <a:r>
              <a:t>https://www.lawnbedu.com/File/UploadImg/2018-05-03/tr_lawnbedu_company_lecture_20180503.pdf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a135abab1848c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b89efbd16f4fe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ddb4713ea64f4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f6ad1c9a9b4ea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9cc5ae4a7e451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25ad5f284149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E3181B-DE3F-45B9-A613-7A28E879E2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0C60FD9-DDD1-4E08-A0F3-0AE59995B02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71B0779-0971-426F-8E69-D161B92BB7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425659-F913-41AE-8631-B8DDCFB12A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6AC0AFD-C854-4AE0-B381-76F333B9D3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DE5BEEE-E9F0-472F-A25D-E850ACA3B9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40870FC-AD89-4C74-8959-0ABA33D0C3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0E32B65-6AEC-4F0E-A144-0C9AFD543C6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7D52D2-B3E0-445D-985D-49F4ED1DDF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A212F2C-141A-4BD0-AA46-07359FA118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0cc9a3d1e947dc" /><Relationship Type="http://schemas.openxmlformats.org/officeDocument/2006/relationships/slideLayout" Target="/ppt/slideLayouts/slideLayout1.xml" Id="R5e5d28976ed04c81" /><Relationship Type="http://schemas.openxmlformats.org/officeDocument/2006/relationships/slideLayout" Target="/ppt/slideLayouts/slideLayout2.xml" Id="Rfc35e5b318764297" /><Relationship Type="http://schemas.openxmlformats.org/officeDocument/2006/relationships/slideLayout" Target="/ppt/slideLayouts/slideLayout3.xml" Id="R97703544dca346e8" /><Relationship Type="http://schemas.openxmlformats.org/officeDocument/2006/relationships/slideLayout" Target="/ppt/slideLayouts/slideLayout4.xml" Id="R66a7999e5dd94050" /><Relationship Type="http://schemas.openxmlformats.org/officeDocument/2006/relationships/slideLayout" Target="/ppt/slideLayouts/slideLayout5.xml" Id="Redc5a9442fd24297" /><Relationship Type="http://schemas.openxmlformats.org/officeDocument/2006/relationships/slideLayout" Target="/ppt/slideLayouts/slideLayout6.xml" Id="Rfab5a7ff73b648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5d28976ed04c81"/>
    <p:sldLayoutId xmlns:r="http://schemas.openxmlformats.org/officeDocument/2006/relationships" id="2147483650" r:id="Rfc35e5b318764297"/>
    <p:sldLayoutId xmlns:r="http://schemas.openxmlformats.org/officeDocument/2006/relationships" id="2147483651" r:id="R97703544dca346e8"/>
    <p:sldLayoutId xmlns:r="http://schemas.openxmlformats.org/officeDocument/2006/relationships" id="2147483652" r:id="R66a7999e5dd94050"/>
    <p:sldLayoutId xmlns:r="http://schemas.openxmlformats.org/officeDocument/2006/relationships" id="2147483653" r:id="Redc5a9442fd24297"/>
    <p:sldLayoutId xmlns:r="http://schemas.openxmlformats.org/officeDocument/2006/relationships" id="2147483654" r:id="Rfab5a7ff73b648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6b226461bf40fc" /><Relationship Type="http://schemas.openxmlformats.org/officeDocument/2006/relationships/image" Target="/ppt/media/image.png" Id="Ra9b1517ef9624065" /><Relationship Type="http://schemas.openxmlformats.org/officeDocument/2006/relationships/notesSlide" Target="/ppt/notesSlides/notesSlide1.xml" Id="Re76092b03b9a40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4aa532a9274d16" /><Relationship Type="http://schemas.openxmlformats.org/officeDocument/2006/relationships/notesSlide" Target="/ppt/notesSlides/notesSlide2.xml" Id="R9f60e7b8f22c49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839d6984b94126" /><Relationship Type="http://schemas.openxmlformats.org/officeDocument/2006/relationships/image" Target="/ppt/media/image2.png" Id="Rcde4ed1d25ca4ae9" /><Relationship Type="http://schemas.openxmlformats.org/officeDocument/2006/relationships/notesSlide" Target="/ppt/notesSlides/notesSlide3.xml" Id="R486c0890f28144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995135dd8c4276" /><Relationship Type="http://schemas.openxmlformats.org/officeDocument/2006/relationships/notesSlide" Target="/ppt/notesSlides/notesSlide4.xml" Id="Re0afa74d6c0047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e0102040144751" /><Relationship Type="http://schemas.openxmlformats.org/officeDocument/2006/relationships/notesSlide" Target="/ppt/notesSlides/notesSlide5.xml" Id="R5f22d59b159444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b90de756a24c23" /><Relationship Type="http://schemas.openxmlformats.org/officeDocument/2006/relationships/notesSlide" Target="/ppt/notesSlides/notesSlide6.xml" Id="R18c3656227da413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3794d4f21f45a8" /><Relationship Type="http://schemas.openxmlformats.org/officeDocument/2006/relationships/notesSlide" Target="/ppt/notesSlides/notesSlide7.xml" Id="R84ba664280df49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4d6d2714434ef1" /><Relationship Type="http://schemas.openxmlformats.org/officeDocument/2006/relationships/notesSlide" Target="/ppt/notesSlides/notesSlide8.xml" Id="R3e1702c2aead423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9d91a8b6ef44b1" /><Relationship Type="http://schemas.openxmlformats.org/officeDocument/2006/relationships/notesSlide" Target="/ppt/notesSlides/notesSlide9.xml" Id="R7082b34f8833419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be1a2ec0114f6b" /><Relationship Type="http://schemas.openxmlformats.org/officeDocument/2006/relationships/notesSlide" Target="/ppt/notesSlides/notesSlide10.xml" Id="R445ae42e1da6472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762cd49d064029" /><Relationship Type="http://schemas.openxmlformats.org/officeDocument/2006/relationships/notesSlide" Target="/ppt/notesSlides/notesSlide11.xml" Id="Rf9a555bd4870463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ea028bffb24af6" /><Relationship Type="http://schemas.openxmlformats.org/officeDocument/2006/relationships/notesSlide" Target="/ppt/notesSlides/notesSlide12.xml" Id="R8f2cf73e5bd04d7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e3eea3588c47d1" /><Relationship Type="http://schemas.openxmlformats.org/officeDocument/2006/relationships/notesSlide" Target="/ppt/notesSlides/notesSlide13.xml" Id="Re5d00c664923495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c4b3c0897e4f65" /><Relationship Type="http://schemas.openxmlformats.org/officeDocument/2006/relationships/notesSlide" Target="/ppt/notesSlides/notesSlide14.xml" Id="Rdc67893b01bb47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5B0304-3FBC-4CCE-A3D7-98755142C3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b1517ef9624065"/>
          <a:srcRect xmlns:a="http://schemas.openxmlformats.org/drawingml/2006/main" l="24440" t="0" r="244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4A5132C9-CED2-4C06-9EC1-02F64546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교육·연수 제안서</a:t>
            </a:r>
          </a:p>
        </p:txBody>
      </p:sp>
      <p:sp>
        <p:nvSpPr>
          <p:cNvPr id="3" name="bid3-title">
            <a:extLst xmlns:a="http://schemas.openxmlformats.org/drawingml/2006/main">
              <a:ext uri="{FF2B5EF4-FFF2-40B4-BE49-F238E27FC236}">
                <a16:creationId xmlns:a16="http://schemas.microsoft.com/office/drawing/2014/main" id="{068AF6DD-418E-41CD-8843-F34175DF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4667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교육·연수</a:t>
            </a:r>
          </a:p>
          <a:p xmlns:a="http://schemas.openxmlformats.org/drawingml/2006/main">
            <a:pPr algn="l">
              <a:defRPr sz="42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사업 제안서</a:t>
            </a:r>
          </a:p>
        </p:txBody>
      </p:sp>
      <p:sp>
        <p:nvSpPr>
          <p:cNvPr id="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FEC41C2-1E8B-490C-82A9-C3CB8464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4667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사업명 · 발주기관 · 제안사 작성</a:t>
            </a:r>
          </a:p>
        </p:txBody>
      </p:sp>
      <p:sp>
        <p:nvSpPr>
          <p:cNvPr id="5" name="bid3-fixed-design-name">
            <a:extLst xmlns:a="http://schemas.openxmlformats.org/drawingml/2006/main">
              <a:ext uri="{FF2B5EF4-FFF2-40B4-BE49-F238E27FC236}">
                <a16:creationId xmlns:a16="http://schemas.microsoft.com/office/drawing/2014/main" id="{050FE1E2-DD78-4F21-9D58-500CF0DF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4667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러닝 플로우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096C1AE1-6FA2-4AC1-9F35-2D05B3EB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3722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487427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83FECFE1-1B3E-4B9D-AD2D-7B2A8C00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교육·연수 / 제안 구성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C5D0479D-FFDB-4B3F-8592-D0F09DC1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교육 운영의 구성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9426890-A9A9-4B92-A47B-085B7C0A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학습 설계와 운영 관리가 하나의 교육 경험으로 이어집니다.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495358EB-12DC-4F68-949F-47D20AAD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교육·연수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E829F0FC-DB80-4BE0-99FF-50C34DAB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1592B43F-C8BB-45DC-9F5C-8C335ECA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9A54BD7-45F5-4A16-94D4-BD0703E9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ED43D51-58F8-4FD1-9740-57F1C60C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638425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학습자와 과정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C769FA9-022D-431D-A89D-C112B363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667000"/>
            <a:ext cx="6029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0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B1669534-3304-49BF-977E-C0D83FE0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57550"/>
            <a:ext cx="9829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DF"/>
          </a:solidFill>
          <a:ln xmlns:a="http://schemas.openxmlformats.org/drawingml/2006/main" w="0">
            <a:noFill/>
          </a:ln>
        </p:spPr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05BD62B-3F44-412B-94D7-4772CD58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E59B18F-1B45-47C7-823F-6EEA6803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29000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수업과 학습 지원</a:t>
            </a:r>
          </a:p>
        </p:txBody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7A60695-8F8B-46B3-878F-17F10D17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457575"/>
            <a:ext cx="6029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75774C93-FEA8-4BA8-9FD4-6D1FF97D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48125"/>
            <a:ext cx="9829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DF"/>
          </a:solidFill>
          <a:ln xmlns:a="http://schemas.openxmlformats.org/drawingml/2006/main" w="0">
            <a:noFill/>
          </a:ln>
        </p:spPr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DAAD044-169B-4821-A04C-2EF688C0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B5535A1-A0AD-45C0-85D0-2D70293B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19575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관리와 평가</a:t>
            </a:r>
          </a:p>
        </p:txBody>
      </p:sp>
      <p:sp>
        <p:nvSpPr>
          <p:cNvPr id="1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9D9AEB4-A080-49A4-A853-2AA5F650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248150"/>
            <a:ext cx="6029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8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B14F85D1-AA68-48E8-AA1E-624B9D37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38700"/>
            <a:ext cx="9829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DF"/>
          </a:solidFill>
          <a:ln xmlns:a="http://schemas.openxmlformats.org/drawingml/2006/main" w="0">
            <a:noFill/>
          </a:ln>
        </p:spPr>
      </p:sp>
      <p:sp>
        <p:nvSpPr>
          <p:cNvPr id="1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A065D3B-88EE-4EEA-BEF5-E6071841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A39A975-5EE7-46E4-A844-E1BBDADB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실행과 보고</a:t>
            </a:r>
          </a:p>
        </p:txBody>
      </p:sp>
      <p:sp>
        <p:nvSpPr>
          <p:cNvPr id="2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8E3E707-AB6F-470A-B7DE-DB0D0A8E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5038725"/>
            <a:ext cx="6029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14585261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5CF34508-EF1D-4C6B-A530-1B4672D5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교육·연수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36DE2A31-2590-4053-A71F-642D7A44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학습자와 교육 목표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988291F-041D-4A13-9814-A483F6EB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업무에 필요한 회화와 지속 가능한 학습을 함께 설계합니다.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A8EB4D02-21A4-4B89-A77E-666923C5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교육·연수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756E484D-DD53-462F-B83A-6562F40B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B33D4D06-A660-4929-A903-90FD3513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5CF792-8D36-4489-8AE1-9089E5F5B2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e4ed1d25ca4ae9"/>
          <a:srcRect xmlns:a="http://schemas.openxmlformats.org/drawingml/2006/main" l="3800" t="0" r="38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43650" y="2667000"/>
            <a:ext cx="5238750" cy="3190875"/>
          </a:xfrm>
          <a:prstGeom xmlns:a="http://schemas.openxmlformats.org/drawingml/2006/main" prst="rect">
            <a:avLst/>
          </a:prstGeom>
        </p:spPr>
      </p:pic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F6CED78-4CBC-4654-ADDC-CA54F506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5162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업무 맥락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8982734-5383-40C9-9B57-25615D91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51625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EBF683E-C3F6-4BFF-8C88-A0D91C22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5162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학습 시간</a:t>
            </a:r>
          </a:p>
        </p:txBody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CC3705B-2C6C-4BAC-A04A-BD30478D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51625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A8505B0-8B75-4E85-99E9-80FCEFE2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5162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운영 기록</a:t>
            </a:r>
          </a:p>
        </p:txBody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5A7001D-0101-495C-BFBD-A782DC18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51625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4" name="bid3-fixed-image-caption">
            <a:extLst xmlns:a="http://schemas.openxmlformats.org/drawingml/2006/main">
              <a:ext uri="{FF2B5EF4-FFF2-40B4-BE49-F238E27FC236}">
                <a16:creationId xmlns:a16="http://schemas.microsoft.com/office/drawing/2014/main" id="{3A7A3103-701D-4F66-B108-6FB03C84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9626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AI 생성 교육 장면 · 실제 소속 강사 사진 아님</a:t>
            </a:r>
          </a:p>
        </p:txBody>
      </p:sp>
    </p:spTree>
    <p:extLst>
      <p:ext uri="{BB962C8B-B14F-4D97-AF65-F5344CB8AC3E}">
        <p14:creationId xmlns:p14="http://schemas.microsoft.com/office/powerpoint/2010/main" val="9118999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655860AC-9611-4996-912C-0DC34BDC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교육·연수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6E6D4AD9-9C71-407D-BF1F-DB518149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언어·수준별 과정 설계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4CBF4F4-3A69-4E0C-93BE-A9E945D7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착수 시 진단 결과와 개설 가능 범위를 대조해 과정 편성을 협의합니다.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D4E37B30-A0E7-4130-B43C-E96F96D6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교육·연수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7D647743-44A8-41AA-B351-7497CD44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C6516D9C-E9F1-498B-99EE-5EBBCA67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D47248-693A-42B8-9A43-DC608C47D510}"/>
              </a:ext>
            </a:extLst>
          </p:cNvPr>
          <p:cNvGraphicFramePr/>
          <p:nvPr/>
        </p:nvGraphicFramePr>
        <p:xfrm>
          <a:off xmlns:a="http://schemas.openxmlformats.org/drawingml/2006/main" x="609600" y="2657475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2571750"/>
                <a:gridCol w="3781425"/>
                <a:gridCol w="28575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42875" marR="142875" marT="114300" marB="95250" anchor="ctr">
                    <a:solidFill>
                      <a:srgbClr val="283D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 목적</a:t>
                      </a:r>
                    </a:p>
                  </a:txBody>
                  <a:tcPr marL="142875" marR="142875" marT="114300" marB="95250" anchor="ctr">
                    <a:solidFill>
                      <a:srgbClr val="283D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수업 구성</a:t>
                      </a:r>
                    </a:p>
                  </a:txBody>
                  <a:tcPr marL="142875" marR="142875" marT="114300" marB="95250" anchor="ctr">
                    <a:solidFill>
                      <a:srgbClr val="283D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사항</a:t>
                      </a:r>
                    </a:p>
                  </a:txBody>
                  <a:tcPr marL="142875" marR="142875" marT="114300" marB="95250" anchor="ctr">
                    <a:solidFill>
                      <a:srgbClr val="283D35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영어</a:t>
                      </a:r>
                    </a:p>
                  </a:txBody>
                  <a:tcPr marL="142875" marR="142875" marT="114300" marB="95250" anchor="ctr">
                    <a:solidFill>
                      <a:srgbClr val="E8ED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8ED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8ED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8EDDF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제2외국어</a:t>
                      </a:r>
                    </a:p>
                  </a:txBody>
                  <a:tcPr marL="142875" marR="142875" marT="114300" marB="95250" anchor="ctr">
                    <a:solidFill>
                      <a:srgbClr val="F5F6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5F6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5F6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5F6EE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시험 대비</a:t>
                      </a:r>
                    </a:p>
                  </a:txBody>
                  <a:tcPr marL="142875" marR="142875" marT="114300" marB="95250" anchor="ctr">
                    <a:solidFill>
                      <a:srgbClr val="E8ED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8ED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8ED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8EDD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28822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18CB4455-AA47-4A5C-B7A3-22415699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교육·연수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F56127FC-32C0-4F4B-BE2C-6E9DE9DF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예습부터 수업 후 점검까지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FBC8C9A-5C15-4A5F-91DF-605064BB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각 수업을 준비하고, 사용한 표현을 복습하며 다음 학습으로 이어갑니다.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A8F69264-C932-47E6-84D2-27E6E762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교육·연수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E6677D60-5021-4129-8422-A0A57A38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F4FC2DB6-E472-49E6-A256-CFA0A324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12EED40-DF60-40CD-BCE9-6B6ECF27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863734B3-0842-4CC2-8DB3-77361238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DF"/>
          </a:solidFill>
          <a:ln xmlns:a="http://schemas.openxmlformats.org/drawingml/2006/main" w="9525">
            <a:solidFill>
              <a:srgbClr val="427354"/>
            </a:solidFill>
          </a:ln>
        </p:spPr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FE7E8A6-7AF6-42B7-A2EA-7D77B288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예습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3C8F2C2-C498-4FA0-BDF9-8AD3DFB3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11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AF6D879E-CC70-4DBE-9E77-F05BA13EC4BD}"/>
              </a:ext>
            </a:extLst>
          </p:cNvPr>
          <p:cNvCxnSpPr/>
          <p:nvPr/>
        </p:nvCxnSpPr>
        <p:spPr>
          <a:xfrm xmlns:a="http://schemas.openxmlformats.org/drawingml/2006/main">
            <a:off x="3109913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427354"/>
            </a:solidFill>
          </a:ln>
        </p:spPr>
      </p:cxn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915CE79-B113-4D85-88F0-C804BD44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5B4392C2-86EC-478F-9EC4-566A0393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DF"/>
          </a:solidFill>
          <a:ln xmlns:a="http://schemas.openxmlformats.org/drawingml/2006/main" w="9525">
            <a:solidFill>
              <a:srgbClr val="427354"/>
            </a:solidFill>
          </a:ln>
        </p:spPr>
      </p:sp>
      <p:sp>
        <p:nvSpPr>
          <p:cNvPr id="1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24848B4-224D-4C22-9DEC-366420E2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수업</a:t>
            </a:r>
          </a:p>
        </p:txBody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558805E-FBD9-413B-9D8B-CC11AF92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16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5EFE4EA0-5361-44AF-9F83-DD8A8AF2E87E}"/>
              </a:ext>
            </a:extLst>
          </p:cNvPr>
          <p:cNvCxnSpPr/>
          <p:nvPr/>
        </p:nvCxnSpPr>
        <p:spPr>
          <a:xfrm xmlns:a="http://schemas.openxmlformats.org/drawingml/2006/main">
            <a:off x="5934075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427354"/>
            </a:solidFill>
          </a:ln>
        </p:spPr>
      </p:cxnSp>
      <p:sp>
        <p:nvSpPr>
          <p:cNvPr id="1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D940612-5DCA-42EA-B96C-162532CA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8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F61B89CD-EA2C-47F7-924E-462AE8F3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DF"/>
          </a:solidFill>
          <a:ln xmlns:a="http://schemas.openxmlformats.org/drawingml/2006/main" w="9525">
            <a:solidFill>
              <a:srgbClr val="427354"/>
            </a:solidFill>
          </a:ln>
        </p:spPr>
      </p:sp>
      <p:sp>
        <p:nvSpPr>
          <p:cNvPr id="1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959499A-0789-4FBA-9D57-D576112F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복습</a:t>
            </a:r>
          </a:p>
        </p:txBody>
      </p:sp>
      <p:sp>
        <p:nvSpPr>
          <p:cNvPr id="2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803BDBF-771A-4FF6-828C-F2E9C805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21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32403D41-760B-4F1F-B0A6-AC418E88A8C4}"/>
              </a:ext>
            </a:extLst>
          </p:cNvPr>
          <p:cNvCxnSpPr/>
          <p:nvPr/>
        </p:nvCxnSpPr>
        <p:spPr>
          <a:xfrm xmlns:a="http://schemas.openxmlformats.org/drawingml/2006/main">
            <a:off x="8758238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427354"/>
            </a:solidFill>
          </a:ln>
        </p:spPr>
      </p:cxnSp>
      <p:sp>
        <p:nvSpPr>
          <p:cNvPr id="2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183DAFB-EE4B-439A-994F-8AEA85C4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3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ABF94580-F03F-48E8-8BDC-98CDEB19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DF"/>
          </a:solidFill>
          <a:ln xmlns:a="http://schemas.openxmlformats.org/drawingml/2006/main" w="9525">
            <a:solidFill>
              <a:srgbClr val="427354"/>
            </a:solidFill>
          </a:ln>
        </p:spPr>
      </p:sp>
      <p:sp>
        <p:nvSpPr>
          <p:cNvPr id="2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EFCAAF9-6D47-4515-B917-66D267C0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점검</a:t>
            </a:r>
          </a:p>
        </p:txBody>
      </p:sp>
      <p:sp>
        <p:nvSpPr>
          <p:cNvPr id="2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FA253D3-5863-47A6-B2B1-3BE07C8B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5466285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C3DCCA50-8928-4B2D-B9B2-CC95D784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교육·연수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D356C1E4-8C5C-4B9D-9C3B-B8843EDF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수업 유형과 운영 시간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101D1C1-6CFE-4CA2-B0C3-144B74B0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학습 일정과 이용 환경에 맞춰 전화·화상 수업 유형을 구성합니다.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BFC490DF-C2D0-423A-893E-C5898906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교육·연수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E9C48684-DED5-4047-B7AC-9F5B3C25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E1B71F9-6D30-4C05-AC3B-DD2867E4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1FC10AE-E54D-49FD-9AAA-C07D5E2D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28637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60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60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60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운영 기준</a:t>
            </a:r>
          </a:p>
        </p:txBody>
      </p:sp>
      <p:sp>
        <p:nvSpPr>
          <p:cNvPr id="8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56768386-08E7-40DD-86C3-C6CF430E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5286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7354"/>
          </a:solidFill>
          <a:ln xmlns:a="http://schemas.openxmlformats.org/drawingml/2006/main" w="0">
            <a:noFill/>
          </a:ln>
        </p:spPr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C9EFB7E-D602-42E5-B1DF-191824A5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5238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8AABF1B-1707-4548-8D7B-44F04E19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14625"/>
            <a:ext cx="528637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60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60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60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선택 유형</a:t>
            </a:r>
          </a:p>
        </p:txBody>
      </p:sp>
      <p:sp>
        <p:nvSpPr>
          <p:cNvPr id="11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70F226DA-216E-4CB9-9EDE-5558DD2E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38600"/>
            <a:ext cx="5286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7354"/>
          </a:solidFill>
          <a:ln xmlns:a="http://schemas.openxmlformats.org/drawingml/2006/main" w="0">
            <a:noFill/>
          </a:ln>
        </p:spPr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1F405A3-0383-4D11-97FB-EBD7CA45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14825"/>
            <a:ext cx="5238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BD2F2EA-F69C-41AA-BFE7-91DFC362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4048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지원 범위</a:t>
            </a:r>
          </a:p>
        </p:txBody>
      </p:sp>
      <p:sp>
        <p:nvSpPr>
          <p:cNvPr id="1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13CB9E3-CBE1-42E5-8C95-E323AEF9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14975"/>
            <a:ext cx="672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1907432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5FEDF1D5-1309-4C37-8E6A-DC7FF846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교육·연수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B0E374B6-C7A3-4A3A-9CB0-1A668653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목적별 교육과정과 교재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E0352D5-E6A9-43A6-8953-6D70CFA0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학습 목적과 수준에 맞는 과정과 교재를 선택합니다.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1253DFC0-DAE6-4421-B9A4-D69D28F0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교육·연수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56B04CFC-BE84-493C-8335-8D0AE771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C26C2963-5953-4F4D-888E-8DA3E07A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C60394B-4FF3-4D0F-8439-531308AB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335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42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C3DD631A-17AC-400F-9101-EB3C35F4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335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7354"/>
          </a:solidFill>
          <a:ln xmlns:a="http://schemas.openxmlformats.org/drawingml/2006/main" w="0">
            <a:noFill/>
          </a:ln>
        </p:spPr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1120243-7C88-4B1C-8DF5-5C7769EC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335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일상 회화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09A0158-580A-4F43-8738-B4F9948B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335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3966C44-CAA2-4088-80F0-23FDC22B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95575"/>
            <a:ext cx="335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42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5EC074CF-4A53-4A2C-9BE7-C70F0AE6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62350"/>
            <a:ext cx="335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7354"/>
          </a:solidFill>
          <a:ln xmlns:a="http://schemas.openxmlformats.org/drawingml/2006/main" w="0">
            <a:noFill/>
          </a:ln>
        </p:spPr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ED1202C-D7C1-49DD-BD59-FA468212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76675"/>
            <a:ext cx="335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비즈니스·뉴스</a:t>
            </a:r>
          </a:p>
        </p:txBody>
      </p:sp>
      <p:sp>
        <p:nvSpPr>
          <p:cNvPr id="1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99C526C-6528-4FE8-85AA-4C5AB81A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781550"/>
            <a:ext cx="335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037F57B-2822-459E-84BC-3913B3F3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95575"/>
            <a:ext cx="335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42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F66E5926-9031-465C-BFB6-7FD35FE8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62350"/>
            <a:ext cx="335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7354"/>
          </a:solidFill>
          <a:ln xmlns:a="http://schemas.openxmlformats.org/drawingml/2006/main" w="0">
            <a:noFill/>
          </a:ln>
        </p:spPr>
      </p:sp>
      <p:sp>
        <p:nvSpPr>
          <p:cNvPr id="1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05595FA-6907-42C7-B3E0-514CE9B6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76675"/>
            <a:ext cx="335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시험 대비</a:t>
            </a:r>
          </a:p>
        </p:txBody>
      </p:sp>
      <p:sp>
        <p:nvSpPr>
          <p:cNvPr id="1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5DDE9B4-2F3B-43E0-8416-92FD9B6B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81550"/>
            <a:ext cx="335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1336502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B51119E7-EDCD-4624-B947-5A908271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교육·연수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1667CB7B-FF6F-4E38-A045-A6D1E3AB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강사 선발과 수업 품질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4D3C7B8-4FAB-4ACF-B1FE-FD518CB6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사전 확인과 수업 피드백을 통해 보완·교체 여부를 협의합니다.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34FFD436-DB2E-4F6A-9501-3AA64C3D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교육·연수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D8D0B1F2-18B6-4EF9-9694-42548FCF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DE7F1615-DBDE-48A3-A6B2-5FC88267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F035FF1-9A73-4A74-ADA5-0402CFBB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5A4A961D-012D-41ED-9036-3D2E09C1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DF"/>
          </a:solidFill>
          <a:ln xmlns:a="http://schemas.openxmlformats.org/drawingml/2006/main" w="9525">
            <a:solidFill>
              <a:srgbClr val="427354"/>
            </a:solidFill>
          </a:ln>
        </p:spPr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9EDAB5B-0823-40B3-ADFD-738507F4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선발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EE59F28-0543-4A05-9C20-C835D3A6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11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07BDD09D-406A-44F8-8FBD-DEA207A48DEE}"/>
              </a:ext>
            </a:extLst>
          </p:cNvPr>
          <p:cNvCxnSpPr/>
          <p:nvPr/>
        </p:nvCxnSpPr>
        <p:spPr>
          <a:xfrm xmlns:a="http://schemas.openxmlformats.org/drawingml/2006/main">
            <a:off x="3109913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427354"/>
            </a:solidFill>
          </a:ln>
        </p:spPr>
      </p:cxn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BDB6684-5799-45FF-9D91-DCE293F4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662775A1-58CF-43ED-9672-B3C9816C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DF"/>
          </a:solidFill>
          <a:ln xmlns:a="http://schemas.openxmlformats.org/drawingml/2006/main" w="9525">
            <a:solidFill>
              <a:srgbClr val="427354"/>
            </a:solidFill>
          </a:ln>
        </p:spPr>
      </p:sp>
      <p:sp>
        <p:nvSpPr>
          <p:cNvPr id="1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4C8D8E4-BE41-4D13-B93A-C57E5CD8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훈련</a:t>
            </a:r>
          </a:p>
        </p:txBody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7F0B3B8-4BCB-4D10-B1EA-D45C1762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16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E5222BE4-3920-47AC-85BB-3027F3B55090}"/>
              </a:ext>
            </a:extLst>
          </p:cNvPr>
          <p:cNvCxnSpPr/>
          <p:nvPr/>
        </p:nvCxnSpPr>
        <p:spPr>
          <a:xfrm xmlns:a="http://schemas.openxmlformats.org/drawingml/2006/main">
            <a:off x="5934075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427354"/>
            </a:solidFill>
          </a:ln>
        </p:spPr>
      </p:cxnSp>
      <p:sp>
        <p:nvSpPr>
          <p:cNvPr id="1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FA55453-CB33-42E2-98C4-D350E00D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8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89C31402-C39F-4D1D-8E5D-DBE06853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DF"/>
          </a:solidFill>
          <a:ln xmlns:a="http://schemas.openxmlformats.org/drawingml/2006/main" w="9525">
            <a:solidFill>
              <a:srgbClr val="427354"/>
            </a:solidFill>
          </a:ln>
        </p:spPr>
      </p:sp>
      <p:sp>
        <p:nvSpPr>
          <p:cNvPr id="1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7031D93-2F7E-4634-B1E9-DAAFE56E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평가</a:t>
            </a:r>
          </a:p>
        </p:txBody>
      </p:sp>
      <p:sp>
        <p:nvSpPr>
          <p:cNvPr id="2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218EE1A-B982-497B-B6B2-CD5FD5FB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21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7C3A1417-9673-4058-A9A8-CB81150E8CE4}"/>
              </a:ext>
            </a:extLst>
          </p:cNvPr>
          <p:cNvCxnSpPr/>
          <p:nvPr/>
        </p:nvCxnSpPr>
        <p:spPr>
          <a:xfrm xmlns:a="http://schemas.openxmlformats.org/drawingml/2006/main">
            <a:off x="8758238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427354"/>
            </a:solidFill>
          </a:ln>
        </p:spPr>
      </p:cxnSp>
      <p:sp>
        <p:nvSpPr>
          <p:cNvPr id="2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3B69015-6ED5-45D7-B198-100533AB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3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8B2A9A13-B8E3-48A6-A77C-B4C975C5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DF"/>
          </a:solidFill>
          <a:ln xmlns:a="http://schemas.openxmlformats.org/drawingml/2006/main" w="9525">
            <a:solidFill>
              <a:srgbClr val="427354"/>
            </a:solidFill>
          </a:ln>
        </p:spPr>
      </p:sp>
      <p:sp>
        <p:nvSpPr>
          <p:cNvPr id="2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A070661-E898-42A2-8B4A-F8171015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개선</a:t>
            </a:r>
          </a:p>
        </p:txBody>
      </p:sp>
      <p:sp>
        <p:nvSpPr>
          <p:cNvPr id="2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2268003-16AD-4194-BAA4-EAB41484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3575941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2FBDC19E-33DC-47DF-886C-3E3F5047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교육·연수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A44324AE-6116-4087-AFC3-3D9E0E60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출석·수료·안내 체계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24649C2-FDB2-429C-950B-124BD2FB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공고의 수료 조건을 사전에 안내하고 실제 출석 기록과 대조합니다.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B5847FDC-9251-49FD-A03F-095BA384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교육·연수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2D45A2AF-6747-4C06-8EAA-D4F38FED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FAB8439-4E41-4256-9B7C-4005BC82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096F0F5-F440-449A-8A68-2103C7BF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28637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60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60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60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운영 기준</a:t>
            </a:r>
          </a:p>
        </p:txBody>
      </p:sp>
      <p:sp>
        <p:nvSpPr>
          <p:cNvPr id="8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AA2BD302-0B1A-4166-B218-700C119B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5286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7354"/>
          </a:solidFill>
          <a:ln xmlns:a="http://schemas.openxmlformats.org/drawingml/2006/main" w="0">
            <a:noFill/>
          </a:ln>
        </p:spPr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0F7CBB4-1EB4-4B3A-B39D-F83C1B76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5238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42D4630-C3E1-473E-BCEF-A3E25E83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14625"/>
            <a:ext cx="528637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60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60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600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선택 유형</a:t>
            </a:r>
          </a:p>
        </p:txBody>
      </p:sp>
      <p:sp>
        <p:nvSpPr>
          <p:cNvPr id="11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9CA365AA-1F8D-4947-A8DF-D47477EE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38600"/>
            <a:ext cx="5286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7354"/>
          </a:solidFill>
          <a:ln xmlns:a="http://schemas.openxmlformats.org/drawingml/2006/main" w="0">
            <a:noFill/>
          </a:ln>
        </p:spPr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7ECE69E-DA84-428E-84CB-ED4FC4B3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14825"/>
            <a:ext cx="5238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FC8B5EF-FC71-482E-8485-218418C0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4048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지원 범위</a:t>
            </a:r>
          </a:p>
        </p:txBody>
      </p:sp>
      <p:sp>
        <p:nvSpPr>
          <p:cNvPr id="1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3D962AE-1FC6-453A-B5DD-A4C6FBD8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14975"/>
            <a:ext cx="672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19451698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229F3031-B63B-4EBA-971E-6AFB34FC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교육·연수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8B720365-0340-4037-870D-6ADCB785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월별 평가와 상시 학습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CDEB288-62E8-442F-BBFF-980112F2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학습 기록을 읽고 다음 수업과 수업 밖의 학습을 연결합니다.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D6D9646-CA36-48D9-9A75-1B2AF6C1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교육·연수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55AFC0CA-6067-4520-B4E2-84FE9403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B691DA8A-7F7D-4BFF-B1D3-A5C7B62A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FBBCFE0-B72F-4C22-828E-F53ED5A6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9850B210-53A9-4E0C-9957-CC2718DE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DF"/>
          </a:solidFill>
          <a:ln xmlns:a="http://schemas.openxmlformats.org/drawingml/2006/main" w="9525">
            <a:solidFill>
              <a:srgbClr val="427354"/>
            </a:solidFill>
          </a:ln>
        </p:spPr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6B106C9-A565-4C76-9972-A038C7BF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기록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3539239-1C87-4C3E-A5B5-775EE9B4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11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E3FAF62E-3319-44E3-B3C1-7BBD04B3F11B}"/>
              </a:ext>
            </a:extLst>
          </p:cNvPr>
          <p:cNvCxnSpPr/>
          <p:nvPr/>
        </p:nvCxnSpPr>
        <p:spPr>
          <a:xfrm xmlns:a="http://schemas.openxmlformats.org/drawingml/2006/main">
            <a:off x="3109913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427354"/>
            </a:solidFill>
          </a:ln>
        </p:spPr>
      </p:cxn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7A4793D-1B02-4884-9E45-CAB1A84A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D24D0DB3-50CB-4C3F-99F5-5F1D7CB1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DF"/>
          </a:solidFill>
          <a:ln xmlns:a="http://schemas.openxmlformats.org/drawingml/2006/main" w="9525">
            <a:solidFill>
              <a:srgbClr val="427354"/>
            </a:solidFill>
          </a:ln>
        </p:spPr>
      </p:sp>
      <p:sp>
        <p:nvSpPr>
          <p:cNvPr id="1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C646206-E2CB-4E72-8750-F52CF210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평가</a:t>
            </a:r>
          </a:p>
        </p:txBody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EBA4C2D-6DF3-4942-91AC-D509AC63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16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82FD7D2D-A5EF-4A4B-B337-6FF510FB0C40}"/>
              </a:ext>
            </a:extLst>
          </p:cNvPr>
          <p:cNvCxnSpPr/>
          <p:nvPr/>
        </p:nvCxnSpPr>
        <p:spPr>
          <a:xfrm xmlns:a="http://schemas.openxmlformats.org/drawingml/2006/main">
            <a:off x="5934075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427354"/>
            </a:solidFill>
          </a:ln>
        </p:spPr>
      </p:cxnSp>
      <p:sp>
        <p:nvSpPr>
          <p:cNvPr id="1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7595006-B114-468D-9940-F95EEDA3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8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C05DF681-30E5-4368-9922-B8FF4166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DF"/>
          </a:solidFill>
          <a:ln xmlns:a="http://schemas.openxmlformats.org/drawingml/2006/main" w="9525">
            <a:solidFill>
              <a:srgbClr val="427354"/>
            </a:solidFill>
          </a:ln>
        </p:spPr>
      </p:sp>
      <p:sp>
        <p:nvSpPr>
          <p:cNvPr id="1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655E232-4D51-4525-A8BD-A285A123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보완</a:t>
            </a:r>
          </a:p>
        </p:txBody>
      </p:sp>
      <p:sp>
        <p:nvSpPr>
          <p:cNvPr id="2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96DFB5C-2342-42C7-A78C-F6C04389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21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F5C054F8-2868-493D-BDE1-4FC2CCB81112}"/>
              </a:ext>
            </a:extLst>
          </p:cNvPr>
          <p:cNvCxnSpPr/>
          <p:nvPr/>
        </p:nvCxnSpPr>
        <p:spPr>
          <a:xfrm xmlns:a="http://schemas.openxmlformats.org/drawingml/2006/main">
            <a:off x="8758238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427354"/>
            </a:solidFill>
          </a:ln>
        </p:spPr>
      </p:cxnSp>
      <p:sp>
        <p:nvSpPr>
          <p:cNvPr id="2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B8DC345-E8DF-4AC3-BDD3-2B8ED123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3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9ADC42EF-1835-4C2A-AAB7-04BD67B6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DF"/>
          </a:solidFill>
          <a:ln xmlns:a="http://schemas.openxmlformats.org/drawingml/2006/main" w="9525">
            <a:solidFill>
              <a:srgbClr val="427354"/>
            </a:solidFill>
          </a:ln>
        </p:spPr>
      </p:sp>
      <p:sp>
        <p:nvSpPr>
          <p:cNvPr id="2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620FA9F-87BC-40EC-B1B7-BB796D12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다음 수업</a:t>
            </a:r>
          </a:p>
        </p:txBody>
      </p:sp>
      <p:sp>
        <p:nvSpPr>
          <p:cNvPr id="2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3A3954B-F3B8-4223-A34B-1B4D897F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19140014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394EB3BC-53AF-46BD-B317-E451B1F5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교육·연수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611F2E6B-BEBE-4946-B35E-6E8ABDF0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연차별 교육 일정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8DF0177-2186-4A81-97EA-BC6DEF31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계약 기간과 교육 일정에 맞춰 운영 단계와 보고 시점을 작성합니다.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670309DB-4667-4935-8B0D-738C7F07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교육·연수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6F33C685-A7E7-4EAF-9BBA-BB19313D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F9C6F3E7-B506-44EF-9589-12334ECF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0A30976-2978-48B1-B7C8-CB301C5E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운영 1단계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6800620-9153-4E59-B486-EAACD28F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146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ADF80DB-EA45-474E-B29C-59710639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1462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  <p:sp>
        <p:nvSpPr>
          <p:cNvPr id="10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FB84D84A-A2C5-4020-8B1C-5492BA3D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DF"/>
          </a:solidFill>
          <a:ln xmlns:a="http://schemas.openxmlformats.org/drawingml/2006/main" w="0">
            <a:noFill/>
          </a:ln>
        </p:spPr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38E599E-C62C-4FEC-9E02-D9BA71DB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운영 2단계</a:t>
            </a:r>
          </a:p>
        </p:txBody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2E4FA52-6187-485A-B533-7F921463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18147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74ABE93-539F-492F-A3C1-8DD6C440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18147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230704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EC87ED09-F5FD-48F3-8D19-93554E28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교육·연수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FF4A6BBC-6EAF-4A9E-BD98-E5C56CCE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운영 보고와 실비 정산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B563989-A2AA-4EEC-BA54-2B1C905A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수행 내역을 확인할 수 있는 기록으로 월별 운영과 정산을 관리합니다.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62E54144-6D83-4942-BEBD-2330F16F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교육·연수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FA147BD9-C3F8-49A7-8073-20F20BC5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3013EB6-3FBB-403F-BB0B-33BF5E9D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534B4D-7A9F-40FC-AC00-17A06FB68AD0}"/>
              </a:ext>
            </a:extLst>
          </p:cNvPr>
          <p:cNvGraphicFramePr/>
          <p:nvPr/>
        </p:nvGraphicFramePr>
        <p:xfrm>
          <a:off xmlns:a="http://schemas.openxmlformats.org/drawingml/2006/main" x="609600" y="2657475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343400"/>
                <a:gridCol w="43434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산출물</a:t>
                      </a:r>
                    </a:p>
                  </a:txBody>
                  <a:tcPr marL="142875" marR="142875" marT="114300" marB="95250" anchor="ctr">
                    <a:solidFill>
                      <a:srgbClr val="283D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기록할 내용</a:t>
                      </a:r>
                    </a:p>
                  </a:txBody>
                  <a:tcPr marL="142875" marR="142875" marT="114300" marB="95250" anchor="ctr">
                    <a:solidFill>
                      <a:srgbClr val="283D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시점</a:t>
                      </a:r>
                    </a:p>
                  </a:txBody>
                  <a:tcPr marL="142875" marR="142875" marT="114300" marB="95250" anchor="ctr">
                    <a:solidFill>
                      <a:srgbClr val="283D35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계획</a:t>
                      </a:r>
                    </a:p>
                  </a:txBody>
                  <a:tcPr marL="142875" marR="142875" marT="114300" marB="95250" anchor="ctr">
                    <a:solidFill>
                      <a:srgbClr val="E8ED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8ED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8EDDF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월별 운영 보고</a:t>
                      </a:r>
                    </a:p>
                  </a:txBody>
                  <a:tcPr marL="142875" marR="142875" marT="114300" marB="95250" anchor="ctr">
                    <a:solidFill>
                      <a:srgbClr val="F5F6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5F6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5F6EE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 결과·인계</a:t>
                      </a:r>
                    </a:p>
                  </a:txBody>
                  <a:tcPr marL="142875" marR="142875" marT="114300" marB="95250" anchor="ctr">
                    <a:solidFill>
                      <a:srgbClr val="E8ED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8ED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8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8EDD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18727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01FE49E0-BC0C-4BA5-B3EE-A571C28E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교육·연수 / 수행 근거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D2FCD66D-CCAD-4CBA-AB63-709A2FBB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회사 자료와 현행 증빙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BC1B45B-D6C5-425A-831E-5F9F3855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회사 자료와 현행 제공 범위를 대조해 수행 근거를 작성합니다.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885FB195-B240-4892-9BB4-34C52B58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교육·연수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16D80338-8665-49B5-B678-D542F466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1B8B6CB-1444-4E9B-8E4E-CC65B1F9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015E4B0-86E1-4251-AC8B-B1DA6284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현행 서비스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4B0BE73-B422-4BB8-9766-35219B7F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02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E1E19B3-529B-43F1-BD3C-907B5855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투입 인력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294CD55-D4F5-4185-B1A0-E2FD1180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502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E6A0ABA-46EA-4602-A73C-4B581E5C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유사 실적</a:t>
            </a:r>
          </a:p>
        </p:txBody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A50B1D2-5798-4507-9A4D-18703452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02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3" name="bid3-material-placeholder-heading">
            <a:extLst xmlns:a="http://schemas.openxmlformats.org/drawingml/2006/main">
              <a:ext uri="{FF2B5EF4-FFF2-40B4-BE49-F238E27FC236}">
                <a16:creationId xmlns:a16="http://schemas.microsoft.com/office/drawing/2014/main" id="{4E528BDD-B64E-4016-BD87-38E5AD25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57500"/>
            <a:ext cx="4495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원문 자료와 제출 증빙</a:t>
            </a:r>
          </a:p>
        </p:txBody>
      </p:sp>
      <p:sp>
        <p:nvSpPr>
          <p:cNvPr id="14" name="bid3-material-placeholder-copy">
            <a:extLst xmlns:a="http://schemas.openxmlformats.org/drawingml/2006/main">
              <a:ext uri="{FF2B5EF4-FFF2-40B4-BE49-F238E27FC236}">
                <a16:creationId xmlns:a16="http://schemas.microsoft.com/office/drawing/2014/main" id="{6E52A214-0CD4-43B4-B5AF-2B954C06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67125"/>
            <a:ext cx="44958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회사 소개서의 관련 이미지·도표를</a:t>
            </a:r>
          </a:p>
          <a:p xmlns:a="http://schemas.openxmlformats.org/drawingml/2006/main">
            <a:pPr algn="l">
              <a:def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3D35"/>
                </a:solidFill>
                <a:latin typeface="Malgun Gothic"/>
                <a:ea typeface="Malgun Gothic"/>
                <a:cs typeface="Malgun Gothic"/>
              </a:rPr>
              <a:t>현재 사업의 수행 근거와 대조합니다.</a:t>
            </a:r>
          </a:p>
        </p:txBody>
      </p:sp>
      <p:sp>
        <p:nvSpPr>
          <p:cNvPr id="15" name="bid3-material-placeholder-notice">
            <a:extLst xmlns:a="http://schemas.openxmlformats.org/drawingml/2006/main">
              <a:ext uri="{FF2B5EF4-FFF2-40B4-BE49-F238E27FC236}">
                <a16:creationId xmlns:a16="http://schemas.microsoft.com/office/drawing/2014/main" id="{6BC56292-8CD9-4030-B192-C66272CD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10175"/>
            <a:ext cx="4495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27354"/>
                </a:solidFill>
                <a:latin typeface="Malgun Gothic"/>
                <a:ea typeface="Malgun Gothic"/>
                <a:cs typeface="Malgun Gothic"/>
              </a:rPr>
              <a:t>자료가 없으면 현행 증빙 확보 후 반영</a:t>
            </a:r>
          </a:p>
        </p:txBody>
      </p:sp>
    </p:spTree>
    <p:extLst>
      <p:ext uri="{BB962C8B-B14F-4D97-AF65-F5344CB8AC3E}">
        <p14:creationId xmlns:p14="http://schemas.microsoft.com/office/powerpoint/2010/main" val="16427106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283D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F9E704D4-F681-431F-8254-BBA76E50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66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수업이 끝나도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학습은 이어지도록</a:t>
            </a:r>
          </a:p>
        </p:txBody>
      </p:sp>
      <p:sp>
        <p:nvSpPr>
          <p:cNvPr id="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50B6B8A-0D95-4BE3-B256-72A9B2A7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45770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제안사 · 담당자 · 연락처 작성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99C5A4FB-BB60-4DEF-A71A-754C1123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교육·연수 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8F6D2B69-E639-4CC4-B092-F5A58228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372316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2026-10-14T01:26:00.4630000Z</dcterms:created>
  <dcterms:modified xsi:type="dcterms:W3CDTF">2026-10-14T01:26:00.4630000Z</dcterms:modified>
</coreProperties>
</file>