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1dcc975b2e4279" /><Relationship Type="http://schemas.openxmlformats.org/officeDocument/2006/relationships/extended-properties" Target="/docProps/app.xml" Id="R1f96a8a52ce1475c" /><Relationship Type="http://schemas.openxmlformats.org/officeDocument/2006/relationships/officeDocument" Target="/ppt/presentation.xml" Id="R44c33859fddb49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967de6c948476d"/>
  </p:sldMasterIdLst>
  <p:notesMasterIdLst>
    <p:notesMasterId xmlns:r="http://schemas.openxmlformats.org/officeDocument/2006/relationships" r:id="Rabcfec39d84f47e3"/>
  </p:notesMasterIdLst>
  <p:sldIdLst>
    <p:sldId xmlns:r="http://schemas.openxmlformats.org/officeDocument/2006/relationships" id="256" r:id="R853cf07f303a4079"/>
    <p:sldId xmlns:r="http://schemas.openxmlformats.org/officeDocument/2006/relationships" id="257" r:id="R69feb8323ddd4beb"/>
    <p:sldId xmlns:r="http://schemas.openxmlformats.org/officeDocument/2006/relationships" id="258" r:id="Rccc4e83074274f81"/>
    <p:sldId xmlns:r="http://schemas.openxmlformats.org/officeDocument/2006/relationships" id="259" r:id="R92dc136ddc2e4f6b"/>
    <p:sldId xmlns:r="http://schemas.openxmlformats.org/officeDocument/2006/relationships" id="260" r:id="R6eb97d36dd5d4460"/>
    <p:sldId xmlns:r="http://schemas.openxmlformats.org/officeDocument/2006/relationships" id="261" r:id="Ra9b5a22502d64854"/>
    <p:sldId xmlns:r="http://schemas.openxmlformats.org/officeDocument/2006/relationships" id="262" r:id="Rdf958b26b1614ce8"/>
    <p:sldId xmlns:r="http://schemas.openxmlformats.org/officeDocument/2006/relationships" id="263" r:id="Rc2d499fac6eb4348"/>
    <p:sldId xmlns:r="http://schemas.openxmlformats.org/officeDocument/2006/relationships" id="264" r:id="R72ba58027907476f"/>
    <p:sldId xmlns:r="http://schemas.openxmlformats.org/officeDocument/2006/relationships" id="265" r:id="R5597339dd4a549ed"/>
    <p:sldId xmlns:r="http://schemas.openxmlformats.org/officeDocument/2006/relationships" id="266" r:id="Rd9bb20746c514094"/>
    <p:sldId xmlns:r="http://schemas.openxmlformats.org/officeDocument/2006/relationships" id="267" r:id="Rbc55ecb798164db0"/>
    <p:sldId xmlns:r="http://schemas.openxmlformats.org/officeDocument/2006/relationships" id="268" r:id="R21eac32d3b8f4179"/>
    <p:sldId xmlns:r="http://schemas.openxmlformats.org/officeDocument/2006/relationships" id="269" r:id="R822d195debd641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073b6001054b77" /><Relationship Type="http://schemas.openxmlformats.org/officeDocument/2006/relationships/slideMaster" Target="/ppt/slideMasters/slideMaster1.xml" Id="R41967de6c948476d" /><Relationship Type="http://schemas.openxmlformats.org/officeDocument/2006/relationships/notesMaster" Target="/ppt/notesMasters/notesMaster1.xml" Id="Rabcfec39d84f47e3" /><Relationship Type="http://schemas.openxmlformats.org/officeDocument/2006/relationships/presProps" Target="/ppt/presProps.xml" Id="Rcf44a6e8af034b0c" /><Relationship Type="http://schemas.openxmlformats.org/officeDocument/2006/relationships/tableStyles" Target="/ppt/tableStyles.xml" Id="R2d853ccb388e471f" /><Relationship Type="http://schemas.openxmlformats.org/officeDocument/2006/relationships/slide" Target="/ppt/slides/slide1.xml" Id="R853cf07f303a4079" /><Relationship Type="http://schemas.openxmlformats.org/officeDocument/2006/relationships/slide" Target="/ppt/slides/slide2.xml" Id="R69feb8323ddd4beb" /><Relationship Type="http://schemas.openxmlformats.org/officeDocument/2006/relationships/slide" Target="/ppt/slides/slide3.xml" Id="Rccc4e83074274f81" /><Relationship Type="http://schemas.openxmlformats.org/officeDocument/2006/relationships/slide" Target="/ppt/slides/slide4.xml" Id="R92dc136ddc2e4f6b" /><Relationship Type="http://schemas.openxmlformats.org/officeDocument/2006/relationships/slide" Target="/ppt/slides/slide5.xml" Id="R6eb97d36dd5d4460" /><Relationship Type="http://schemas.openxmlformats.org/officeDocument/2006/relationships/slide" Target="/ppt/slides/slide6.xml" Id="Ra9b5a22502d64854" /><Relationship Type="http://schemas.openxmlformats.org/officeDocument/2006/relationships/slide" Target="/ppt/slides/slide7.xml" Id="Rdf958b26b1614ce8" /><Relationship Type="http://schemas.openxmlformats.org/officeDocument/2006/relationships/slide" Target="/ppt/slides/slide8.xml" Id="Rc2d499fac6eb4348" /><Relationship Type="http://schemas.openxmlformats.org/officeDocument/2006/relationships/slide" Target="/ppt/slides/slide9.xml" Id="R72ba58027907476f" /><Relationship Type="http://schemas.openxmlformats.org/officeDocument/2006/relationships/slide" Target="/ppt/slides/slide10.xml" Id="R5597339dd4a549ed" /><Relationship Type="http://schemas.openxmlformats.org/officeDocument/2006/relationships/slide" Target="/ppt/slides/slide11.xml" Id="Rd9bb20746c514094" /><Relationship Type="http://schemas.openxmlformats.org/officeDocument/2006/relationships/slide" Target="/ppt/slides/slide12.xml" Id="Rbc55ecb798164db0" /><Relationship Type="http://schemas.openxmlformats.org/officeDocument/2006/relationships/slide" Target="/ppt/slides/slide13.xml" Id="R21eac32d3b8f4179" /><Relationship Type="http://schemas.openxmlformats.org/officeDocument/2006/relationships/slide" Target="/ppt/slides/slide14.xml" Id="R822d195debd641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b4e6f4a7c147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da4567438e4318" /><Relationship Type="http://schemas.openxmlformats.org/officeDocument/2006/relationships/notesMaster" Target="/ppt/notesMasters/notesMaster1.xml" Id="R2644830e0e284f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e267ab76f3467c" /><Relationship Type="http://schemas.openxmlformats.org/officeDocument/2006/relationships/notesMaster" Target="/ppt/notesMasters/notesMaster1.xml" Id="R05e2c5c25c5043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da6a42f9914bc7" /><Relationship Type="http://schemas.openxmlformats.org/officeDocument/2006/relationships/notesMaster" Target="/ppt/notesMasters/notesMaster1.xml" Id="R097087240dc347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a4152082d24902" /><Relationship Type="http://schemas.openxmlformats.org/officeDocument/2006/relationships/notesMaster" Target="/ppt/notesMasters/notesMaster1.xml" Id="R10b00549390a4f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0aa6a623db4a26" /><Relationship Type="http://schemas.openxmlformats.org/officeDocument/2006/relationships/notesMaster" Target="/ppt/notesMasters/notesMaster1.xml" Id="R54f5ecc020dd4f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ddf2cfafa74d6c" /><Relationship Type="http://schemas.openxmlformats.org/officeDocument/2006/relationships/notesMaster" Target="/ppt/notesMasters/notesMaster1.xml" Id="Rfeabf0b599b04e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23f161f5624532" /><Relationship Type="http://schemas.openxmlformats.org/officeDocument/2006/relationships/notesMaster" Target="/ppt/notesMasters/notesMaster1.xml" Id="R7790414fdd3448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e02cce32244ea0" /><Relationship Type="http://schemas.openxmlformats.org/officeDocument/2006/relationships/notesMaster" Target="/ppt/notesMasters/notesMaster1.xml" Id="R0ecdf167c1b84e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4bbcd4507b40be" /><Relationship Type="http://schemas.openxmlformats.org/officeDocument/2006/relationships/notesMaster" Target="/ppt/notesMasters/notesMaster1.xml" Id="R9ceb44c35a5047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b9601e7e1e48c0" /><Relationship Type="http://schemas.openxmlformats.org/officeDocument/2006/relationships/notesMaster" Target="/ppt/notesMasters/notesMaster1.xml" Id="Re9918c4ebce54f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41447cf02e4710" /><Relationship Type="http://schemas.openxmlformats.org/officeDocument/2006/relationships/notesMaster" Target="/ppt/notesMasters/notesMaster1.xml" Id="Reee6baecbf3844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692ff98bc24749" /><Relationship Type="http://schemas.openxmlformats.org/officeDocument/2006/relationships/notesMaster" Target="/ppt/notesMasters/notesMaster1.xml" Id="R6b5e526a83d049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02287d4f0f4758" /><Relationship Type="http://schemas.openxmlformats.org/officeDocument/2006/relationships/notesMaster" Target="/ppt/notesMasters/notesMaster1.xml" Id="Raefbac2f37744ee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bf9a2ef2d546e7" /><Relationship Type="http://schemas.openxmlformats.org/officeDocument/2006/relationships/notesMaster" Target="/ppt/notesMasters/notesMaster1.xml" Id="R3189b8cdae8d4a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분야 설명용 스톡 이미지. 실제 제안사 수행·설치·행사 사진 아님.</a:t>
            </a:r>
          </a:p>
          <a:p xmlns:a="http://schemas.openxmlformats.org/drawingml/2006/main">
            <a:r>
              <a:t>이미지 출처: https://images.pexels.com/photos/325229/pexels-photo-325229.jpeg?auto=compress&amp;cs=tinysrgb&amp;w=1800</a:t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분야 설명용 스톡 이미지. 실제 수행 사진 아님.</a:t>
            </a:r>
          </a:p>
          <a:p xmlns:a="http://schemas.openxmlformats.org/drawingml/2006/main">
            <a:r>
              <a:t>이미지 출처: https://images.pexels.com/photos/574071/pexels-photo-574071.jpeg?auto=compress&amp;cs=tinysrgb&amp;w=1500</a:t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붙임2. 제안요청서_글로벌 성과확산을 위한 AI 기반 연구탐색 서비스 도입.hwp</a:t>
            </a:r>
          </a:p>
          <a:p xmlns:a="http://schemas.openxmlformats.org/drawingml/2006/main">
            <a:r>
              <a:t>https://www.kdi.re.kr/board/file/download?atch_no=PQJS4HtktprkhEH6J%2FKSfw%3D%3D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911f92c74d4b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0d2cf81711427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2ba877c3634d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e48b7d99ff4f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0d3da88d3644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93a41449264f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CBC85F-02AE-43F3-BF31-EFE168343C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CC6126B-F7A4-4AB4-BFBA-9F39CEB1CF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0F150D-A114-4364-877E-FF9CFC76AC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5B318B-214D-4C27-83C3-C868D6E237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1096521-019D-405E-9441-B96E42FF6F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F00ECF8-ACAD-4B1C-A483-B1267157C8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0EA6DC-0416-49E0-84E5-2B0486FFD5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7BA003F-0F1E-440F-A3F2-2615AFAEEE1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53733C-9D27-481F-B4D2-B152F6C270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DF0B6D-AD02-461A-849B-981A98E294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a46559233d42ce" /><Relationship Type="http://schemas.openxmlformats.org/officeDocument/2006/relationships/slideLayout" Target="/ppt/slideLayouts/slideLayout1.xml" Id="R55669f40031040f3" /><Relationship Type="http://schemas.openxmlformats.org/officeDocument/2006/relationships/slideLayout" Target="/ppt/slideLayouts/slideLayout2.xml" Id="Rd82193b9d5cf4144" /><Relationship Type="http://schemas.openxmlformats.org/officeDocument/2006/relationships/slideLayout" Target="/ppt/slideLayouts/slideLayout3.xml" Id="R5a52023bab7d4bfa" /><Relationship Type="http://schemas.openxmlformats.org/officeDocument/2006/relationships/slideLayout" Target="/ppt/slideLayouts/slideLayout4.xml" Id="Rac248ad079644596" /><Relationship Type="http://schemas.openxmlformats.org/officeDocument/2006/relationships/slideLayout" Target="/ppt/slideLayouts/slideLayout5.xml" Id="R5eda64f492eb4098" /><Relationship Type="http://schemas.openxmlformats.org/officeDocument/2006/relationships/slideLayout" Target="/ppt/slideLayouts/slideLayout6.xml" Id="Re286e025dd0a4d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669f40031040f3"/>
    <p:sldLayoutId xmlns:r="http://schemas.openxmlformats.org/officeDocument/2006/relationships" id="2147483650" r:id="Rd82193b9d5cf4144"/>
    <p:sldLayoutId xmlns:r="http://schemas.openxmlformats.org/officeDocument/2006/relationships" id="2147483651" r:id="R5a52023bab7d4bfa"/>
    <p:sldLayoutId xmlns:r="http://schemas.openxmlformats.org/officeDocument/2006/relationships" id="2147483652" r:id="Rac248ad079644596"/>
    <p:sldLayoutId xmlns:r="http://schemas.openxmlformats.org/officeDocument/2006/relationships" id="2147483653" r:id="R5eda64f492eb4098"/>
    <p:sldLayoutId xmlns:r="http://schemas.openxmlformats.org/officeDocument/2006/relationships" id="2147483654" r:id="Re286e025dd0a4d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4d9012921c4161" /><Relationship Type="http://schemas.openxmlformats.org/officeDocument/2006/relationships/image" Target="/ppt/media/image.jpeg" Id="R0cc9b5091c35442e" /><Relationship Type="http://schemas.openxmlformats.org/officeDocument/2006/relationships/notesSlide" Target="/ppt/notesSlides/notesSlide1.xml" Id="Rb293e731af6d4f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c5c81093994a89" /><Relationship Type="http://schemas.openxmlformats.org/officeDocument/2006/relationships/notesSlide" Target="/ppt/notesSlides/notesSlide2.xml" Id="R54fd91971d3c4a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f9e8f30f894f2b" /><Relationship Type="http://schemas.openxmlformats.org/officeDocument/2006/relationships/notesSlide" Target="/ppt/notesSlides/notesSlide3.xml" Id="R1420a1cd62a448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70ab8cf54841f2" /><Relationship Type="http://schemas.openxmlformats.org/officeDocument/2006/relationships/notesSlide" Target="/ppt/notesSlides/notesSlide4.xml" Id="R26419bce89bb45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f8645a879e4273" /><Relationship Type="http://schemas.openxmlformats.org/officeDocument/2006/relationships/notesSlide" Target="/ppt/notesSlides/notesSlide5.xml" Id="R1f809a4896704f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72a9cd0ff4328" /><Relationship Type="http://schemas.openxmlformats.org/officeDocument/2006/relationships/notesSlide" Target="/ppt/notesSlides/notesSlide6.xml" Id="R173b3de4f47f4a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11dbbb998a4b83" /><Relationship Type="http://schemas.openxmlformats.org/officeDocument/2006/relationships/notesSlide" Target="/ppt/notesSlides/notesSlide7.xml" Id="R472658c837d94b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d7bc7db1624f6b" /><Relationship Type="http://schemas.openxmlformats.org/officeDocument/2006/relationships/notesSlide" Target="/ppt/notesSlides/notesSlide8.xml" Id="R457c9f8fbc2b41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ed614c2fa045e0" /><Relationship Type="http://schemas.openxmlformats.org/officeDocument/2006/relationships/notesSlide" Target="/ppt/notesSlides/notesSlide9.xml" Id="R6f5af684ad8046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4b6ef090b64158" /><Relationship Type="http://schemas.openxmlformats.org/officeDocument/2006/relationships/notesSlide" Target="/ppt/notesSlides/notesSlide10.xml" Id="Ra9555bec54a94f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53803f0ea64b5e" /><Relationship Type="http://schemas.openxmlformats.org/officeDocument/2006/relationships/notesSlide" Target="/ppt/notesSlides/notesSlide11.xml" Id="R8478d4bfac304b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7477bc921d45b6" /><Relationship Type="http://schemas.openxmlformats.org/officeDocument/2006/relationships/notesSlide" Target="/ppt/notesSlides/notesSlide12.xml" Id="R110df4296cd74e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9847c469dd44dc" /><Relationship Type="http://schemas.openxmlformats.org/officeDocument/2006/relationships/notesSlide" Target="/ppt/notesSlides/notesSlide13.xml" Id="R5961a726b55645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68940b134b487d" /><Relationship Type="http://schemas.openxmlformats.org/officeDocument/2006/relationships/image" Target="/ppt/media/image2.jpeg" Id="Rd238fbf5e13c427d" /><Relationship Type="http://schemas.openxmlformats.org/officeDocument/2006/relationships/notesSlide" Target="/ppt/notesSlides/notesSlide14.xml" Id="Re11ae2accf824c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38734-D076-4FD0-859F-93A0AF23D1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c9b5091c35442e"/>
          <a:srcRect xmlns:a="http://schemas.openxmlformats.org/drawingml/2006/main" l="34104" t="0" r="341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2293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9EBC4633-EE4E-4AF9-8CAC-54FEEE8A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1912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9F1211B5-72CD-4B2F-ABEC-DB821FAC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76425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IT·시스템</a:t>
            </a:r>
          </a:p>
          <a:p xmlns:a="http://schemas.openxmlformats.org/drawingml/2006/main">
            <a:pPr algn="l">
              <a:defRPr sz="42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A2A98B2-0CD0-4E66-BD4D-9AD6DCE1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19600"/>
            <a:ext cx="4667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사업명 · 발주기관 · 제안사 작성</a:t>
            </a:r>
          </a:p>
        </p:txBody>
      </p:sp>
      <p:sp>
        <p:nvSpPr>
          <p:cNvPr id="5" name="bid3-fixed-design-name">
            <a:extLst xmlns:a="http://schemas.openxmlformats.org/drawingml/2006/main">
              <a:ext uri="{FF2B5EF4-FFF2-40B4-BE49-F238E27FC236}">
                <a16:creationId xmlns:a16="http://schemas.microsoft.com/office/drawing/2014/main" id="{80A2C5EB-AB90-4644-92EF-1290AB01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838825"/>
            <a:ext cx="466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딜리버리 민트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AE0E9E9-34BE-4ADE-AC54-1485E3DB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200008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8AB9A818-93EC-4DA2-9E96-B5705405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IT·시스템 / 제안 구성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ABBEF0CC-1E21-4BAA-B5E4-AAAD1687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시스템 구축 제안의 구성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D0D9B38-BE7C-4EC0-AC6C-4B6CDECE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설계·구현·검증·전환을 추적 가능한 산출물로 연결합니다.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F0BE61CF-78E1-4F27-BD3D-106587CB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D74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7A6F03A-B68C-4BDB-B5C7-75BBDEF5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F4F1EE3B-6FD0-4660-8CAB-55F49BD5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2461261-1FFD-4EE5-9EC5-0B3598ED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20CAA15-E898-4A6B-9E10-E67C996D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99BA682-63D1-4B87-8145-C3863B55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3842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현황과 목표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4BFE98A-C418-481C-888A-DFB38FB4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667000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1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696B4136-FA3D-468A-82EE-9E2C52A0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57550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EA"/>
          </a:solidFill>
          <a:ln xmlns:a="http://schemas.openxmlformats.org/drawingml/2006/main" w="0">
            <a:noFill/>
          </a:ln>
        </p:spPr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58CCEB1-44DC-4D6A-B581-3D33377C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8A7B6A2-1BF2-4D35-9848-BF354A4D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2900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서비스와 데이터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E3DD070-CBA4-46CF-8691-8800135E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457575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5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757C8CE9-40F9-4BDC-8614-B894199A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48125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EA"/>
          </a:solidFill>
          <a:ln xmlns:a="http://schemas.openxmlformats.org/drawingml/2006/main" w="0">
            <a:noFill/>
          </a:ln>
        </p:spPr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961757E-A93E-47CE-8ACE-5CC7DF96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76ACC9A-84D4-4A57-9740-DE16B797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957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시험과 보안</a:t>
            </a:r>
          </a:p>
        </p:txBody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D7931B0-17C7-4851-94DD-7D5590A7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248150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9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2551D344-DC1B-4771-86A5-794D3BCF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38700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EA"/>
          </a:solidFill>
          <a:ln xmlns:a="http://schemas.openxmlformats.org/drawingml/2006/main" w="0">
            <a:noFill/>
          </a:ln>
        </p:spPr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CF13A34-1A37-4E96-980F-1E566090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9432EB3-EADE-4669-866D-524B24C1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오픈과 인계</a:t>
            </a:r>
          </a:p>
        </p:txBody>
      </p:sp>
      <p:sp>
        <p:nvSpPr>
          <p:cNvPr id="2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7DE5DE7-4644-4A0E-A3D8-B43E6CCF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038725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4537717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942BF3F1-F5A9-41DB-ACE4-7ADF329C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IT·시스템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DE2D9AAA-8141-4F0F-BF0D-BB827C4D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현행 업무와 목표 서비스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115E7DC-360F-440F-908A-33C0000A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부서별로 나뉜 업무 기록을 공통 서비스에서 이어가는 구성안입니다.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2D65A18F-3F36-470A-9E14-D767C375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D74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952AD59-17C8-4C89-95FF-B9A65AD8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88EB89BE-1F6C-4F7B-84A5-AC71477D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2454C06D-7DCA-450F-B93E-8FA8B067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08FA5B0-E6BD-4A21-A100-E7A78F42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현행</a:t>
            </a:r>
          </a:p>
        </p:txBody>
      </p:sp>
      <p:sp>
        <p:nvSpPr>
          <p:cNvPr id="9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3936CDF2-FF40-4FAE-8BCD-CB2B6317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334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D74"/>
          </a:solidFill>
          <a:ln xmlns:a="http://schemas.openxmlformats.org/drawingml/2006/main" w="0">
            <a:noFill/>
          </a:ln>
        </p:spPr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36A5511-7949-41D5-AB20-10203CE0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3673EB1-BFFC-465C-B130-AB84E101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955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목표</a:t>
            </a:r>
          </a:p>
        </p:txBody>
      </p:sp>
      <p:sp>
        <p:nvSpPr>
          <p:cNvPr id="12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237E6D0C-019B-45FD-88E8-5BCF7C57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76625"/>
            <a:ext cx="5334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D74"/>
          </a:solidFill>
          <a:ln xmlns:a="http://schemas.openxmlformats.org/drawingml/2006/main" w="0">
            <a:noFill/>
          </a:ln>
        </p:spPr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49EEAFA-6414-42C8-B436-FB780437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43325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9382950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F96101B6-094C-4A6A-9D79-11CEE6FA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IT·시스템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D4D1BEE1-D75D-466B-A1CC-BE271DB9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목표 시스템 아키텍처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FE8EF69-E9F5-44EF-B6A4-FC646BA4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서비스·연계·데이터 계층의 책임과 접근 경계를 분리합니다.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6C0E2F62-E212-4CB8-83B9-C203B058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D74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E894AAD-874A-4EBD-A1D9-1476DBB0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7B16C27F-AD29-492E-B933-CECF2E39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B9EE3EE-FF20-4748-BEC3-858D858B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8C2261B-C79C-4446-8AF9-CC86309D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이용 채널</a:t>
            </a:r>
          </a:p>
        </p:txBody>
      </p:sp>
      <p:sp>
        <p:nvSpPr>
          <p:cNvPr id="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71D024E3-3A15-4A16-92B2-3407D815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57475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EA"/>
          </a:solidFill>
          <a:ln xmlns:a="http://schemas.openxmlformats.org/drawingml/2006/main" w="9525">
            <a:solidFill>
              <a:srgbClr val="217D74"/>
            </a:solidFill>
          </a:ln>
        </p:spPr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1C5C7FD-2CE1-45DD-8440-A9F4D867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28925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사용자 웹</a:t>
            </a:r>
          </a:p>
        </p:txBody>
      </p:sp>
      <p:sp>
        <p:nvSpPr>
          <p:cNvPr id="11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380C69BC-B3F8-4D66-B9A8-D8E23355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2657475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EA"/>
          </a:solidFill>
          <a:ln xmlns:a="http://schemas.openxmlformats.org/drawingml/2006/main" w="9525">
            <a:solidFill>
              <a:srgbClr val="217D74"/>
            </a:solidFill>
          </a:ln>
        </p:spPr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0A53B97-D76E-452A-BAEF-386A531E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450" y="2828925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관리자 화면</a:t>
            </a:r>
          </a:p>
        </p:txBody>
      </p:sp>
      <p:sp>
        <p:nvSpPr>
          <p:cNvPr id="1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7D611A6B-AFA7-42AB-ABE9-28126F99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950" y="2657475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EA"/>
          </a:solidFill>
          <a:ln xmlns:a="http://schemas.openxmlformats.org/drawingml/2006/main" w="9525">
            <a:solidFill>
              <a:srgbClr val="217D74"/>
            </a:solidFill>
          </a:ln>
        </p:spPr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C5E4D18-0202-4A57-8F95-91002E55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00" y="2828925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외부 연계</a:t>
            </a:r>
          </a:p>
        </p:txBody>
      </p:sp>
      <p:cxnSp>
        <p:nvCxnSpPr>
          <p:cNvPr id="15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ADB7D89D-C337-4C59-9231-EC126C04CEC5}"/>
              </a:ext>
            </a:extLst>
          </p:cNvPr>
          <p:cNvCxnSpPr/>
          <p:nvPr/>
        </p:nvCxnSpPr>
        <p:spPr>
          <a:xfrm xmlns:a="http://schemas.openxmlformats.org/drawingml/2006/main">
            <a:off x="7334250" y="3448050"/>
            <a:ext cx="0" cy="3048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17D74"/>
            </a:solidFill>
          </a:ln>
        </p:spPr>
      </p:cxn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7E93CB1-DA19-4EEB-A162-104551F9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서비스 계층</a:t>
            </a:r>
          </a:p>
        </p:txBody>
      </p:sp>
      <p:sp>
        <p:nvSpPr>
          <p:cNvPr id="17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23E572E7-273A-4DFF-9A1E-46203BEE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752850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EA"/>
          </a:solidFill>
          <a:ln xmlns:a="http://schemas.openxmlformats.org/drawingml/2006/main" w="9525">
            <a:solidFill>
              <a:srgbClr val="217D74"/>
            </a:solidFill>
          </a:ln>
        </p:spPr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D5F3A0C-5BF8-4BDB-8E8A-CCE4EA50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24300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업무 접수</a:t>
            </a:r>
          </a:p>
        </p:txBody>
      </p:sp>
      <p:sp>
        <p:nvSpPr>
          <p:cNvPr id="1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FFD25479-3710-4167-9E85-0B61998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3752850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EA"/>
          </a:solidFill>
          <a:ln xmlns:a="http://schemas.openxmlformats.org/drawingml/2006/main" w="9525">
            <a:solidFill>
              <a:srgbClr val="217D74"/>
            </a:solidFill>
          </a:ln>
        </p:spPr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7ED695C-073F-4A5C-9195-22C72E8F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450" y="3924300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처리·승인</a:t>
            </a:r>
          </a:p>
        </p:txBody>
      </p:sp>
      <p:sp>
        <p:nvSpPr>
          <p:cNvPr id="21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A3F98FEC-4389-4D2B-BAAA-4B7FCB40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950" y="3752850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EA"/>
          </a:solidFill>
          <a:ln xmlns:a="http://schemas.openxmlformats.org/drawingml/2006/main" w="9525">
            <a:solidFill>
              <a:srgbClr val="217D74"/>
            </a:solidFill>
          </a:ln>
        </p:spPr>
      </p:sp>
      <p:sp>
        <p:nvSpPr>
          <p:cNvPr id="2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EC2E07D-D381-4D5C-9986-B5A85833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00" y="3924300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조회·알림</a:t>
            </a:r>
          </a:p>
        </p:txBody>
      </p:sp>
      <p:cxnSp>
        <p:nvCxnSpPr>
          <p:cNvPr id="23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4573DAE2-48CC-4F02-8EEF-21B20B23FDD5}"/>
              </a:ext>
            </a:extLst>
          </p:cNvPr>
          <p:cNvCxnSpPr/>
          <p:nvPr/>
        </p:nvCxnSpPr>
        <p:spPr>
          <a:xfrm xmlns:a="http://schemas.openxmlformats.org/drawingml/2006/main">
            <a:off x="7334250" y="4543425"/>
            <a:ext cx="0" cy="3048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17D74"/>
            </a:solidFill>
          </a:ln>
        </p:spPr>
      </p:cxnSp>
      <p:sp>
        <p:nvSpPr>
          <p:cNvPr id="2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D5DE133-6415-4242-82BF-AE572401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데이터 계층</a:t>
            </a:r>
          </a:p>
        </p:txBody>
      </p:sp>
      <p:sp>
        <p:nvSpPr>
          <p:cNvPr id="25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561C44FD-315B-4456-BA9D-001607BA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48225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EA"/>
          </a:solidFill>
          <a:ln xmlns:a="http://schemas.openxmlformats.org/drawingml/2006/main" w="9525">
            <a:solidFill>
              <a:srgbClr val="217D74"/>
            </a:solidFill>
          </a:ln>
        </p:spPr>
      </p:sp>
      <p:sp>
        <p:nvSpPr>
          <p:cNvPr id="2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8B687E7-4D35-4958-B583-76B38FD0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19675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업무 데이터</a:t>
            </a:r>
          </a:p>
        </p:txBody>
      </p:sp>
      <p:sp>
        <p:nvSpPr>
          <p:cNvPr id="27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6A1ABBAE-9124-4093-BDD4-A7DB8103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4848225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EA"/>
          </a:solidFill>
          <a:ln xmlns:a="http://schemas.openxmlformats.org/drawingml/2006/main" w="9525">
            <a:solidFill>
              <a:srgbClr val="217D74"/>
            </a:solidFill>
          </a:ln>
        </p:spPr>
      </p:sp>
      <p:sp>
        <p:nvSpPr>
          <p:cNvPr id="2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A16091F-4D68-41D1-8511-CE79A171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450" y="5019675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첨부·문서</a:t>
            </a:r>
          </a:p>
        </p:txBody>
      </p:sp>
      <p:sp>
        <p:nvSpPr>
          <p:cNvPr id="2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1819D6E1-28C1-495E-A600-62717527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950" y="4848225"/>
            <a:ext cx="27114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EA"/>
          </a:solidFill>
          <a:ln xmlns:a="http://schemas.openxmlformats.org/drawingml/2006/main" w="9525">
            <a:solidFill>
              <a:srgbClr val="217D74"/>
            </a:solidFill>
          </a:ln>
        </p:spPr>
      </p:sp>
      <p:sp>
        <p:nvSpPr>
          <p:cNvPr id="3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C1F6857-D1AB-4701-9FCB-73205BDF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00" y="5019675"/>
            <a:ext cx="236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접근·처리 로그</a:t>
            </a:r>
          </a:p>
        </p:txBody>
      </p:sp>
    </p:spTree>
    <p:extLst>
      <p:ext uri="{BB962C8B-B14F-4D97-AF65-F5344CB8AC3E}">
        <p14:creationId xmlns:p14="http://schemas.microsoft.com/office/powerpoint/2010/main" val="10842398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D714062E-1E86-48B6-8C8F-53695E50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IT·시스템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EC5B818B-9892-4CE2-BEDF-C7D29338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요구사항과 검증의 연결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133DBC9-127E-48FD-864D-F24B3B6A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아래 ID는 예시이며 실제 생성 시 공고의 요구사항 번호로 연결합니다.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9D2292EB-C3D9-42DF-AC7B-82BC8725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D74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905CDF8-C7F9-445E-81DF-CD285FE7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C0E94A05-4D0A-40A9-9205-60CB9CC5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09885BE-43C7-4D6E-9951-99ED7DA9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4532E-0E72-408B-9617-CC1930CC88BC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2571750"/>
                <a:gridCol w="3781425"/>
                <a:gridCol w="28575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예시 ID</a:t>
                      </a:r>
                    </a:p>
                  </a:txBody>
                  <a:tcPr marL="142875" marR="142875" marT="114300" marB="95250" anchor="ctr">
                    <a:solidFill>
                      <a:srgbClr val="16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대상</a:t>
                      </a:r>
                    </a:p>
                  </a:txBody>
                  <a:tcPr marL="142875" marR="142875" marT="114300" marB="95250" anchor="ctr">
                    <a:solidFill>
                      <a:srgbClr val="16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방법</a:t>
                      </a:r>
                    </a:p>
                  </a:txBody>
                  <a:tcPr marL="142875" marR="142875" marT="114300" marB="95250" anchor="ctr">
                    <a:solidFill>
                      <a:srgbClr val="16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</a:t>
                      </a:r>
                    </a:p>
                  </a:txBody>
                  <a:tcPr marL="142875" marR="142875" marT="114300" marB="95250" anchor="ctr">
                    <a:solidFill>
                      <a:srgbClr val="163D3D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DEMO-F01</a:t>
                      </a:r>
                    </a:p>
                  </a:txBody>
                  <a:tcPr marL="142875" marR="142875" marT="114300" marB="95250" anchor="ctr">
                    <a:solidFill>
                      <a:srgbClr val="DF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DF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DF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DFEEE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DEMO-I01</a:t>
                      </a:r>
                    </a:p>
                  </a:txBody>
                  <a:tcPr marL="142875" marR="142875" marT="114300" marB="95250"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5FAF9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DEMO-D01</a:t>
                      </a:r>
                    </a:p>
                  </a:txBody>
                  <a:tcPr marL="142875" marR="142875" marT="114300" marB="95250" anchor="ctr">
                    <a:solidFill>
                      <a:srgbClr val="DF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DF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DF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DFEE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18151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C9199348-68DE-45F8-B4ED-C828F333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IT·시스템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6ADBF20D-4821-4188-A6E1-AC1BEDCB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사용자·서비스·관리자 흐름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04BAFCE-04EE-42DF-851F-8B1F57EE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기능 목록을 실제 처리 흐름과 역할별 확인 지점으로 구체화합니다.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8A9D9306-3B3E-4E38-8610-7EFAD1A2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D74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940FCA0-E034-45BE-8B2D-0B68A989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E764C0D6-1981-41FE-AEE9-389D3530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E8BC3C6-5B90-4090-908E-298F4104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8BB79B3-38A6-411A-AC27-34658CA9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사용자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D25B629-2D2A-4D26-86BD-8F54D699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146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3982F37-34B3-4378-9844-890F1568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146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1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0AA6D0E1-306C-4D88-8D40-25146027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EA"/>
          </a:solidFill>
          <a:ln xmlns:a="http://schemas.openxmlformats.org/drawingml/2006/main" w="0">
            <a:noFill/>
          </a:ln>
        </p:spPr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9B30DFF-9226-44A3-B066-113C128D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서비스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062C0A1-B2EF-40C8-BF2A-ABD4D394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814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33B5F60-9137-40A7-BB81-3055C2A1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7814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5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9B066814-A794-4E52-83C5-C137C5CB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EA"/>
          </a:solidFill>
          <a:ln xmlns:a="http://schemas.openxmlformats.org/drawingml/2006/main" w="0">
            <a:noFill/>
          </a:ln>
        </p:spPr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4E85C37-F225-4DC7-A0F5-EF884347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관리자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08D8A9E-A4E5-49AE-BB26-BDD40748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482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24AA1B8-36A2-4DFC-AB8D-9CC83FB9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482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</p:spTree>
    <p:extLst>
      <p:ext uri="{BB962C8B-B14F-4D97-AF65-F5344CB8AC3E}">
        <p14:creationId xmlns:p14="http://schemas.microsoft.com/office/powerpoint/2010/main" val="4704699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782E61D9-11CB-4A69-8BC9-71C6C814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IT·시스템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8B36EE29-5D5E-4FA6-BBFA-9F82357A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데이터 전환과 복구 기준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D964C1E-E5AE-4A5A-A22B-E3CEEE3B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전환 전 대조 기준과 되돌릴 조건을 합의합니다.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3DD2C160-913C-4417-98AB-5C83E533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D74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7335D33-2D5E-4454-91D1-9B310582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51F79637-74DD-4059-BD74-697F020B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84EE196-D214-4ADA-BA63-6820C8DD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A865864-76F1-49A7-B08E-788D8B1A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C843E3AC-8EA5-4F73-A38E-9E66C6E7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EA"/>
          </a:solidFill>
          <a:ln xmlns:a="http://schemas.openxmlformats.org/drawingml/2006/main" w="9525">
            <a:solidFill>
              <a:srgbClr val="217D74"/>
            </a:solidFill>
          </a:ln>
        </p:spPr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76478C8-5449-43DB-B2CD-B442E131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정의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F511B5A-D39E-4435-A431-386C28C0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87785199-D8BA-4ED5-8CA5-0FC0101DF548}"/>
              </a:ext>
            </a:extLst>
          </p:cNvPr>
          <p:cNvCxnSpPr/>
          <p:nvPr/>
        </p:nvCxnSpPr>
        <p:spPr>
          <a:xfrm xmlns:a="http://schemas.openxmlformats.org/drawingml/2006/main">
            <a:off x="3109913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17D74"/>
            </a:solidFill>
          </a:ln>
        </p:spPr>
      </p:cxn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25ABF2D-6FB5-4FFE-A446-01CD9052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93D0928F-1BC8-45FD-A95B-7ABD20A8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EA"/>
          </a:solidFill>
          <a:ln xmlns:a="http://schemas.openxmlformats.org/drawingml/2006/main" w="9525">
            <a:solidFill>
              <a:srgbClr val="217D74"/>
            </a:solidFill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33CE397-2D0A-4F79-A252-40521266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시험 이관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BEF54DB-5A16-4D37-B235-3314E409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7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4AD7985D-B3D0-4F03-A6C4-0D7F13A1E402}"/>
              </a:ext>
            </a:extLst>
          </p:cNvPr>
          <p:cNvCxnSpPr/>
          <p:nvPr/>
        </p:nvCxnSpPr>
        <p:spPr>
          <a:xfrm xmlns:a="http://schemas.openxmlformats.org/drawingml/2006/main">
            <a:off x="5934075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17D74"/>
            </a:solidFill>
          </a:ln>
        </p:spPr>
      </p:cxn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1F27EA9-1EB9-4BDB-980D-DBC3EF44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9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87BF1178-123D-4434-967F-4FE5AB43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EA"/>
          </a:solidFill>
          <a:ln xmlns:a="http://schemas.openxmlformats.org/drawingml/2006/main" w="9525">
            <a:solidFill>
              <a:srgbClr val="217D74"/>
            </a:solidFill>
          </a:ln>
        </p:spPr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0FB4DBC-903B-4B7C-8DB1-8597F346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전환 승인</a:t>
            </a:r>
          </a:p>
        </p:txBody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5343A45-3BE7-4EF5-9111-B6210896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22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C2E1926D-BA2C-4B29-B692-F04B5A231293}"/>
              </a:ext>
            </a:extLst>
          </p:cNvPr>
          <p:cNvCxnSpPr/>
          <p:nvPr/>
        </p:nvCxnSpPr>
        <p:spPr>
          <a:xfrm xmlns:a="http://schemas.openxmlformats.org/drawingml/2006/main">
            <a:off x="8758238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17D74"/>
            </a:solidFill>
          </a:ln>
        </p:spPr>
      </p:cxnSp>
      <p:sp>
        <p:nvSpPr>
          <p:cNvPr id="2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CCAE774-4D0E-4CE9-A6C3-278F6972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4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BA1780D8-0065-4D3C-81C7-0852365A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EA"/>
          </a:solidFill>
          <a:ln xmlns:a="http://schemas.openxmlformats.org/drawingml/2006/main" w="9525">
            <a:solidFill>
              <a:srgbClr val="217D74"/>
            </a:solidFill>
          </a:ln>
        </p:spPr>
      </p:sp>
      <p:sp>
        <p:nvSpPr>
          <p:cNvPr id="2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5914ED5-455B-4361-A83E-C8308656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운영 전환</a:t>
            </a:r>
          </a:p>
        </p:txBody>
      </p:sp>
      <p:sp>
        <p:nvSpPr>
          <p:cNvPr id="2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E8B51DB-FEB1-4526-A701-793B3E48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3934035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06075637-5ABB-49F7-89D6-DA710646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IT·시스템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8C3D6C0D-92BB-4D03-96ED-BB23D451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인터페이스와 오류 처리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762F95A-639B-4C18-A57F-9B2C067B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연계 항목마다 데이터 책임과 실패 시 처리 방법을 정합니다.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78DEA0C7-4AFC-4084-AEF4-A75CDCE7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D74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6AC007C-8D77-4A9E-9CE4-37198357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896F9A4F-0C06-48AD-91AB-516C14DA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E70308B-39FA-4C81-9154-CFAB93BD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937EA2-7F9F-46A7-87F4-6229D0E6847D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연계 구간</a:t>
                      </a:r>
                    </a:p>
                  </a:txBody>
                  <a:tcPr marL="142875" marR="142875" marT="114300" marB="95250" anchor="ctr">
                    <a:solidFill>
                      <a:srgbClr val="16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전송할 정보</a:t>
                      </a:r>
                    </a:p>
                  </a:txBody>
                  <a:tcPr marL="142875" marR="142875" marT="114300" marB="95250" anchor="ctr">
                    <a:solidFill>
                      <a:srgbClr val="16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기준</a:t>
                      </a:r>
                    </a:p>
                  </a:txBody>
                  <a:tcPr marL="142875" marR="142875" marT="114300" marB="95250" anchor="ctr">
                    <a:solidFill>
                      <a:srgbClr val="163D3D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사용자·업무 서비스</a:t>
                      </a:r>
                    </a:p>
                  </a:txBody>
                  <a:tcPr marL="142875" marR="142875" marT="114300" marB="95250" anchor="ctr">
                    <a:solidFill>
                      <a:srgbClr val="DF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DF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DFEEE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업무·외부 서비스</a:t>
                      </a:r>
                    </a:p>
                  </a:txBody>
                  <a:tcPr marL="142875" marR="142875" marT="114300" marB="95250"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5FAF9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업무·관리 도구</a:t>
                      </a:r>
                    </a:p>
                  </a:txBody>
                  <a:tcPr marL="142875" marR="142875" marT="114300" marB="95250" anchor="ctr">
                    <a:solidFill>
                      <a:srgbClr val="DF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DF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DFEE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7196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27BD71A0-5746-4C1D-A18B-5B78FDA0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IT·시스템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CE095D39-8A34-4B4C-A818-EBE744FA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설계 단계와 시험 단계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D2C2A61-0BF0-4C0B-AE8D-7F3AC438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설계 산출물과 시험 결과를 같은 기준으로 대조합니다.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A22C592A-5476-4E38-B91F-29D46ED5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D74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B667B54-808C-4E15-BA8A-1A7C8E1B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499183C0-DA66-4C54-9901-FCD2AE1D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A7105AC-4438-4FD6-8DAD-3E6A8EBF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6948A4A-49A5-4FEE-9386-08F233CD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요구사항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AD16357-E840-450A-A35A-24472647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0510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0BA3BF30-16C2-4FFC-84F8-3F40FE0B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EA"/>
          </a:solidFill>
          <a:ln xmlns:a="http://schemas.openxmlformats.org/drawingml/2006/main" w="0">
            <a:noFill/>
          </a:ln>
        </p:spPr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1154251-852A-4EEA-936A-4AFF8745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업무·서비스 설계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71FFB0F-8DCD-4554-9031-E237BE99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14725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3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C60A1381-423A-4AF9-8F37-A9E1EE3C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EA"/>
          </a:solidFill>
          <a:ln xmlns:a="http://schemas.openxmlformats.org/drawingml/2006/main" w="0">
            <a:noFill/>
          </a:ln>
        </p:spPr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A603120-5ED1-4C0A-8291-45C1C4FC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컴포넌트 설계</a:t>
            </a:r>
          </a:p>
        </p:txBody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BE466AE-0143-48CC-839A-A2FCFD2A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2435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6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B864E675-1C70-4781-8927-F513A626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EA"/>
          </a:solidFill>
          <a:ln xmlns:a="http://schemas.openxmlformats.org/drawingml/2006/main" w="0">
            <a:noFill/>
          </a:ln>
        </p:spPr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5E12EFD-2239-4150-8A64-6BBF3FD0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구현 결과</a:t>
            </a:r>
          </a:p>
        </p:txBody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C2B332D-AB41-40E5-83DB-E675C24E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33975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8011221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89B65708-9C59-4A42-B16C-44F478F9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IT·시스템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69FC122C-B978-4C75-BDDE-F9B13FC9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정보보호와 접근권한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415C206-756F-4D22-8DBB-1AB4EAC2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구체적인 권한과 보호 조건은 원문 및 운영 정책에 따라 확정합니다.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5A6DB109-9EA1-4C21-B70B-96F041DA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D74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FFD858E-9AB2-44ED-B903-0E2FA4A7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2354D8BF-4B39-4946-849E-DD99B2D1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2A7EB8D-22D8-43D1-AD97-9775E0A3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B3105-8D1B-4C1A-BBEE-B6D1C7B454A6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42875" marR="142875" marT="114300" marB="95250" anchor="ctr">
                    <a:solidFill>
                      <a:srgbClr val="16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 범위</a:t>
                      </a:r>
                    </a:p>
                  </a:txBody>
                  <a:tcPr marL="142875" marR="142875" marT="114300" marB="95250" anchor="ctr">
                    <a:solidFill>
                      <a:srgbClr val="16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통제·기록</a:t>
                      </a:r>
                    </a:p>
                  </a:txBody>
                  <a:tcPr marL="142875" marR="142875" marT="114300" marB="95250" anchor="ctr">
                    <a:solidFill>
                      <a:srgbClr val="163D3D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사용자</a:t>
                      </a:r>
                    </a:p>
                  </a:txBody>
                  <a:tcPr marL="142875" marR="142875" marT="114300" marB="95250" anchor="ctr">
                    <a:solidFill>
                      <a:srgbClr val="DF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DF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DFEEE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담당자</a:t>
                      </a:r>
                    </a:p>
                  </a:txBody>
                  <a:tcPr marL="142875" marR="142875" marT="114300" marB="95250"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5FAF9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관리자</a:t>
                      </a:r>
                    </a:p>
                  </a:txBody>
                  <a:tcPr marL="142875" marR="142875" marT="114300" marB="95250" anchor="ctr">
                    <a:solidFill>
                      <a:srgbClr val="DF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DF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DFEE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206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189FB2D9-8A8B-46E8-AD81-C097E69D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IT·시스템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5991A563-9FCF-4141-B671-B884F73C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서비스 오픈과 전환 승인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FC6DBD7-C606-408A-8726-22BA99A9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이행 조건을 확인한 뒤 오픈하고 복구 여부를 판단할 기록을 남깁니다.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4568225B-9737-41D0-A3DF-FEF2425A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D74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50AD42E-8B91-4321-B96B-C6DBBF0F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1AF1D2F9-D968-4C93-9998-915AEC64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7B490CD-E08F-4648-B603-EA52284E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1EC0893-2816-49A3-A3B1-1BFEDBB5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오픈 전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7813382-4334-4A5F-A392-31A00772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146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B286834-B982-4401-8EAF-68E25CB3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146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1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963A00BA-67FC-4FA3-9F95-9A04B0B0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EA"/>
          </a:solidFill>
          <a:ln xmlns:a="http://schemas.openxmlformats.org/drawingml/2006/main" w="0">
            <a:noFill/>
          </a:ln>
        </p:spPr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76B9DCA-7892-44EC-8F77-C9718C68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전환 중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CDF2BD9-B4ED-4DB6-9240-C4098A0D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814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804AD2E-D928-438B-B00E-A1654EB2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7814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5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201EF86C-0B0C-4A97-A078-06E4866E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EEA"/>
          </a:solidFill>
          <a:ln xmlns:a="http://schemas.openxmlformats.org/drawingml/2006/main" w="0">
            <a:noFill/>
          </a:ln>
        </p:spPr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B437C16-92BA-446B-8761-2DCFBDAA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안정화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B4CB621-19CB-415C-818C-CEB17B78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482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0ED7D46-BF74-4EA6-8B73-2C9DB215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482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141860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44714F7E-99E2-4453-9917-09550551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IT·시스템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88E2D5B5-F496-45EA-B80B-D4EF4FF2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운영 관측과 품질 관리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B0E08AC-C89F-4356-B9CE-0B248288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목표 수치를 임의로 약속하지 않고 지표의 정의와 확인 방법을 먼저 정합니다.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4DEA13C1-FADB-4C4A-A560-673DE88C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D74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DCA7A1B-DE19-452B-8EF8-8D4746A6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4D1E720B-69E8-4C03-8FE3-1CBAF05D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065BE34-0E8C-4476-9E5C-790CA52F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15A1C-08BF-4150-86D3-1C6A7D849E85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지표</a:t>
                      </a:r>
                    </a:p>
                  </a:txBody>
                  <a:tcPr marL="142875" marR="142875" marT="114300" marB="95250" anchor="ctr">
                    <a:solidFill>
                      <a:srgbClr val="16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내용</a:t>
                      </a:r>
                    </a:p>
                  </a:txBody>
                  <a:tcPr marL="142875" marR="142875" marT="114300" marB="95250" anchor="ctr">
                    <a:solidFill>
                      <a:srgbClr val="16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 기록</a:t>
                      </a:r>
                    </a:p>
                  </a:txBody>
                  <a:tcPr marL="142875" marR="142875" marT="114300" marB="95250" anchor="ctr">
                    <a:solidFill>
                      <a:srgbClr val="163D3D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오류</a:t>
                      </a:r>
                    </a:p>
                  </a:txBody>
                  <a:tcPr marL="142875" marR="142875" marT="114300" marB="95250" anchor="ctr">
                    <a:solidFill>
                      <a:srgbClr val="DF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DF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DFEEEA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성능</a:t>
                      </a:r>
                    </a:p>
                  </a:txBody>
                  <a:tcPr marL="142875" marR="142875" marT="114300" marB="95250"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5FAF9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안정</a:t>
                      </a:r>
                    </a:p>
                  </a:txBody>
                  <a:tcPr marL="142875" marR="142875" marT="114300" marB="95250" anchor="ctr">
                    <a:solidFill>
                      <a:srgbClr val="DF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DFEE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3D3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DFEE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5455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AD9F3B44-3017-4995-A896-86441CE4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IT·시스템 / 수행 근거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FE4D5478-EA78-444D-9FDC-F7E044C3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기술 산출물과 검수 근거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1F86C52-ADE6-4B1A-9CCF-372D8D69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요구사항과 구현·시험 결과가 서로 추적되도록 인계합니다.</a:t>
            </a:r>
          </a:p>
        </p:txBody>
      </p:sp>
      <p:sp>
        <p:nvSpPr>
          <p:cNvPr id="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9AE427B2-1F1F-41D7-B13E-39682128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7D74"/>
          </a:solidFill>
          <a:ln xmlns:a="http://schemas.openxmlformats.org/drawingml/2006/main" w="0">
            <a:noFill/>
          </a:ln>
        </p:spPr>
      </p:sp>
      <p:sp>
        <p:nvSpPr>
          <p:cNvPr id="5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F5137EB-26F9-413A-B2C9-5476D0BE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6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3234FDE6-3EB3-4469-956F-623317A4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7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CBA7363-BD3F-4490-A5C7-E5866175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A70B9A9-F2A4-40E4-98E3-ADFE3A71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설계·소스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F8D4C7D-1D39-4A55-B220-62DEFBBF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58FEDE5-D31C-4D00-85BF-73CAE758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시험·전환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4DC4080-6CEF-419E-97E1-FC0F5BB6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FEEB0A5-33E8-491C-A718-21EAE25B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운영 인계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9A08B19-C7BC-40CE-8D49-31F161E8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bid3-material-placeholder-heading">
            <a:extLst xmlns:a="http://schemas.openxmlformats.org/drawingml/2006/main">
              <a:ext uri="{FF2B5EF4-FFF2-40B4-BE49-F238E27FC236}">
                <a16:creationId xmlns:a16="http://schemas.microsoft.com/office/drawing/2014/main" id="{AE61D110-9D9A-4C3F-BDD9-4FB72900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495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원문 자료와 제출 증빙</a:t>
            </a:r>
          </a:p>
        </p:txBody>
      </p:sp>
      <p:sp>
        <p:nvSpPr>
          <p:cNvPr id="15" name="bid3-material-placeholder-copy">
            <a:extLst xmlns:a="http://schemas.openxmlformats.org/drawingml/2006/main">
              <a:ext uri="{FF2B5EF4-FFF2-40B4-BE49-F238E27FC236}">
                <a16:creationId xmlns:a16="http://schemas.microsoft.com/office/drawing/2014/main" id="{67AC25F4-4B1F-4F38-88DE-701E3E3B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67125"/>
            <a:ext cx="44958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회사 소개서의 관련 이미지·도표를</a:t>
            </a:r>
          </a:p>
          <a:p xmlns:a="http://schemas.openxmlformats.org/drawingml/2006/main">
            <a:pPr algn="l">
              <a:def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63D3D"/>
                </a:solidFill>
                <a:latin typeface="Malgun Gothic"/>
                <a:ea typeface="Malgun Gothic"/>
                <a:cs typeface="Malgun Gothic"/>
              </a:rPr>
              <a:t>현재 사업의 수행 근거와 대조합니다.</a:t>
            </a:r>
          </a:p>
        </p:txBody>
      </p:sp>
      <p:sp>
        <p:nvSpPr>
          <p:cNvPr id="16" name="bid3-material-placeholder-notice">
            <a:extLst xmlns:a="http://schemas.openxmlformats.org/drawingml/2006/main">
              <a:ext uri="{FF2B5EF4-FFF2-40B4-BE49-F238E27FC236}">
                <a16:creationId xmlns:a16="http://schemas.microsoft.com/office/drawing/2014/main" id="{69C7791F-7188-4D78-974B-48C1AA21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0175"/>
            <a:ext cx="449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17D74"/>
                </a:solidFill>
                <a:latin typeface="Malgun Gothic"/>
                <a:ea typeface="Malgun Gothic"/>
                <a:cs typeface="Malgun Gothic"/>
              </a:rPr>
              <a:t>자료가 없으면 현행 증빙 확보 후 반영</a:t>
            </a:r>
          </a:p>
        </p:txBody>
      </p:sp>
    </p:spTree>
    <p:extLst>
      <p:ext uri="{BB962C8B-B14F-4D97-AF65-F5344CB8AC3E}">
        <p14:creationId xmlns:p14="http://schemas.microsoft.com/office/powerpoint/2010/main" val="17146424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63D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1842D-F1C9-4361-A6D3-2D1FD9F86B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8fbf5e13c427d"/>
          <a:srcRect xmlns:a="http://schemas.openxmlformats.org/drawingml/2006/main" l="27933" t="0" r="279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9B8EED91-1394-4805-85CA-F4BE8F86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66294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요구사항에서 운영까지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연결되는 시스템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663C743-CA60-4AA4-864B-A88B73F6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57700"/>
            <a:ext cx="6334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제안사 · 담당자 · 연락처 작성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0D58559-3334-472C-8530-CE88C9FE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IT·시스템 제안서</a:t>
            </a:r>
          </a:p>
        </p:txBody>
      </p:sp>
      <p:sp>
        <p:nvSpPr>
          <p:cNvPr id="5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F99AE55-D650-4014-BA21-5B54F03C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27197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2026-10-14T01:30:43.2940000Z</dcterms:created>
  <dcterms:modified xsi:type="dcterms:W3CDTF">2026-10-14T01:30:43.2940000Z</dcterms:modified>
</coreProperties>
</file>