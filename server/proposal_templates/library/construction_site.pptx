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994c487e594308" /><Relationship Type="http://schemas.openxmlformats.org/officeDocument/2006/relationships/extended-properties" Target="/docProps/app.xml" Id="R1167d7707e45423b" /><Relationship Type="http://schemas.openxmlformats.org/officeDocument/2006/relationships/officeDocument" Target="/ppt/presentation.xml" Id="Rc7a13305405d48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763a724bec4556"/>
  </p:sldMasterIdLst>
  <p:notesMasterIdLst>
    <p:notesMasterId xmlns:r="http://schemas.openxmlformats.org/officeDocument/2006/relationships" r:id="R6900c609c9174a47"/>
  </p:notesMasterIdLst>
  <p:sldIdLst>
    <p:sldId xmlns:r="http://schemas.openxmlformats.org/officeDocument/2006/relationships" id="256" r:id="R1014e338aa5e42a2"/>
    <p:sldId xmlns:r="http://schemas.openxmlformats.org/officeDocument/2006/relationships" id="257" r:id="R372750216abb4d36"/>
    <p:sldId xmlns:r="http://schemas.openxmlformats.org/officeDocument/2006/relationships" id="258" r:id="Ra596e5cb7cfd47f9"/>
    <p:sldId xmlns:r="http://schemas.openxmlformats.org/officeDocument/2006/relationships" id="259" r:id="Rb80703ab77084a4d"/>
    <p:sldId xmlns:r="http://schemas.openxmlformats.org/officeDocument/2006/relationships" id="260" r:id="R476b3551970b4566"/>
    <p:sldId xmlns:r="http://schemas.openxmlformats.org/officeDocument/2006/relationships" id="261" r:id="R764b73c5f9af4d43"/>
    <p:sldId xmlns:r="http://schemas.openxmlformats.org/officeDocument/2006/relationships" id="262" r:id="Re4195bd5d93e4f51"/>
    <p:sldId xmlns:r="http://schemas.openxmlformats.org/officeDocument/2006/relationships" id="263" r:id="R0ba2e17044bd4a2d"/>
    <p:sldId xmlns:r="http://schemas.openxmlformats.org/officeDocument/2006/relationships" id="264" r:id="R74bffcaa6f564381"/>
    <p:sldId xmlns:r="http://schemas.openxmlformats.org/officeDocument/2006/relationships" id="265" r:id="Rbaa8f6addd2a47b9"/>
    <p:sldId xmlns:r="http://schemas.openxmlformats.org/officeDocument/2006/relationships" id="266" r:id="R9454ae5c819e4fc0"/>
    <p:sldId xmlns:r="http://schemas.openxmlformats.org/officeDocument/2006/relationships" id="267" r:id="R341d8b00e85941a6"/>
    <p:sldId xmlns:r="http://schemas.openxmlformats.org/officeDocument/2006/relationships" id="268" r:id="Rd48f76c03f1b468a"/>
    <p:sldId xmlns:r="http://schemas.openxmlformats.org/officeDocument/2006/relationships" id="269" r:id="Rcc8b4b424d4f438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d8f57b8c5f4c84" /><Relationship Type="http://schemas.openxmlformats.org/officeDocument/2006/relationships/slideMaster" Target="/ppt/slideMasters/slideMaster1.xml" Id="Ra3763a724bec4556" /><Relationship Type="http://schemas.openxmlformats.org/officeDocument/2006/relationships/notesMaster" Target="/ppt/notesMasters/notesMaster1.xml" Id="R6900c609c9174a47" /><Relationship Type="http://schemas.openxmlformats.org/officeDocument/2006/relationships/presProps" Target="/ppt/presProps.xml" Id="R78d68152620245fe" /><Relationship Type="http://schemas.openxmlformats.org/officeDocument/2006/relationships/tableStyles" Target="/ppt/tableStyles.xml" Id="R4a58da108ab64a24" /><Relationship Type="http://schemas.openxmlformats.org/officeDocument/2006/relationships/slide" Target="/ppt/slides/slide1.xml" Id="R1014e338aa5e42a2" /><Relationship Type="http://schemas.openxmlformats.org/officeDocument/2006/relationships/slide" Target="/ppt/slides/slide2.xml" Id="R372750216abb4d36" /><Relationship Type="http://schemas.openxmlformats.org/officeDocument/2006/relationships/slide" Target="/ppt/slides/slide3.xml" Id="Ra596e5cb7cfd47f9" /><Relationship Type="http://schemas.openxmlformats.org/officeDocument/2006/relationships/slide" Target="/ppt/slides/slide4.xml" Id="Rb80703ab77084a4d" /><Relationship Type="http://schemas.openxmlformats.org/officeDocument/2006/relationships/slide" Target="/ppt/slides/slide5.xml" Id="R476b3551970b4566" /><Relationship Type="http://schemas.openxmlformats.org/officeDocument/2006/relationships/slide" Target="/ppt/slides/slide6.xml" Id="R764b73c5f9af4d43" /><Relationship Type="http://schemas.openxmlformats.org/officeDocument/2006/relationships/slide" Target="/ppt/slides/slide7.xml" Id="Re4195bd5d93e4f51" /><Relationship Type="http://schemas.openxmlformats.org/officeDocument/2006/relationships/slide" Target="/ppt/slides/slide8.xml" Id="R0ba2e17044bd4a2d" /><Relationship Type="http://schemas.openxmlformats.org/officeDocument/2006/relationships/slide" Target="/ppt/slides/slide9.xml" Id="R74bffcaa6f564381" /><Relationship Type="http://schemas.openxmlformats.org/officeDocument/2006/relationships/slide" Target="/ppt/slides/slide10.xml" Id="Rbaa8f6addd2a47b9" /><Relationship Type="http://schemas.openxmlformats.org/officeDocument/2006/relationships/slide" Target="/ppt/slides/slide11.xml" Id="R9454ae5c819e4fc0" /><Relationship Type="http://schemas.openxmlformats.org/officeDocument/2006/relationships/slide" Target="/ppt/slides/slide12.xml" Id="R341d8b00e85941a6" /><Relationship Type="http://schemas.openxmlformats.org/officeDocument/2006/relationships/slide" Target="/ppt/slides/slide13.xml" Id="Rd48f76c03f1b468a" /><Relationship Type="http://schemas.openxmlformats.org/officeDocument/2006/relationships/slide" Target="/ppt/slides/slide14.xml" Id="Rcc8b4b424d4f43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f38502afe742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7982985f4043ec" /><Relationship Type="http://schemas.openxmlformats.org/officeDocument/2006/relationships/notesMaster" Target="/ppt/notesMasters/notesMaster1.xml" Id="Rb847867364b646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aad86b83fa4ac9" /><Relationship Type="http://schemas.openxmlformats.org/officeDocument/2006/relationships/notesMaster" Target="/ppt/notesMasters/notesMaster1.xml" Id="R874ae27032f84c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8cf6a125a14033" /><Relationship Type="http://schemas.openxmlformats.org/officeDocument/2006/relationships/notesMaster" Target="/ppt/notesMasters/notesMaster1.xml" Id="Rcca065ec416941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5a6d0df65f141e7" /><Relationship Type="http://schemas.openxmlformats.org/officeDocument/2006/relationships/notesMaster" Target="/ppt/notesMasters/notesMaster1.xml" Id="Rf6500d13fcde4a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6e75c631c254d8c" /><Relationship Type="http://schemas.openxmlformats.org/officeDocument/2006/relationships/notesMaster" Target="/ppt/notesMasters/notesMaster1.xml" Id="R4ff9863144c4427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89f1bc5f8d43bc" /><Relationship Type="http://schemas.openxmlformats.org/officeDocument/2006/relationships/notesMaster" Target="/ppt/notesMasters/notesMaster1.xml" Id="Rf0536ae0ed05408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dbf8481e0fd4dd4" /><Relationship Type="http://schemas.openxmlformats.org/officeDocument/2006/relationships/notesMaster" Target="/ppt/notesMasters/notesMaster1.xml" Id="Re46d1aa3239e488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b3ed75a3cf241d4" /><Relationship Type="http://schemas.openxmlformats.org/officeDocument/2006/relationships/notesMaster" Target="/ppt/notesMasters/notesMaster1.xml" Id="Raa628633b16e4be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ee6e9013dc142f2" /><Relationship Type="http://schemas.openxmlformats.org/officeDocument/2006/relationships/notesMaster" Target="/ppt/notesMasters/notesMaster1.xml" Id="Red65a8b17fc740c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2a34be0a5e94c20" /><Relationship Type="http://schemas.openxmlformats.org/officeDocument/2006/relationships/notesMaster" Target="/ppt/notesMasters/notesMaster1.xml" Id="Rbd95d7488dca402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c7c7ee1b26943ed" /><Relationship Type="http://schemas.openxmlformats.org/officeDocument/2006/relationships/notesMaster" Target="/ppt/notesMasters/notesMaster1.xml" Id="Rf85ad34d7e6a495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a0152d63c454b56" /><Relationship Type="http://schemas.openxmlformats.org/officeDocument/2006/relationships/notesMaster" Target="/ppt/notesMasters/notesMaster1.xml" Id="R9a21f68ff3a3481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0add546880448b3" /><Relationship Type="http://schemas.openxmlformats.org/officeDocument/2006/relationships/notesMaster" Target="/ppt/notesMasters/notesMaster1.xml" Id="Re40bfdf1e78b4d4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df0dfa0d4c740df" /><Relationship Type="http://schemas.openxmlformats.org/officeDocument/2006/relationships/notesMaster" Target="/ppt/notesMasters/notesMaster1.xml" Id="R6d7bb9b984d64d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분야 설명용 스톡 이미지. 실제 제안사 수행·설치·행사 사진 아님.</a:t>
            </a:r>
          </a:p>
          <a:p xmlns:a="http://schemas.openxmlformats.org/drawingml/2006/main">
            <a:r>
              <a:t>이미지 출처: https://images.unsplash.com/photo-1504307651254-35680f356dfd?w=1800&amp;q=85</a:t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기술제안 입찰지침서: KOTITI 과천 신사옥 기술제안 입찰지침서</a:t>
            </a:r>
          </a:p>
          <a:p xmlns:a="http://schemas.openxmlformats.org/drawingml/2006/main">
            <a:r>
              <a:t>https://www.kotiti-global.com/ko/newninfo/announce.do?articleNo=356633&amp;attachNo=25491&amp;mode=download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기술제안 입찰지침서: KOTITI 과천 신사옥 기술제안 입찰지침서</a:t>
            </a:r>
          </a:p>
          <a:p xmlns:a="http://schemas.openxmlformats.org/drawingml/2006/main">
            <a:r>
              <a:t>https://www.kotiti-global.com/ko/newninfo/announce.do?articleNo=356633&amp;attachNo=25491&amp;mode=download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분야 설명용 스톡 이미지. 실제 수행 사진 아님.</a:t>
            </a:r>
          </a:p>
          <a:p xmlns:a="http://schemas.openxmlformats.org/drawingml/2006/main">
            <a:r>
              <a:t>이미지 출처: https://images.pexels.com/photos/8961065/pexels-photo-8961065.jpeg?auto=compress&amp;cs=tinysrgb&amp;w=1500</a:t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기술제안 입찰지침서: KOTITI 과천 신사옥 기술제안 입찰지침서</a:t>
            </a:r>
          </a:p>
          <a:p xmlns:a="http://schemas.openxmlformats.org/drawingml/2006/main">
            <a:r>
              <a:t>https://www.kotiti-global.com/ko/newninfo/announce.do?articleNo=356633&amp;attachNo=25491&amp;mode=download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기술제안 입찰지침서: KOTITI 과천 신사옥 기술제안 입찰지침서</a:t>
            </a:r>
          </a:p>
          <a:p xmlns:a="http://schemas.openxmlformats.org/drawingml/2006/main">
            <a:r>
              <a:t>https://www.kotiti-global.com/ko/newninfo/announce.do?articleNo=356633&amp;attachNo=25491&amp;mode=download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기술제안 입찰지침서: KOTITI 과천 신사옥 기술제안 입찰지침서</a:t>
            </a:r>
          </a:p>
          <a:p xmlns:a="http://schemas.openxmlformats.org/drawingml/2006/main">
            <a:r>
              <a:t>https://www.kotiti-global.com/ko/newninfo/announce.do?articleNo=356633&amp;attachNo=25491&amp;mode=download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기술제안 입찰지침서: KOTITI 과천 신사옥 기술제안 입찰지침서</a:t>
            </a:r>
          </a:p>
          <a:p xmlns:a="http://schemas.openxmlformats.org/drawingml/2006/main">
            <a:r>
              <a:t>https://www.kotiti-global.com/ko/newninfo/announce.do?articleNo=356633&amp;attachNo=25491&amp;mode=download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기술제안 입찰지침서: KOTITI 과천 신사옥 기술제안 입찰지침서</a:t>
            </a:r>
          </a:p>
          <a:p xmlns:a="http://schemas.openxmlformats.org/drawingml/2006/main">
            <a:r>
              <a:t>https://www.kotiti-global.com/ko/newninfo/announce.do?articleNo=356633&amp;attachNo=25491&amp;mode=download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기술제안 입찰지침서: KOTITI 과천 신사옥 기술제안 입찰지침서</a:t>
            </a:r>
          </a:p>
          <a:p xmlns:a="http://schemas.openxmlformats.org/drawingml/2006/main">
            <a:r>
              <a:t>https://www.kotiti-global.com/ko/newninfo/announce.do?articleNo=356633&amp;attachNo=25491&amp;mode=download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기술제안 입찰지침서: KOTITI 과천 신사옥 기술제안 입찰지침서</a:t>
            </a:r>
          </a:p>
          <a:p xmlns:a="http://schemas.openxmlformats.org/drawingml/2006/main">
            <a:r>
              <a:t>https://www.kotiti-global.com/ko/newninfo/announce.do?articleNo=356633&amp;attachNo=25491&amp;mode=download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기술제안 입찰지침서: KOTITI 과천 신사옥 기술제안 입찰지침서</a:t>
            </a:r>
          </a:p>
          <a:p xmlns:a="http://schemas.openxmlformats.org/drawingml/2006/main">
            <a:r>
              <a:t>https://www.kotiti-global.com/ko/newninfo/announce.do?articleNo=356633&amp;attachNo=25491&amp;mode=download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기술제안 입찰지침서: KOTITI 과천 신사옥 기술제안 입찰지침서</a:t>
            </a:r>
          </a:p>
          <a:p xmlns:a="http://schemas.openxmlformats.org/drawingml/2006/main">
            <a:r>
              <a:t>https://www.kotiti-global.com/ko/newninfo/announce.do?articleNo=356633&amp;attachNo=25491&amp;mode=download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기술제안 입찰지침서: KOTITI 과천 신사옥 기술제안 입찰지침서</a:t>
            </a:r>
          </a:p>
          <a:p xmlns:a="http://schemas.openxmlformats.org/drawingml/2006/main">
            <a:r>
              <a:t>https://www.kotiti-global.com/ko/newninfo/announce.do?articleNo=356633&amp;attachNo=25491&amp;mode=download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기술제안 입찰지침서: KOTITI 과천 신사옥 기술제안 입찰지침서</a:t>
            </a:r>
          </a:p>
          <a:p xmlns:a="http://schemas.openxmlformats.org/drawingml/2006/main">
            <a:r>
              <a:t>https://www.kotiti-global.com/ko/newninfo/announce.do?articleNo=356633&amp;attachNo=25491&amp;mode=download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기술제안 입찰지침서: KOTITI 과천 신사옥 기술제안 입찰지침서</a:t>
            </a:r>
          </a:p>
          <a:p xmlns:a="http://schemas.openxmlformats.org/drawingml/2006/main">
            <a:r>
              <a:t>https://www.kotiti-global.com/ko/newninfo/announce.do?articleNo=356633&amp;attachNo=25491&amp;mode=download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245d4316c5471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3264be09024de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c575eee4534be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be588c88034d9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cff91c5b85463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e807d4baaf47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D6D2D24-E2D5-4056-B24D-49F7AC1864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AE4A8CC-2734-4B04-9723-EDAAEBCE442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BBEC81D-6A9F-443D-9188-9A7027A416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DC21A12-000E-4E4D-B4E2-AE0137A323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4D55662-A029-456A-90FC-49CB744138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567EE69-13AE-4D86-90B5-8ADCB23FB8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EA38626-404C-4776-A43A-541F7C2474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1CEB167-D6C6-438A-98A5-2965F77AED4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E1AADCD-092F-44C6-B15F-958514CF16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46FC87E-1C78-402B-9528-6AE0432622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0df6d7ff084ea3" /><Relationship Type="http://schemas.openxmlformats.org/officeDocument/2006/relationships/slideLayout" Target="/ppt/slideLayouts/slideLayout1.xml" Id="Rc381c34267a84234" /><Relationship Type="http://schemas.openxmlformats.org/officeDocument/2006/relationships/slideLayout" Target="/ppt/slideLayouts/slideLayout2.xml" Id="R685f1acf3e874648" /><Relationship Type="http://schemas.openxmlformats.org/officeDocument/2006/relationships/slideLayout" Target="/ppt/slideLayouts/slideLayout3.xml" Id="R00afe4727f65461d" /><Relationship Type="http://schemas.openxmlformats.org/officeDocument/2006/relationships/slideLayout" Target="/ppt/slideLayouts/slideLayout4.xml" Id="Rf4352144e7584c4c" /><Relationship Type="http://schemas.openxmlformats.org/officeDocument/2006/relationships/slideLayout" Target="/ppt/slideLayouts/slideLayout5.xml" Id="R25a686d687e44d1d" /><Relationship Type="http://schemas.openxmlformats.org/officeDocument/2006/relationships/slideLayout" Target="/ppt/slideLayouts/slideLayout6.xml" Id="Rc9627f166e0b4b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81c34267a84234"/>
    <p:sldLayoutId xmlns:r="http://schemas.openxmlformats.org/officeDocument/2006/relationships" id="2147483650" r:id="R685f1acf3e874648"/>
    <p:sldLayoutId xmlns:r="http://schemas.openxmlformats.org/officeDocument/2006/relationships" id="2147483651" r:id="R00afe4727f65461d"/>
    <p:sldLayoutId xmlns:r="http://schemas.openxmlformats.org/officeDocument/2006/relationships" id="2147483652" r:id="Rf4352144e7584c4c"/>
    <p:sldLayoutId xmlns:r="http://schemas.openxmlformats.org/officeDocument/2006/relationships" id="2147483653" r:id="R25a686d687e44d1d"/>
    <p:sldLayoutId xmlns:r="http://schemas.openxmlformats.org/officeDocument/2006/relationships" id="2147483654" r:id="Rc9627f166e0b4b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dc81a7e5b9415e" /><Relationship Type="http://schemas.openxmlformats.org/officeDocument/2006/relationships/image" Target="/ppt/media/image.jpeg" Id="Rf0c3d7faad7c4f88" /><Relationship Type="http://schemas.openxmlformats.org/officeDocument/2006/relationships/notesSlide" Target="/ppt/notesSlides/notesSlide1.xml" Id="Raa79b955a95f43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1125f1dbd84621" /><Relationship Type="http://schemas.openxmlformats.org/officeDocument/2006/relationships/notesSlide" Target="/ppt/notesSlides/notesSlide2.xml" Id="R7cd32c160d1745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cee9e9f68f446f" /><Relationship Type="http://schemas.openxmlformats.org/officeDocument/2006/relationships/image" Target="/ppt/media/image2.jpeg" Id="R2ff732ddd6ec4b86" /><Relationship Type="http://schemas.openxmlformats.org/officeDocument/2006/relationships/notesSlide" Target="/ppt/notesSlides/notesSlide3.xml" Id="R597544c9a79c4a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199725221848ff" /><Relationship Type="http://schemas.openxmlformats.org/officeDocument/2006/relationships/notesSlide" Target="/ppt/notesSlides/notesSlide4.xml" Id="R3a8c59f91ea24df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bc5786923a4e30" /><Relationship Type="http://schemas.openxmlformats.org/officeDocument/2006/relationships/notesSlide" Target="/ppt/notesSlides/notesSlide5.xml" Id="R1fef411530a443e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a63028a6a1440a" /><Relationship Type="http://schemas.openxmlformats.org/officeDocument/2006/relationships/notesSlide" Target="/ppt/notesSlides/notesSlide6.xml" Id="Rd75b25d105ea49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7d70d2708e4484" /><Relationship Type="http://schemas.openxmlformats.org/officeDocument/2006/relationships/notesSlide" Target="/ppt/notesSlides/notesSlide7.xml" Id="R73af736625384b6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89f4082d004a4d" /><Relationship Type="http://schemas.openxmlformats.org/officeDocument/2006/relationships/notesSlide" Target="/ppt/notesSlides/notesSlide8.xml" Id="R5fe0b26bfcb94a2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0a1232cf0f4182" /><Relationship Type="http://schemas.openxmlformats.org/officeDocument/2006/relationships/notesSlide" Target="/ppt/notesSlides/notesSlide9.xml" Id="Re2e631dc8369435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9c28d4a46241cc" /><Relationship Type="http://schemas.openxmlformats.org/officeDocument/2006/relationships/notesSlide" Target="/ppt/notesSlides/notesSlide10.xml" Id="R0c98f77b63e54de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dcfb316b6943d8" /><Relationship Type="http://schemas.openxmlformats.org/officeDocument/2006/relationships/notesSlide" Target="/ppt/notesSlides/notesSlide11.xml" Id="R6388f959542f4d3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1ee6f817fe4e38" /><Relationship Type="http://schemas.openxmlformats.org/officeDocument/2006/relationships/notesSlide" Target="/ppt/notesSlides/notesSlide12.xml" Id="R74e76b277acb400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dc229112d84aa9" /><Relationship Type="http://schemas.openxmlformats.org/officeDocument/2006/relationships/notesSlide" Target="/ppt/notesSlides/notesSlide13.xml" Id="R49473251a2364ef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2f9f6ffaa44bc1" /><Relationship Type="http://schemas.openxmlformats.org/officeDocument/2006/relationships/notesSlide" Target="/ppt/notesSlides/notesSlide14.xml" Id="R269dc22ff2e64a2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6EFA82-05A7-4FB6-B536-69CBAB0530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c3d7faad7c4f88"/>
          <a:srcRect xmlns:a="http://schemas.openxmlformats.org/drawingml/2006/main" l="19924" t="0" r="199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2650" y="0"/>
            <a:ext cx="62293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F0329386-AE80-4C7C-BBE0-E57A4163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rPr>
              <a:t>공사·시설 제안서</a:t>
            </a:r>
          </a:p>
        </p:txBody>
      </p:sp>
      <p:sp>
        <p:nvSpPr>
          <p:cNvPr id="3" name="bid3-title">
            <a:extLst xmlns:a="http://schemas.openxmlformats.org/drawingml/2006/main">
              <a:ext uri="{FF2B5EF4-FFF2-40B4-BE49-F238E27FC236}">
                <a16:creationId xmlns:a16="http://schemas.microsoft.com/office/drawing/2014/main" id="{F88F2034-34CB-4FEA-AA02-1E1F4B07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6425"/>
            <a:ext cx="4667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rPr>
              <a:t>공사·시설</a:t>
            </a:r>
          </a:p>
          <a:p xmlns:a="http://schemas.openxmlformats.org/drawingml/2006/main">
            <a:pPr algn="l">
              <a:defRPr sz="4200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rPr>
              <a:t>사업 제안서</a:t>
            </a:r>
          </a:p>
        </p:txBody>
      </p:sp>
      <p:sp>
        <p:nvSpPr>
          <p:cNvPr id="4" name="domain-copy">
            <a:extLst xmlns:a="http://schemas.openxmlformats.org/drawingml/2006/main">
              <a:ext uri="{FF2B5EF4-FFF2-40B4-BE49-F238E27FC236}">
                <a16:creationId xmlns:a16="http://schemas.microsoft.com/office/drawing/2014/main" id="{5C966DCA-5979-4323-8114-DB4CB5F5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4667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rPr>
              <a:t>사업명 · 발주기관 · 제안사 작성</a:t>
            </a:r>
          </a:p>
        </p:txBody>
      </p:sp>
      <p:sp>
        <p:nvSpPr>
          <p:cNvPr id="5" name="bid3-fixed-design-name">
            <a:extLst xmlns:a="http://schemas.openxmlformats.org/drawingml/2006/main">
              <a:ext uri="{FF2B5EF4-FFF2-40B4-BE49-F238E27FC236}">
                <a16:creationId xmlns:a16="http://schemas.microsoft.com/office/drawing/2014/main" id="{3EE712C3-772F-43A2-895B-92E2E648D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4667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rPr>
              <a:t>사이트 플랜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D9A7970E-ED05-496B-BB69-BF5F85DC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3722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50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561015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647956D5-8CEC-4C26-89F6-6B3752C9A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rPr>
              <a:t>공사·시설 / 제안 구성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E3DF6E38-78C6-411F-8C32-C52428F6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rPr>
              <a:t>현장 실행 계획의 구성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7844CB8F-04E7-4F3F-923F-9AB3CC05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rPr>
              <a:t>작업 범위에서 준공 인계까지 승인과 점검 기준을 연결합니다.</a:t>
            </a:r>
          </a:p>
        </p:txBody>
      </p:sp>
      <p:sp>
        <p:nvSpPr>
          <p:cNvPr id="4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1A66D18A-0248-4A62-B93B-333F4F57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rPr>
              <a:t>공사·시설 제안서</a:t>
            </a:r>
          </a:p>
        </p:txBody>
      </p:sp>
      <p:sp>
        <p:nvSpPr>
          <p:cNvPr id="5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E927D9E1-A4AB-4A9B-904F-1DDB6453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8F09E7F2-A48F-4D70-94AD-00602241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B4567DA9-6693-4DF5-89B6-97DC4C83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4C522698-9150-43D2-B328-DA3BAD65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638425"/>
            <a:ext cx="358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rPr>
              <a:t>현장과 공종</a:t>
            </a:r>
          </a:p>
        </p:txBody>
      </p:sp>
      <p:sp>
        <p:nvSpPr>
          <p:cNvPr id="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DBC5E0C5-9D02-43A8-A8BE-FD9C7F59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667000"/>
            <a:ext cx="60293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0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0FF179C7-FABA-4DBB-AFFE-31139826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57550"/>
            <a:ext cx="9829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5DB"/>
          </a:solidFill>
          <a:ln xmlns:a="http://schemas.openxmlformats.org/drawingml/2006/main" w="0">
            <a:noFill/>
          </a:ln>
        </p:spPr>
      </p:sp>
      <p:sp>
        <p:nvSpPr>
          <p:cNvPr id="1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DA647282-B5C9-4EA9-AD6F-F7C198D7A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D5CC6820-CDD2-42BB-9A4F-F7D77E0D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29000"/>
            <a:ext cx="358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rPr>
              <a:t>시공과 공정</a:t>
            </a:r>
          </a:p>
        </p:txBody>
      </p:sp>
      <p:sp>
        <p:nvSpPr>
          <p:cNvPr id="1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8ADE94B2-DAFA-4ED9-8D56-68D93E7D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457575"/>
            <a:ext cx="60293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81C9A0FA-E8FD-440A-9E67-2363040E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48125"/>
            <a:ext cx="9829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5DB"/>
          </a:solidFill>
          <a:ln xmlns:a="http://schemas.openxmlformats.org/drawingml/2006/main" w="0">
            <a:noFill/>
          </a:ln>
        </p:spPr>
      </p:sp>
      <p:sp>
        <p:nvSpPr>
          <p:cNvPr id="1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F194822B-F03F-466E-ACEF-9DD2AF622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6" name="domain-copy">
            <a:extLst xmlns:a="http://schemas.openxmlformats.org/drawingml/2006/main">
              <a:ext uri="{FF2B5EF4-FFF2-40B4-BE49-F238E27FC236}">
                <a16:creationId xmlns:a16="http://schemas.microsoft.com/office/drawing/2014/main" id="{3D5CE2CA-CC29-45ED-9E56-5BC44CC31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219575"/>
            <a:ext cx="358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rPr>
              <a:t>품질과 안전</a:t>
            </a:r>
          </a:p>
        </p:txBody>
      </p:sp>
      <p:sp>
        <p:nvSpPr>
          <p:cNvPr id="1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526D14A4-1255-44A4-9F32-58BBB8D1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4248150"/>
            <a:ext cx="60293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8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853B9D5C-4A85-44F5-A46A-7795FACED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38700"/>
            <a:ext cx="9829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5DB"/>
          </a:solidFill>
          <a:ln xmlns:a="http://schemas.openxmlformats.org/drawingml/2006/main" w="0">
            <a:noFill/>
          </a:ln>
        </p:spPr>
      </p:sp>
      <p:sp>
        <p:nvSpPr>
          <p:cNvPr id="1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86B05471-D3B3-4526-A95C-CB0F1440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CB21C27B-4181-4366-B36E-3A137DE2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10150"/>
            <a:ext cx="358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rPr>
              <a:t>변경과 인계</a:t>
            </a:r>
          </a:p>
        </p:txBody>
      </p:sp>
      <p:sp>
        <p:nvSpPr>
          <p:cNvPr id="2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36590D22-93FB-4C37-8033-B423E514B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5038725"/>
            <a:ext cx="60293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</p:spTree>
    <p:extLst>
      <p:ext uri="{BB962C8B-B14F-4D97-AF65-F5344CB8AC3E}">
        <p14:creationId xmlns:p14="http://schemas.microsoft.com/office/powerpoint/2010/main" val="4015263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1892EA0E-1809-4F45-9A93-051F769A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rPr>
              <a:t>공사·시설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67343B4E-21A0-4271-A7D1-870C2F36A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rPr>
              <a:t>현장 제약과 시공 조건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23A53040-3B9F-4462-819B-60516EBBF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rPr>
              <a:t>사용 중인 업무시설을 가정한 리모델링 수행안입니다.</a:t>
            </a:r>
          </a:p>
        </p:txBody>
      </p:sp>
      <p:sp>
        <p:nvSpPr>
          <p:cNvPr id="4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706BFC75-2099-443A-8845-E3457856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rPr>
              <a:t>공사·시설 제안서</a:t>
            </a:r>
          </a:p>
        </p:txBody>
      </p:sp>
      <p:sp>
        <p:nvSpPr>
          <p:cNvPr id="5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AA9828C3-7385-47FF-802D-532CD2035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FFFB3A7F-7BA9-4582-8E1A-CFE29EB4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A886F5-6017-46E3-9529-81AEE25473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f732ddd6ec4b86"/>
          <a:srcRect xmlns:a="http://schemas.openxmlformats.org/drawingml/2006/main" l="0" t="4318" r="0" b="43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43650" y="2667000"/>
            <a:ext cx="5238750" cy="3190875"/>
          </a:xfrm>
          <a:prstGeom xmlns:a="http://schemas.openxmlformats.org/drawingml/2006/main" prst="rect">
            <a:avLst/>
          </a:prstGeom>
        </p:spPr>
      </p:pic>
      <p:sp>
        <p:nvSpPr>
          <p:cNvPr id="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CEE45DE6-F146-4CE1-ADD5-C2B4D84B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76525"/>
            <a:ext cx="5162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rPr>
              <a:t>시설 이용 유지</a:t>
            </a:r>
          </a:p>
        </p:txBody>
      </p:sp>
      <p:sp>
        <p:nvSpPr>
          <p:cNvPr id="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0FFE887-8BF4-43DA-BCE2-19B7EF1C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51625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5483E0D2-3995-4114-86F5-081603C2C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5162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rPr>
              <a:t>작업 간섭 관리</a:t>
            </a:r>
          </a:p>
        </p:txBody>
      </p:sp>
      <p:sp>
        <p:nvSpPr>
          <p:cNvPr id="1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1199E9D8-5846-4476-B385-0A5CE318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51625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B5E806D-52F6-40BF-BF0B-944FA5D2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5162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rPr>
              <a:t>현장 확인 우선</a:t>
            </a:r>
          </a:p>
        </p:txBody>
      </p:sp>
      <p:sp>
        <p:nvSpPr>
          <p:cNvPr id="1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78943263-2FCA-4AF7-A69B-7252AD8A0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51625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4" name="bid3-fixed-image-caption">
            <a:extLst xmlns:a="http://schemas.openxmlformats.org/drawingml/2006/main">
              <a:ext uri="{FF2B5EF4-FFF2-40B4-BE49-F238E27FC236}">
                <a16:creationId xmlns:a16="http://schemas.microsoft.com/office/drawing/2014/main" id="{315732BD-C969-4D80-B6FB-14304A595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9626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rPr>
              <a:t>분야 설명용 사진 · 실제 제안사 수행 사진 아님</a:t>
            </a:r>
          </a:p>
        </p:txBody>
      </p:sp>
    </p:spTree>
    <p:extLst>
      <p:ext uri="{BB962C8B-B14F-4D97-AF65-F5344CB8AC3E}">
        <p14:creationId xmlns:p14="http://schemas.microsoft.com/office/powerpoint/2010/main" val="20971126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9BD0CBF5-8F72-4AC2-B206-36641A0A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rPr>
              <a:t>공사·시설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296EFC2F-3CF4-46C5-B0B9-8B118A80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rPr>
              <a:t>공종별 작업 분해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469D851D-7CAF-4B55-ADF4-881CADB5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rPr>
              <a:t>공종마다 담당 역할과 검사 기록을 연결해 누락을 줄입니다.</a:t>
            </a:r>
          </a:p>
        </p:txBody>
      </p:sp>
      <p:sp>
        <p:nvSpPr>
          <p:cNvPr id="4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C81F4B95-2FE8-43D8-AD98-03B638A1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rPr>
              <a:t>공사·시설 제안서</a:t>
            </a:r>
          </a:p>
        </p:txBody>
      </p:sp>
      <p:sp>
        <p:nvSpPr>
          <p:cNvPr id="5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8847652B-1698-4E05-9025-9F1A60E5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7CA6A696-C0DA-4592-A348-116A474C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7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E741C9F0-7D5E-4EC9-BD3D-8208572B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552700"/>
            <a:ext cx="46291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5DB"/>
          </a:solidFill>
          <a:ln xmlns:a="http://schemas.openxmlformats.org/drawingml/2006/main" w="9525">
            <a:solidFill>
              <a:srgbClr val="A16529"/>
            </a:solidFill>
          </a:ln>
        </p:spPr>
      </p:sp>
      <p:sp>
        <p:nvSpPr>
          <p:cNvPr id="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E349839-7022-4FCC-942E-79523667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72415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rPr>
              <a:t>리모델링 공사</a:t>
            </a:r>
          </a:p>
        </p:txBody>
      </p:sp>
      <p:sp>
        <p:nvSpPr>
          <p:cNvPr id="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70D70CCD-BE63-4BEF-9883-42A784A9E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238500"/>
            <a:ext cx="4286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rPr>
              <a:t>공종별 승인·점검 기록 관리</a:t>
            </a:r>
          </a:p>
        </p:txBody>
      </p:sp>
      <p:cxnSp>
        <p:nvCxnSpPr>
          <p:cNvPr id="10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C91BBE83-2DDA-4AA1-BA96-A56AD64F9E5E}"/>
              </a:ext>
            </a:extLst>
          </p:cNvPr>
          <p:cNvCxnSpPr/>
          <p:nvPr/>
        </p:nvCxnSpPr>
        <p:spPr>
          <a:xfrm xmlns:a="http://schemas.openxmlformats.org/drawingml/2006/main">
            <a:off x="6096000" y="3876675"/>
            <a:ext cx="0" cy="40005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A16529"/>
            </a:solidFill>
          </a:ln>
        </p:spPr>
      </p:cxnSp>
      <p:cxnSp>
        <p:nvCxnSpPr>
          <p:cNvPr id="11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41070DFC-AA80-48F2-9CDB-B8C1FABE3E29}"/>
              </a:ext>
            </a:extLst>
          </p:cNvPr>
          <p:cNvCxnSpPr/>
          <p:nvPr/>
        </p:nvCxnSpPr>
        <p:spPr>
          <a:xfrm xmlns:a="http://schemas.openxmlformats.org/drawingml/2006/main">
            <a:off x="2238375" y="4276725"/>
            <a:ext cx="7715250" cy="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A16529"/>
            </a:solidFill>
          </a:ln>
        </p:spPr>
      </p:cxnSp>
      <p:cxnSp>
        <p:nvCxnSpPr>
          <p:cNvPr id="12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703E2353-70EB-4FEA-B511-14BF0B1CFBE8}"/>
              </a:ext>
            </a:extLst>
          </p:cNvPr>
          <p:cNvCxnSpPr/>
          <p:nvPr/>
        </p:nvCxnSpPr>
        <p:spPr>
          <a:xfrm xmlns:a="http://schemas.openxmlformats.org/drawingml/2006/main">
            <a:off x="2228850" y="4276725"/>
            <a:ext cx="0" cy="2286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A16529"/>
            </a:solidFill>
          </a:ln>
        </p:spPr>
      </p:cxnSp>
      <p:sp>
        <p:nvSpPr>
          <p:cNvPr id="13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C9D992AE-917F-4C62-BB07-609CA86ED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32385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5DB"/>
          </a:solidFill>
          <a:ln xmlns:a="http://schemas.openxmlformats.org/drawingml/2006/main" w="9525">
            <a:solidFill>
              <a:srgbClr val="A16529"/>
            </a:solidFill>
          </a:ln>
        </p:spPr>
      </p:sp>
      <p:sp>
        <p:nvSpPr>
          <p:cNvPr id="14" name="domain-copy">
            <a:extLst xmlns:a="http://schemas.openxmlformats.org/drawingml/2006/main">
              <a:ext uri="{FF2B5EF4-FFF2-40B4-BE49-F238E27FC236}">
                <a16:creationId xmlns:a16="http://schemas.microsoft.com/office/drawing/2014/main" id="{F91BED0A-618A-445C-A17E-45DCBADA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76775"/>
            <a:ext cx="289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rPr>
              <a:t>철거·보양</a:t>
            </a:r>
          </a:p>
        </p:txBody>
      </p:sp>
      <p:sp>
        <p:nvSpPr>
          <p:cNvPr id="1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24FFB5AF-C9E7-46BC-9C4B-61A2DD66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91125"/>
            <a:ext cx="2895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rPr>
              <a:t>기존 시설 조사 · 분리·보양·폐기물 처리</a:t>
            </a:r>
          </a:p>
        </p:txBody>
      </p:sp>
      <p:cxnSp>
        <p:nvCxnSpPr>
          <p:cNvPr id="16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F7DAF98D-7074-430A-B270-46C97629C545}"/>
              </a:ext>
            </a:extLst>
          </p:cNvPr>
          <p:cNvCxnSpPr/>
          <p:nvPr/>
        </p:nvCxnSpPr>
        <p:spPr>
          <a:xfrm xmlns:a="http://schemas.openxmlformats.org/drawingml/2006/main">
            <a:off x="6096000" y="4276725"/>
            <a:ext cx="0" cy="2286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A16529"/>
            </a:solidFill>
          </a:ln>
        </p:spPr>
      </p:cxnSp>
      <p:sp>
        <p:nvSpPr>
          <p:cNvPr id="17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5B18B52F-6FA0-42E8-85F9-42C73524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05325"/>
            <a:ext cx="32385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5DB"/>
          </a:solidFill>
          <a:ln xmlns:a="http://schemas.openxmlformats.org/drawingml/2006/main" w="9525">
            <a:solidFill>
              <a:srgbClr val="A16529"/>
            </a:solidFill>
          </a:ln>
        </p:spPr>
      </p:sp>
      <p:sp>
        <p:nvSpPr>
          <p:cNvPr id="1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3DC367C3-DFE1-4420-9832-3916279D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676775"/>
            <a:ext cx="289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rPr>
              <a:t>건축·마감</a:t>
            </a:r>
          </a:p>
        </p:txBody>
      </p:sp>
      <p:sp>
        <p:nvSpPr>
          <p:cNvPr id="1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47D896FE-1B61-4D2E-BA57-72C55649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191125"/>
            <a:ext cx="2895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rPr>
              <a:t>바탕·마감 시공 · 자재와 완성면 검사</a:t>
            </a:r>
          </a:p>
        </p:txBody>
      </p:sp>
      <p:cxnSp>
        <p:nvCxnSpPr>
          <p:cNvPr id="20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0B96CDD2-7EBC-4CAC-8EFB-2F99C54E045F}"/>
              </a:ext>
            </a:extLst>
          </p:cNvPr>
          <p:cNvCxnSpPr/>
          <p:nvPr/>
        </p:nvCxnSpPr>
        <p:spPr>
          <a:xfrm xmlns:a="http://schemas.openxmlformats.org/drawingml/2006/main">
            <a:off x="9963150" y="4276725"/>
            <a:ext cx="0" cy="2286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A16529"/>
            </a:solidFill>
          </a:ln>
        </p:spPr>
      </p:cxnSp>
      <p:sp>
        <p:nvSpPr>
          <p:cNvPr id="21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089CBAD9-88A9-43EE-9710-67E948563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05325"/>
            <a:ext cx="32385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5DB"/>
          </a:solidFill>
          <a:ln xmlns:a="http://schemas.openxmlformats.org/drawingml/2006/main" w="9525">
            <a:solidFill>
              <a:srgbClr val="A16529"/>
            </a:solidFill>
          </a:ln>
        </p:spPr>
      </p:sp>
      <p:sp>
        <p:nvSpPr>
          <p:cNvPr id="2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BA8EA9EA-75C3-419B-9FB3-CB0BA3A4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676775"/>
            <a:ext cx="289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rPr>
              <a:t>기계·전기</a:t>
            </a:r>
          </a:p>
        </p:txBody>
      </p:sp>
      <p:sp>
        <p:nvSpPr>
          <p:cNvPr id="2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3A8204ED-E257-499D-87D6-41DC82B0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191125"/>
            <a:ext cx="2895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rPr>
              <a:t>설비·배선 작업 · 시험과 연동 확인</a:t>
            </a:r>
          </a:p>
        </p:txBody>
      </p:sp>
    </p:spTree>
    <p:extLst>
      <p:ext uri="{BB962C8B-B14F-4D97-AF65-F5344CB8AC3E}">
        <p14:creationId xmlns:p14="http://schemas.microsoft.com/office/powerpoint/2010/main" val="3209528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B7EB38F2-EC8B-478F-B2FC-1CD686BC4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rPr>
              <a:t>공사·시설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546B7A10-44D4-45B8-A2E6-C093E499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rPr>
              <a:t>작업 구역과 시공 순서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9999ED02-5B1C-44A9-844A-6B23ECFF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rPr>
              <a:t>구역 간 간섭을 줄이는 개념 공정표이며 실제 기간은 현장 확인 후 정합니다.</a:t>
            </a:r>
          </a:p>
        </p:txBody>
      </p:sp>
      <p:sp>
        <p:nvSpPr>
          <p:cNvPr id="4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516B3F59-CC1D-4114-A842-292ED3A33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rPr>
              <a:t>공사·시설 제안서</a:t>
            </a:r>
          </a:p>
        </p:txBody>
      </p:sp>
      <p:sp>
        <p:nvSpPr>
          <p:cNvPr id="5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FC39E658-6C96-41F6-90CC-B4271B29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3F8778FE-6A5B-46EB-837A-143FDAB3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123E9D-DB69-4AAD-9E2A-9E4A46E633A1}"/>
              </a:ext>
            </a:extLst>
          </p:cNvPr>
          <p:cNvGraphicFramePr/>
          <p:nvPr/>
        </p:nvGraphicFramePr>
        <p:xfrm>
          <a:off xmlns:a="http://schemas.openxmlformats.org/drawingml/2006/main" x="609600" y="2657475"/>
          <a:ext xmlns:a="http://schemas.openxmlformats.org/drawingml/2006/main" cx="109728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00300"/>
                <a:gridCol w="1714500"/>
                <a:gridCol w="1714500"/>
                <a:gridCol w="1714500"/>
                <a:gridCol w="1714500"/>
                <a:gridCol w="1714500"/>
              </a:tblGrid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작업</a:t>
                      </a:r>
                    </a:p>
                  </a:txBody>
                  <a:tcPr marL="142875" marR="142875" marT="114300" marB="95250" anchor="ctr">
                    <a:solidFill>
                      <a:srgbClr val="3035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조사·보양</a:t>
                      </a:r>
                    </a:p>
                  </a:txBody>
                  <a:tcPr marL="142875" marR="142875" marT="114300" marB="95250" anchor="ctr">
                    <a:solidFill>
                      <a:srgbClr val="3035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철거</a:t>
                      </a:r>
                    </a:p>
                  </a:txBody>
                  <a:tcPr marL="142875" marR="142875" marT="114300" marB="95250" anchor="ctr">
                    <a:solidFill>
                      <a:srgbClr val="3035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설비</a:t>
                      </a:r>
                    </a:p>
                  </a:txBody>
                  <a:tcPr marL="142875" marR="142875" marT="114300" marB="95250" anchor="ctr">
                    <a:solidFill>
                      <a:srgbClr val="3035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마감</a:t>
                      </a:r>
                    </a:p>
                  </a:txBody>
                  <a:tcPr marL="142875" marR="142875" marT="114300" marB="95250" anchor="ctr">
                    <a:solidFill>
                      <a:srgbClr val="3035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점검</a:t>
                      </a:r>
                    </a:p>
                  </a:txBody>
                  <a:tcPr marL="142875" marR="142875" marT="114300" marB="95250" anchor="ctr">
                    <a:solidFill>
                      <a:srgbClr val="303533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3035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공용 구역</a:t>
                      </a:r>
                    </a:p>
                  </a:txBody>
                  <a:tcPr marL="142875" marR="142875" marT="114300" marB="95250" anchor="ctr">
                    <a:solidFill>
                      <a:srgbClr val="EAE5D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3035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42875" marR="142875" marT="114300" marB="95250" anchor="ctr">
                    <a:solidFill>
                      <a:srgbClr val="EAE5D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3035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42875" marR="142875" marT="114300" marB="95250" anchor="ctr">
                    <a:solidFill>
                      <a:srgbClr val="EAE5D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3035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42875" marR="142875" marT="114300" marB="95250" anchor="ctr">
                    <a:solidFill>
                      <a:srgbClr val="EAE5D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3035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42875" marR="142875" marT="114300" marB="95250" anchor="ctr">
                    <a:solidFill>
                      <a:srgbClr val="EAE5D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3035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42875" marR="142875" marT="114300" marB="95250" anchor="ctr">
                    <a:solidFill>
                      <a:srgbClr val="EAE5DB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3035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구역</a:t>
                      </a:r>
                    </a:p>
                  </a:txBody>
                  <a:tcPr marL="142875" marR="142875" marT="114300" marB="95250" anchor="ctr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3035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42875" marR="142875" marT="114300" marB="95250" anchor="ctr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3035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42875" marR="142875" marT="114300" marB="95250" anchor="ctr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3035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42875" marR="142875" marT="114300" marB="95250" anchor="ctr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3035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42875" marR="142875" marT="114300" marB="95250" anchor="ctr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3035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42875" marR="142875" marT="114300" marB="95250" anchor="ctr">
                    <a:solidFill>
                      <a:srgbClr val="F5F4F0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3035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전체 연동</a:t>
                      </a:r>
                    </a:p>
                  </a:txBody>
                  <a:tcPr marL="142875" marR="142875" marT="114300" marB="95250" anchor="ctr">
                    <a:solidFill>
                      <a:srgbClr val="EAE5D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3035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42875" marR="142875" marT="114300" marB="95250" anchor="ctr">
                    <a:solidFill>
                      <a:srgbClr val="EAE5D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3035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42875" marR="142875" marT="114300" marB="95250" anchor="ctr">
                    <a:solidFill>
                      <a:srgbClr val="EAE5D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3035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42875" marR="142875" marT="114300" marB="95250" anchor="ctr">
                    <a:solidFill>
                      <a:srgbClr val="EAE5D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3035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42875" marR="142875" marT="114300" marB="95250" anchor="ctr">
                    <a:solidFill>
                      <a:srgbClr val="EAE5D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3035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42875" marR="142875" marT="114300" marB="95250" anchor="ctr">
                    <a:solidFill>
                      <a:srgbClr val="EAE5D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82670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2ADACA72-A8A9-4A2C-887B-00D71A24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rPr>
              <a:t>공사·시설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A070A7A0-570B-46F0-AE4B-014B33F4D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rPr>
              <a:t>선행 조건과 공정 관리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7EC499F3-AEF6-41D0-9F8A-B84B8A47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rPr>
              <a:t>착수·중간·완료의 승인 조건을 확인한 뒤 다음 공정을 진행합니다.</a:t>
            </a:r>
          </a:p>
        </p:txBody>
      </p:sp>
      <p:sp>
        <p:nvSpPr>
          <p:cNvPr id="4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DC3428DA-54DE-49BE-8B55-3B9D052D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rPr>
              <a:t>공사·시설 제안서</a:t>
            </a:r>
          </a:p>
        </p:txBody>
      </p:sp>
      <p:sp>
        <p:nvSpPr>
          <p:cNvPr id="5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4F8BB398-3C86-40A6-967F-BC03EA26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EBC9F1F8-B812-4227-BD32-BA9ABD64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FB337A4A-61ED-4618-AB65-69D6597F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rPr>
              <a:t>작업 준비</a:t>
            </a:r>
          </a:p>
        </p:txBody>
      </p:sp>
      <p:sp>
        <p:nvSpPr>
          <p:cNvPr id="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29E51C10-E799-4657-BD3B-6DB7B6A8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14625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A6447B0B-315F-47E3-938A-C83694B0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714625"/>
            <a:ext cx="3495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rPr>
              <a:t>조건·기준·근거 확인 필요</a:t>
            </a:r>
          </a:p>
        </p:txBody>
      </p:sp>
      <p:sp>
        <p:nvSpPr>
          <p:cNvPr id="10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0D2902D8-850D-425B-96D9-237A2458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5DB"/>
          </a:solidFill>
          <a:ln xmlns:a="http://schemas.openxmlformats.org/drawingml/2006/main" w="0">
            <a:noFill/>
          </a:ln>
        </p:spPr>
      </p:sp>
      <p:sp>
        <p:nvSpPr>
          <p:cNvPr id="1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42678671-B536-4706-AF16-755FE020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rPr>
              <a:t>중간 점검</a:t>
            </a:r>
          </a:p>
        </p:txBody>
      </p:sp>
      <p:sp>
        <p:nvSpPr>
          <p:cNvPr id="1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F5C7F38E-0850-436C-BC20-31D018BC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781425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9A036BF-3270-4A7A-9015-6A8F294E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781425"/>
            <a:ext cx="3495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rPr>
              <a:t>조건·기준·근거 확인 필요</a:t>
            </a:r>
          </a:p>
        </p:txBody>
      </p:sp>
      <p:sp>
        <p:nvSpPr>
          <p:cNvPr id="1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3E8F3651-FC6B-419E-A267-39C11463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5DB"/>
          </a:solidFill>
          <a:ln xmlns:a="http://schemas.openxmlformats.org/drawingml/2006/main" w="0">
            <a:noFill/>
          </a:ln>
        </p:spPr>
      </p:sp>
      <p:sp>
        <p:nvSpPr>
          <p:cNvPr id="1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D7189430-B0D7-43CA-BD7D-E91C5591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91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rPr>
              <a:t>완료 점검</a:t>
            </a:r>
          </a:p>
        </p:txBody>
      </p:sp>
      <p:sp>
        <p:nvSpPr>
          <p:cNvPr id="16" name="domain-copy">
            <a:extLst xmlns:a="http://schemas.openxmlformats.org/drawingml/2006/main">
              <a:ext uri="{FF2B5EF4-FFF2-40B4-BE49-F238E27FC236}">
                <a16:creationId xmlns:a16="http://schemas.microsoft.com/office/drawing/2014/main" id="{32342B60-69A3-4246-89B2-CD33CC5C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848225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A11BF5B7-5164-44EB-9510-B597DE0F2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848225"/>
            <a:ext cx="3495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rPr>
              <a:t>조건·기준·근거 확인 필요</a:t>
            </a:r>
          </a:p>
        </p:txBody>
      </p:sp>
    </p:spTree>
    <p:extLst>
      <p:ext uri="{BB962C8B-B14F-4D97-AF65-F5344CB8AC3E}">
        <p14:creationId xmlns:p14="http://schemas.microsoft.com/office/powerpoint/2010/main" val="7960503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53786651-AFF3-462F-9FD6-B584C5B6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rPr>
              <a:t>공사·시설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3712AF9A-B2DC-48BA-A6C8-668CA926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rPr>
              <a:t>품질 검사와 승인 지점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4A7A7BC1-4357-4998-8A92-C054B828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rPr>
              <a:t>작업 결과가 다음 공정에 가려지기 전에 검사와 승인을 기록합니다.</a:t>
            </a:r>
          </a:p>
        </p:txBody>
      </p:sp>
      <p:sp>
        <p:nvSpPr>
          <p:cNvPr id="4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BB14E5FA-9B9A-4056-9243-454370353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rPr>
              <a:t>공사·시설 제안서</a:t>
            </a:r>
          </a:p>
        </p:txBody>
      </p:sp>
      <p:sp>
        <p:nvSpPr>
          <p:cNvPr id="5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9C725D80-C21F-4061-BBDB-F4204815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27026777-D0A8-4CD8-B891-70A1B6E8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F950F976-0F06-4529-B304-F2C076F9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FC747B11-8E13-4076-976F-9871E9B4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5DB"/>
          </a:solidFill>
          <a:ln xmlns:a="http://schemas.openxmlformats.org/drawingml/2006/main" w="9525">
            <a:solidFill>
              <a:srgbClr val="A16529"/>
            </a:solidFill>
          </a:ln>
        </p:spPr>
      </p:sp>
      <p:sp>
        <p:nvSpPr>
          <p:cNvPr id="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1F0D3C36-FB6A-47EE-AB4D-3BBDED40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rPr>
              <a:t>반입 확인</a:t>
            </a:r>
          </a:p>
        </p:txBody>
      </p:sp>
      <p:sp>
        <p:nvSpPr>
          <p:cNvPr id="1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70109E79-493A-4D38-9477-538A8A10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cxnSp>
        <p:nvCxnSpPr>
          <p:cNvPr id="11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0D0A2919-7E95-48BE-84F6-E26692ED9F8F}"/>
              </a:ext>
            </a:extLst>
          </p:cNvPr>
          <p:cNvCxnSpPr/>
          <p:nvPr/>
        </p:nvCxnSpPr>
        <p:spPr>
          <a:xfrm xmlns:a="http://schemas.openxmlformats.org/drawingml/2006/main">
            <a:off x="3109913" y="4438650"/>
            <a:ext cx="323850" cy="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A16529"/>
            </a:solidFill>
          </a:ln>
        </p:spPr>
      </p:cxnSp>
      <p:sp>
        <p:nvSpPr>
          <p:cNvPr id="1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734DEE9-2764-4D91-B843-30AFAB1E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2D7E895A-5716-4AD7-8DF3-768511BB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5DB"/>
          </a:solidFill>
          <a:ln xmlns:a="http://schemas.openxmlformats.org/drawingml/2006/main" w="9525">
            <a:solidFill>
              <a:srgbClr val="A16529"/>
            </a:solidFill>
          </a:ln>
        </p:spPr>
      </p:sp>
      <p:sp>
        <p:nvSpPr>
          <p:cNvPr id="14" name="domain-copy">
            <a:extLst xmlns:a="http://schemas.openxmlformats.org/drawingml/2006/main">
              <a:ext uri="{FF2B5EF4-FFF2-40B4-BE49-F238E27FC236}">
                <a16:creationId xmlns:a16="http://schemas.microsoft.com/office/drawing/2014/main" id="{7D6A8A9C-491D-4036-BE9B-40C3C2246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rPr>
              <a:t>시공 중 검사</a:t>
            </a:r>
          </a:p>
        </p:txBody>
      </p:sp>
      <p:sp>
        <p:nvSpPr>
          <p:cNvPr id="1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983EA4F4-ABC1-4E6F-9F6F-8E580FBB1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cxnSp>
        <p:nvCxnSpPr>
          <p:cNvPr id="16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980FC27E-B1E1-431A-A334-79ACB6611C5B}"/>
              </a:ext>
            </a:extLst>
          </p:cNvPr>
          <p:cNvCxnSpPr/>
          <p:nvPr/>
        </p:nvCxnSpPr>
        <p:spPr>
          <a:xfrm xmlns:a="http://schemas.openxmlformats.org/drawingml/2006/main">
            <a:off x="5934075" y="4438650"/>
            <a:ext cx="323850" cy="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A16529"/>
            </a:solidFill>
          </a:ln>
        </p:spPr>
      </p:cxnSp>
      <p:sp>
        <p:nvSpPr>
          <p:cNvPr id="1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4DCFBEFA-A081-4107-B833-7E71F089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8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7C8FDE70-613C-4669-A25F-63F606C3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5DB"/>
          </a:solidFill>
          <a:ln xmlns:a="http://schemas.openxmlformats.org/drawingml/2006/main" w="9525">
            <a:solidFill>
              <a:srgbClr val="A16529"/>
            </a:solidFill>
          </a:ln>
        </p:spPr>
      </p:sp>
      <p:sp>
        <p:nvSpPr>
          <p:cNvPr id="1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C0F47CF0-7B74-4380-AB1F-CB605A1B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rPr>
              <a:t>시험·측정</a:t>
            </a:r>
          </a:p>
        </p:txBody>
      </p:sp>
      <p:sp>
        <p:nvSpPr>
          <p:cNvPr id="2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9C864AF-B58D-4FA8-A2D6-E74B5C56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cxnSp>
        <p:nvCxnSpPr>
          <p:cNvPr id="21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BFFC62FC-F3DB-4ADF-BC84-50FA3335F157}"/>
              </a:ext>
            </a:extLst>
          </p:cNvPr>
          <p:cNvCxnSpPr/>
          <p:nvPr/>
        </p:nvCxnSpPr>
        <p:spPr>
          <a:xfrm xmlns:a="http://schemas.openxmlformats.org/drawingml/2006/main">
            <a:off x="8758238" y="4438650"/>
            <a:ext cx="323850" cy="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A16529"/>
            </a:solidFill>
          </a:ln>
        </p:spPr>
      </p:cxnSp>
      <p:sp>
        <p:nvSpPr>
          <p:cNvPr id="2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80DBB539-A68A-4344-BB56-5BE02EF3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3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11B790F1-0BC4-4F99-ABF8-2D1ECBE9F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5DB"/>
          </a:solidFill>
          <a:ln xmlns:a="http://schemas.openxmlformats.org/drawingml/2006/main" w="9525">
            <a:solidFill>
              <a:srgbClr val="A16529"/>
            </a:solidFill>
          </a:ln>
        </p:spPr>
      </p:sp>
      <p:sp>
        <p:nvSpPr>
          <p:cNvPr id="24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BD733F7-6EA1-4473-B8EB-6AF0D6BD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rPr>
              <a:t>보완·승인</a:t>
            </a:r>
          </a:p>
        </p:txBody>
      </p:sp>
      <p:sp>
        <p:nvSpPr>
          <p:cNvPr id="2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34727372-AC5C-4D1A-9034-078D39F4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</p:spTree>
    <p:extLst>
      <p:ext uri="{BB962C8B-B14F-4D97-AF65-F5344CB8AC3E}">
        <p14:creationId xmlns:p14="http://schemas.microsoft.com/office/powerpoint/2010/main" val="18837817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5C996B31-1CB3-44FF-86AA-D0378121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rPr>
              <a:t>공사·시설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5959DFA0-3080-4AFE-9789-F6F41222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rPr>
              <a:t>공종별 위험과 통제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70F59E5-993E-426A-9C86-7A037243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rPr>
              <a:t>위험 요소는 현장별 평가 후 통제 방법과 작업 책임자를 확정합니다.</a:t>
            </a:r>
          </a:p>
        </p:txBody>
      </p:sp>
      <p:sp>
        <p:nvSpPr>
          <p:cNvPr id="4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C337FD22-7E8B-4835-BB1C-D60270DBF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rPr>
              <a:t>공사·시설 제안서</a:t>
            </a:r>
          </a:p>
        </p:txBody>
      </p:sp>
      <p:sp>
        <p:nvSpPr>
          <p:cNvPr id="5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78DD0E8E-3565-45CF-B8FC-FEC8761DC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4308AD80-48EF-405E-A5B6-F3177AE10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E49084-969D-49CA-B1B0-6823A6200AEC}"/>
              </a:ext>
            </a:extLst>
          </p:cNvPr>
          <p:cNvGraphicFramePr/>
          <p:nvPr/>
        </p:nvGraphicFramePr>
        <p:xfrm>
          <a:off xmlns:a="http://schemas.openxmlformats.org/drawingml/2006/main" x="609600" y="2657475"/>
          <a:ext xmlns:a="http://schemas.openxmlformats.org/drawingml/2006/main" cx="109728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343400"/>
                <a:gridCol w="4343400"/>
              </a:tblGrid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작업 위험</a:t>
                      </a:r>
                    </a:p>
                  </a:txBody>
                  <a:tcPr marL="142875" marR="142875" marT="114300" marB="95250" anchor="ctr">
                    <a:solidFill>
                      <a:srgbClr val="3035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사전 통제안</a:t>
                      </a:r>
                    </a:p>
                  </a:txBody>
                  <a:tcPr marL="142875" marR="142875" marT="114300" marB="95250" anchor="ctr">
                    <a:solidFill>
                      <a:srgbClr val="3035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작업 전 확인</a:t>
                      </a:r>
                    </a:p>
                  </a:txBody>
                  <a:tcPr marL="142875" marR="142875" marT="114300" marB="95250" anchor="ctr">
                    <a:solidFill>
                      <a:srgbClr val="303533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3035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고소·낙하</a:t>
                      </a:r>
                    </a:p>
                  </a:txBody>
                  <a:tcPr marL="142875" marR="142875" marT="114300" marB="95250" anchor="ctr">
                    <a:solidFill>
                      <a:srgbClr val="EAE5D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035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EAE5D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035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EAE5DB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3035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화기·전기</a:t>
                      </a:r>
                    </a:p>
                  </a:txBody>
                  <a:tcPr marL="142875" marR="142875" marT="114300" marB="95250" anchor="ctr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035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035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F5F4F0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3035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분진·소음</a:t>
                      </a:r>
                    </a:p>
                  </a:txBody>
                  <a:tcPr marL="142875" marR="142875" marT="114300" marB="95250" anchor="ctr">
                    <a:solidFill>
                      <a:srgbClr val="EAE5D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035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EAE5D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035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EAE5D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45276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7CD0E3EA-06FA-4DB7-BFE6-59602D45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rPr>
              <a:t>공사·시설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A06E1662-B5E1-4F30-AA61-884B548E2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rPr>
              <a:t>이용자와 작업 동선 분리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9FFB663-21A1-46CF-BC0C-08F07E36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rPr>
              <a:t>아래는 동선 관리의 개념이며 실제 배치는 현장 도면으로 확정합니다.</a:t>
            </a:r>
          </a:p>
        </p:txBody>
      </p:sp>
      <p:sp>
        <p:nvSpPr>
          <p:cNvPr id="4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DD88B2B4-7673-4B32-8370-0B287010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rPr>
              <a:t>공사·시설 제안서</a:t>
            </a:r>
          </a:p>
        </p:txBody>
      </p:sp>
      <p:sp>
        <p:nvSpPr>
          <p:cNvPr id="5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F94D1D34-C118-4B4B-818B-FB24DF58F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2BEFA1CB-C978-4A21-9CE2-BEA0E6FB7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810AF1FF-E2B7-4DB0-86AE-3C5C47622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rPr>
              <a:t>시설 이용자</a:t>
            </a:r>
          </a:p>
        </p:txBody>
      </p:sp>
      <p:sp>
        <p:nvSpPr>
          <p:cNvPr id="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506DC22E-CF7E-43A7-9E81-6975DD2D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14625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A4DEC9AE-0B09-4890-87C6-03817AD2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714625"/>
            <a:ext cx="3495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rPr>
              <a:t>조건·기준·근거 확인 필요</a:t>
            </a:r>
          </a:p>
        </p:txBody>
      </p:sp>
      <p:sp>
        <p:nvSpPr>
          <p:cNvPr id="10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F43F8911-5B86-4E79-8C9B-B1AF2E8E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5DB"/>
          </a:solidFill>
          <a:ln xmlns:a="http://schemas.openxmlformats.org/drawingml/2006/main" w="0">
            <a:noFill/>
          </a:ln>
        </p:spPr>
      </p:sp>
      <p:sp>
        <p:nvSpPr>
          <p:cNvPr id="1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7C4DF01E-B55A-4FC6-9246-BA5A3E70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rPr>
              <a:t>자재·장비</a:t>
            </a:r>
          </a:p>
        </p:txBody>
      </p:sp>
      <p:sp>
        <p:nvSpPr>
          <p:cNvPr id="1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C5B75823-E9A0-45E3-91CB-A56A92D4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781425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2BB49158-1F16-4485-B2F6-BBAB52F4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781425"/>
            <a:ext cx="3495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rPr>
              <a:t>조건·기준·근거 확인 필요</a:t>
            </a:r>
          </a:p>
        </p:txBody>
      </p:sp>
      <p:sp>
        <p:nvSpPr>
          <p:cNvPr id="1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14CB5972-070F-412E-B520-10FA33FC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5DB"/>
          </a:solidFill>
          <a:ln xmlns:a="http://schemas.openxmlformats.org/drawingml/2006/main" w="0">
            <a:noFill/>
          </a:ln>
        </p:spPr>
      </p:sp>
      <p:sp>
        <p:nvSpPr>
          <p:cNvPr id="1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8A4FEA91-BFF3-45ED-A45C-289C1E69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91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rPr>
              <a:t>비상 이동</a:t>
            </a:r>
          </a:p>
        </p:txBody>
      </p:sp>
      <p:sp>
        <p:nvSpPr>
          <p:cNvPr id="16" name="domain-copy">
            <a:extLst xmlns:a="http://schemas.openxmlformats.org/drawingml/2006/main">
              <a:ext uri="{FF2B5EF4-FFF2-40B4-BE49-F238E27FC236}">
                <a16:creationId xmlns:a16="http://schemas.microsoft.com/office/drawing/2014/main" id="{EADAC641-325C-43FD-BF8C-93898A29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848225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BDDDDB3-1A6E-475A-B128-A906E93E8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848225"/>
            <a:ext cx="3495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rPr>
              <a:t>조건·기준·근거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0893387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98AFAFF7-983A-413E-9F5D-EBAAEC2D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rPr>
              <a:t>공사·시설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5A2FDDD4-4B49-4375-BEC8-39D90A9D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rPr>
              <a:t>자재·장비 반입 운영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A6C24E30-4C62-4FF9-B2CE-2DB1DA30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rPr>
              <a:t>승인된 반입 계획과 현장의 사용 가능 상태를 함께 확인합니다.</a:t>
            </a:r>
          </a:p>
        </p:txBody>
      </p:sp>
      <p:sp>
        <p:nvSpPr>
          <p:cNvPr id="4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A3E4329C-C273-402F-92C4-7FB29C6B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rPr>
              <a:t>공사·시설 제안서</a:t>
            </a:r>
          </a:p>
        </p:txBody>
      </p:sp>
      <p:sp>
        <p:nvSpPr>
          <p:cNvPr id="5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AC1B5AF8-C7DC-4030-A62C-95618041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01C4E694-01A6-4A6E-A7FF-26878378F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E07BD5B8-EF83-41EF-AC76-A21F9612C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B3C53873-63CE-4DD6-BD03-973A6E6A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5DB"/>
          </a:solidFill>
          <a:ln xmlns:a="http://schemas.openxmlformats.org/drawingml/2006/main" w="9525">
            <a:solidFill>
              <a:srgbClr val="A16529"/>
            </a:solidFill>
          </a:ln>
        </p:spPr>
      </p:sp>
      <p:sp>
        <p:nvSpPr>
          <p:cNvPr id="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BE1D9152-5C3E-4F5B-B89E-9CB66377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rPr>
              <a:t>계획</a:t>
            </a:r>
          </a:p>
        </p:txBody>
      </p:sp>
      <p:sp>
        <p:nvSpPr>
          <p:cNvPr id="1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86FAAFB-C460-4A8C-9123-273EA75B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cxnSp>
        <p:nvCxnSpPr>
          <p:cNvPr id="11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6C3A3C3B-E889-445D-8C4A-5E4C2A54FD8D}"/>
              </a:ext>
            </a:extLst>
          </p:cNvPr>
          <p:cNvCxnSpPr/>
          <p:nvPr/>
        </p:nvCxnSpPr>
        <p:spPr>
          <a:xfrm xmlns:a="http://schemas.openxmlformats.org/drawingml/2006/main">
            <a:off x="3109913" y="4438650"/>
            <a:ext cx="323850" cy="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A16529"/>
            </a:solidFill>
          </a:ln>
        </p:spPr>
      </p:cxnSp>
      <p:sp>
        <p:nvSpPr>
          <p:cNvPr id="1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39E41346-7BDE-4E98-9744-759F35FA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B52FC64C-ECAA-458B-BB5C-53C0E441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5DB"/>
          </a:solidFill>
          <a:ln xmlns:a="http://schemas.openxmlformats.org/drawingml/2006/main" w="9525">
            <a:solidFill>
              <a:srgbClr val="A16529"/>
            </a:solidFill>
          </a:ln>
        </p:spPr>
      </p:sp>
      <p:sp>
        <p:nvSpPr>
          <p:cNvPr id="14" name="domain-copy">
            <a:extLst xmlns:a="http://schemas.openxmlformats.org/drawingml/2006/main">
              <a:ext uri="{FF2B5EF4-FFF2-40B4-BE49-F238E27FC236}">
                <a16:creationId xmlns:a16="http://schemas.microsoft.com/office/drawing/2014/main" id="{C9C38A08-8919-466D-8BE7-0444C4E5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rPr>
              <a:t>입고</a:t>
            </a:r>
          </a:p>
        </p:txBody>
      </p:sp>
      <p:sp>
        <p:nvSpPr>
          <p:cNvPr id="1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C03CDCB1-9F17-4D35-AD16-F4FF0C30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cxnSp>
        <p:nvCxnSpPr>
          <p:cNvPr id="16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8FF09E07-4110-42E2-8560-AE56B03AA705}"/>
              </a:ext>
            </a:extLst>
          </p:cNvPr>
          <p:cNvCxnSpPr/>
          <p:nvPr/>
        </p:nvCxnSpPr>
        <p:spPr>
          <a:xfrm xmlns:a="http://schemas.openxmlformats.org/drawingml/2006/main">
            <a:off x="5934075" y="4438650"/>
            <a:ext cx="323850" cy="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A16529"/>
            </a:solidFill>
          </a:ln>
        </p:spPr>
      </p:cxnSp>
      <p:sp>
        <p:nvSpPr>
          <p:cNvPr id="1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5757F98-AFC1-4466-A3BE-63545979B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8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9BBE0C70-AADA-48AA-81E0-EFC612015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5DB"/>
          </a:solidFill>
          <a:ln xmlns:a="http://schemas.openxmlformats.org/drawingml/2006/main" w="9525">
            <a:solidFill>
              <a:srgbClr val="A16529"/>
            </a:solidFill>
          </a:ln>
        </p:spPr>
      </p:sp>
      <p:sp>
        <p:nvSpPr>
          <p:cNvPr id="1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89D81E21-4140-4AE1-A812-0E0D9858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rPr>
              <a:t>적치</a:t>
            </a:r>
          </a:p>
        </p:txBody>
      </p:sp>
      <p:sp>
        <p:nvSpPr>
          <p:cNvPr id="2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BE9CDC5F-7296-40CF-9E63-D2BE21C3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cxnSp>
        <p:nvCxnSpPr>
          <p:cNvPr id="21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75CADE2C-8D22-4ACE-82DA-5C4352B25742}"/>
              </a:ext>
            </a:extLst>
          </p:cNvPr>
          <p:cNvCxnSpPr/>
          <p:nvPr/>
        </p:nvCxnSpPr>
        <p:spPr>
          <a:xfrm xmlns:a="http://schemas.openxmlformats.org/drawingml/2006/main">
            <a:off x="8758238" y="4438650"/>
            <a:ext cx="323850" cy="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A16529"/>
            </a:solidFill>
          </a:ln>
        </p:spPr>
      </p:cxnSp>
      <p:sp>
        <p:nvSpPr>
          <p:cNvPr id="2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C68B4D48-638F-4153-BE7A-4904F9876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3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C42AF652-0A3E-4E28-B366-FDBBB3C0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5DB"/>
          </a:solidFill>
          <a:ln xmlns:a="http://schemas.openxmlformats.org/drawingml/2006/main" w="9525">
            <a:solidFill>
              <a:srgbClr val="A16529"/>
            </a:solidFill>
          </a:ln>
        </p:spPr>
      </p:sp>
      <p:sp>
        <p:nvSpPr>
          <p:cNvPr id="24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F2EBDE9-394C-4FD1-B1F1-CF119190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rPr>
              <a:t>투입</a:t>
            </a:r>
          </a:p>
        </p:txBody>
      </p:sp>
      <p:sp>
        <p:nvSpPr>
          <p:cNvPr id="2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E7446D28-9E8C-495A-8DC5-947274A5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</p:spTree>
    <p:extLst>
      <p:ext uri="{BB962C8B-B14F-4D97-AF65-F5344CB8AC3E}">
        <p14:creationId xmlns:p14="http://schemas.microsoft.com/office/powerpoint/2010/main" val="16008442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CE2DFEEC-431D-43E9-9263-C8076C6B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rPr>
              <a:t>공사·시설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CE15A1CB-E43C-4430-A930-971A81B2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rPr>
              <a:t>설계 변경과 원가 관리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83F83B7E-739E-4982-86AB-FDEEC32C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rPr>
              <a:t>변경의 원인·범위·공정 영향을 기록하고 승인 없이 확정하지 않습니다.</a:t>
            </a:r>
          </a:p>
        </p:txBody>
      </p:sp>
      <p:sp>
        <p:nvSpPr>
          <p:cNvPr id="4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B37B8FE2-1155-471D-8582-A3BAFDEF7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rPr>
              <a:t>공사·시설 제안서</a:t>
            </a:r>
          </a:p>
        </p:txBody>
      </p:sp>
      <p:sp>
        <p:nvSpPr>
          <p:cNvPr id="5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785F8145-A4A3-4D8E-BA35-8D80044B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10770EA7-FD4F-4090-8AE6-407F2207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500B81-1702-4550-9975-F1CBD87879CF}"/>
              </a:ext>
            </a:extLst>
          </p:cNvPr>
          <p:cNvGraphicFramePr/>
          <p:nvPr/>
        </p:nvGraphicFramePr>
        <p:xfrm>
          <a:off xmlns:a="http://schemas.openxmlformats.org/drawingml/2006/main" x="609600" y="2657475"/>
          <a:ext xmlns:a="http://schemas.openxmlformats.org/drawingml/2006/main" cx="109728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343400"/>
                <a:gridCol w="4343400"/>
              </a:tblGrid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항목</a:t>
                      </a:r>
                    </a:p>
                  </a:txBody>
                  <a:tcPr marL="142875" marR="142875" marT="114300" marB="95250" anchor="ctr">
                    <a:solidFill>
                      <a:srgbClr val="3035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검토 내용</a:t>
                      </a:r>
                    </a:p>
                  </a:txBody>
                  <a:tcPr marL="142875" marR="142875" marT="114300" marB="95250" anchor="ctr">
                    <a:solidFill>
                      <a:srgbClr val="3035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승인·기록</a:t>
                      </a:r>
                    </a:p>
                  </a:txBody>
                  <a:tcPr marL="142875" marR="142875" marT="114300" marB="95250" anchor="ctr">
                    <a:solidFill>
                      <a:srgbClr val="303533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3035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요청</a:t>
                      </a:r>
                    </a:p>
                  </a:txBody>
                  <a:tcPr marL="142875" marR="142875" marT="114300" marB="95250" anchor="ctr">
                    <a:solidFill>
                      <a:srgbClr val="EAE5D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035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EAE5D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035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EAE5DB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3035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영향 검토</a:t>
                      </a:r>
                    </a:p>
                  </a:txBody>
                  <a:tcPr marL="142875" marR="142875" marT="114300" marB="95250" anchor="ctr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035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035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F5F4F0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3035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승인</a:t>
                      </a:r>
                    </a:p>
                  </a:txBody>
                  <a:tcPr marL="142875" marR="142875" marT="114300" marB="95250" anchor="ctr">
                    <a:solidFill>
                      <a:srgbClr val="EAE5D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035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EAE5D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035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EAE5D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09144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C4629E19-6ED9-4DE3-9C09-6CF307DC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rPr>
              <a:t>공사·시설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987A7425-DAB6-48ED-B36B-62FEF1A9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rPr>
              <a:t>준공 검사와 시설 인계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1077D76E-45DD-4985-A72E-5D6094FDE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rPr>
              <a:t>검사 결과와 준공 자료를 실제 설치 상태에 맞춰 전달합니다.</a:t>
            </a:r>
          </a:p>
        </p:txBody>
      </p:sp>
      <p:sp>
        <p:nvSpPr>
          <p:cNvPr id="4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B932266F-809C-40E0-B7D6-BEFADD7D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rPr>
              <a:t>공사·시설 제안서</a:t>
            </a:r>
          </a:p>
        </p:txBody>
      </p:sp>
      <p:sp>
        <p:nvSpPr>
          <p:cNvPr id="5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DC225E5B-5E8C-4FC9-95AA-76CE87E1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28198EB1-07BB-4967-A89D-68AF32F9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097131-C0AE-4400-B07F-9B4444939A14}"/>
              </a:ext>
            </a:extLst>
          </p:cNvPr>
          <p:cNvGraphicFramePr/>
          <p:nvPr/>
        </p:nvGraphicFramePr>
        <p:xfrm>
          <a:off xmlns:a="http://schemas.openxmlformats.org/drawingml/2006/main" x="609600" y="2657475"/>
          <a:ext xmlns:a="http://schemas.openxmlformats.org/drawingml/2006/main" cx="109728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343400"/>
                <a:gridCol w="4343400"/>
              </a:tblGrid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인계 대상</a:t>
                      </a:r>
                    </a:p>
                  </a:txBody>
                  <a:tcPr marL="142875" marR="142875" marT="114300" marB="95250" anchor="ctr">
                    <a:solidFill>
                      <a:srgbClr val="3035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준비할 기록</a:t>
                      </a:r>
                    </a:p>
                  </a:txBody>
                  <a:tcPr marL="142875" marR="142875" marT="114300" marB="95250" anchor="ctr">
                    <a:solidFill>
                      <a:srgbClr val="3035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방식</a:t>
                      </a:r>
                    </a:p>
                  </a:txBody>
                  <a:tcPr marL="142875" marR="142875" marT="114300" marB="95250" anchor="ctr">
                    <a:solidFill>
                      <a:srgbClr val="303533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3035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시설·설비</a:t>
                      </a:r>
                    </a:p>
                  </a:txBody>
                  <a:tcPr marL="142875" marR="142875" marT="114300" marB="95250" anchor="ctr">
                    <a:solidFill>
                      <a:srgbClr val="EAE5D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035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EAE5D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035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EAE5DB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3035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준공 도서</a:t>
                      </a:r>
                    </a:p>
                  </a:txBody>
                  <a:tcPr marL="142875" marR="142875" marT="114300" marB="95250" anchor="ctr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035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035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F5F4F0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3035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유지관리</a:t>
                      </a:r>
                    </a:p>
                  </a:txBody>
                  <a:tcPr marL="142875" marR="142875" marT="114300" marB="95250" anchor="ctr">
                    <a:solidFill>
                      <a:srgbClr val="EAE5D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035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EAE5D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035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EAE5D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261293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7A06E346-F5C3-4662-A474-562128C30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rPr>
              <a:t>공사·시설 / 수행 근거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07BB793D-9A3D-46F6-A289-BB607AAD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03533"/>
                </a:solidFill>
                <a:latin typeface="Malgun Gothic"/>
                <a:ea typeface="Malgun Gothic"/>
                <a:cs typeface="Malgun Gothic"/>
              </a:rPr>
              <a:t>현장 수행 근거와 증빙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17B7BFE6-387A-411B-9F33-7EB357924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rPr>
              <a:t>시공 계획과 실제 수행 역량을 구분해 제출 자료를 준비합니다.</a:t>
            </a:r>
          </a:p>
        </p:txBody>
      </p:sp>
      <p:sp>
        <p:nvSpPr>
          <p:cNvPr id="4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5D4E0E07-366E-4BB5-9D87-32F904D45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rPr>
              <a:t>공사·시설 제안서</a:t>
            </a:r>
          </a:p>
        </p:txBody>
      </p:sp>
      <p:sp>
        <p:nvSpPr>
          <p:cNvPr id="5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DA730AAB-AF8D-44D5-A126-95755A269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DCDD7CF7-2137-4001-9E6E-F97A41EE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9A1E22C3-E905-4046-993F-3D6A67E97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502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rPr>
              <a:t>유사 공사</a:t>
            </a:r>
          </a:p>
        </p:txBody>
      </p:sp>
      <p:sp>
        <p:nvSpPr>
          <p:cNvPr id="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8DDF7F24-3CB1-4AB2-B975-48F334674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5029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C4521D92-294C-44FF-B76D-5892867E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502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rPr>
              <a:t>현장 책임</a:t>
            </a:r>
          </a:p>
        </p:txBody>
      </p:sp>
      <p:sp>
        <p:nvSpPr>
          <p:cNvPr id="1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549275A9-D465-42A8-9CB5-E81D6683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5029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3122709-E086-4CA9-920E-2B397E010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02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rPr>
              <a:t>시공·검사 기록</a:t>
            </a:r>
          </a:p>
        </p:txBody>
      </p:sp>
      <p:sp>
        <p:nvSpPr>
          <p:cNvPr id="1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4AF76915-811E-4B8D-BDBA-50FF17D53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5029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3" name="bid3-material-placeholder-heading">
            <a:extLst xmlns:a="http://schemas.openxmlformats.org/drawingml/2006/main">
              <a:ext uri="{FF2B5EF4-FFF2-40B4-BE49-F238E27FC236}">
                <a16:creationId xmlns:a16="http://schemas.microsoft.com/office/drawing/2014/main" id="{33D93877-3C25-470F-B9B8-3A707F04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57500"/>
            <a:ext cx="4495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A16529"/>
                </a:solidFill>
                <a:latin typeface="Malgun Gothic"/>
                <a:ea typeface="Malgun Gothic"/>
                <a:cs typeface="Malgun Gothic"/>
              </a:rPr>
              <a:t>원문 자료와 제출 증빙</a:t>
            </a:r>
          </a:p>
        </p:txBody>
      </p:sp>
      <p:sp>
        <p:nvSpPr>
          <p:cNvPr id="14" name="bid3-material-placeholder-copy">
            <a:extLst xmlns:a="http://schemas.openxmlformats.org/drawingml/2006/main">
              <a:ext uri="{FF2B5EF4-FFF2-40B4-BE49-F238E27FC236}">
                <a16:creationId xmlns:a16="http://schemas.microsoft.com/office/drawing/2014/main" id="{1D548A98-17C1-4839-9B15-4967B8C7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67125"/>
            <a:ext cx="44958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rPr>
              <a:t>회사 소개서의 관련 이미지·도표를</a:t>
            </a:r>
          </a:p>
          <a:p xmlns:a="http://schemas.openxmlformats.org/drawingml/2006/main">
            <a:pPr algn="l">
              <a:defRPr sz="1875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03533"/>
                </a:solidFill>
                <a:latin typeface="Malgun Gothic"/>
                <a:ea typeface="Malgun Gothic"/>
                <a:cs typeface="Malgun Gothic"/>
              </a:rPr>
              <a:t>현재 사업의 수행 근거와 대조합니다.</a:t>
            </a:r>
          </a:p>
        </p:txBody>
      </p:sp>
      <p:sp>
        <p:nvSpPr>
          <p:cNvPr id="15" name="bid3-material-placeholder-notice">
            <a:extLst xmlns:a="http://schemas.openxmlformats.org/drawingml/2006/main">
              <a:ext uri="{FF2B5EF4-FFF2-40B4-BE49-F238E27FC236}">
                <a16:creationId xmlns:a16="http://schemas.microsoft.com/office/drawing/2014/main" id="{2DDF3E5B-5789-4DBE-BDA9-7D8B66A5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210175"/>
            <a:ext cx="4495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A16529"/>
                </a:solidFill>
                <a:latin typeface="Malgun Gothic"/>
                <a:ea typeface="Malgun Gothic"/>
                <a:cs typeface="Malgun Gothic"/>
              </a:rPr>
              <a:t>자료가 없으면 현행 증빙 확보 후 반영</a:t>
            </a:r>
          </a:p>
        </p:txBody>
      </p:sp>
    </p:spTree>
    <p:extLst>
      <p:ext uri="{BB962C8B-B14F-4D97-AF65-F5344CB8AC3E}">
        <p14:creationId xmlns:p14="http://schemas.microsoft.com/office/powerpoint/2010/main" val="27737557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3035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BFEF6715-F702-44E4-A8DB-D930F2FF7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1066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공정과 현장을</a:t>
            </a:r>
          </a:p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함께 관리하는 시공</a:t>
            </a:r>
          </a:p>
        </p:txBody>
      </p:sp>
      <p:sp>
        <p:nvSpPr>
          <p:cNvPr id="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5AB08CA7-879C-455E-8D99-B14E0B09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457700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제안사 · 담당자 · 연락처 작성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761BB3D8-DF14-4622-9015-C80E114FF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공사·시설 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DF4C07DD-D8ED-4F6C-AD0D-FFAD6981A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4655846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2026-10-14T01:26:10.8570000Z</dcterms:created>
  <dcterms:modified xsi:type="dcterms:W3CDTF">2026-10-14T01:26:10.8570000Z</dcterms:modified>
</coreProperties>
</file>