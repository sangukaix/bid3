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741294d8b346d6" /><Relationship Type="http://schemas.openxmlformats.org/officeDocument/2006/relationships/extended-properties" Target="/docProps/app.xml" Id="R8a0f77ef104b476a" /><Relationship Type="http://schemas.openxmlformats.org/officeDocument/2006/relationships/officeDocument" Target="/ppt/presentation.xml" Id="R3b0a4d04405241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20ab03016c4c2b"/>
  </p:sldMasterIdLst>
  <p:notesMasterIdLst>
    <p:notesMasterId xmlns:r="http://schemas.openxmlformats.org/officeDocument/2006/relationships" r:id="R5f22038a7cb147b6"/>
  </p:notesMasterIdLst>
  <p:sldIdLst>
    <p:sldId xmlns:r="http://schemas.openxmlformats.org/officeDocument/2006/relationships" id="256" r:id="Re5619bd6c1154abd"/>
    <p:sldId xmlns:r="http://schemas.openxmlformats.org/officeDocument/2006/relationships" id="257" r:id="Ra4eb256f93704bdb"/>
    <p:sldId xmlns:r="http://schemas.openxmlformats.org/officeDocument/2006/relationships" id="258" r:id="R32e05bec4e9440a3"/>
    <p:sldId xmlns:r="http://schemas.openxmlformats.org/officeDocument/2006/relationships" id="259" r:id="Reb229d6850344a64"/>
    <p:sldId xmlns:r="http://schemas.openxmlformats.org/officeDocument/2006/relationships" id="260" r:id="R2cb767c8167d4ffc"/>
    <p:sldId xmlns:r="http://schemas.openxmlformats.org/officeDocument/2006/relationships" id="261" r:id="Re0ba868fb65647eb"/>
    <p:sldId xmlns:r="http://schemas.openxmlformats.org/officeDocument/2006/relationships" id="262" r:id="Rf51365b028a041e7"/>
    <p:sldId xmlns:r="http://schemas.openxmlformats.org/officeDocument/2006/relationships" id="263" r:id="R11f97798ff2e4e24"/>
    <p:sldId xmlns:r="http://schemas.openxmlformats.org/officeDocument/2006/relationships" id="264" r:id="R146c7bec92bd45c3"/>
    <p:sldId xmlns:r="http://schemas.openxmlformats.org/officeDocument/2006/relationships" id="265" r:id="R90360530365247c0"/>
    <p:sldId xmlns:r="http://schemas.openxmlformats.org/officeDocument/2006/relationships" id="266" r:id="R17199524b5a34ec1"/>
    <p:sldId xmlns:r="http://schemas.openxmlformats.org/officeDocument/2006/relationships" id="267" r:id="R960e54b8a81a4809"/>
    <p:sldId xmlns:r="http://schemas.openxmlformats.org/officeDocument/2006/relationships" id="268" r:id="Rbd07444c707f4b6e"/>
    <p:sldId xmlns:r="http://schemas.openxmlformats.org/officeDocument/2006/relationships" id="269" r:id="Re2c00d31613043a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9881eecb02435b" /><Relationship Type="http://schemas.openxmlformats.org/officeDocument/2006/relationships/slideMaster" Target="/ppt/slideMasters/slideMaster1.xml" Id="R6720ab03016c4c2b" /><Relationship Type="http://schemas.openxmlformats.org/officeDocument/2006/relationships/notesMaster" Target="/ppt/notesMasters/notesMaster1.xml" Id="R5f22038a7cb147b6" /><Relationship Type="http://schemas.openxmlformats.org/officeDocument/2006/relationships/presProps" Target="/ppt/presProps.xml" Id="R25b796f88b66455b" /><Relationship Type="http://schemas.openxmlformats.org/officeDocument/2006/relationships/tableStyles" Target="/ppt/tableStyles.xml" Id="Rbd2420a5d8834a54" /><Relationship Type="http://schemas.openxmlformats.org/officeDocument/2006/relationships/slide" Target="/ppt/slides/slide1.xml" Id="Re5619bd6c1154abd" /><Relationship Type="http://schemas.openxmlformats.org/officeDocument/2006/relationships/slide" Target="/ppt/slides/slide2.xml" Id="Ra4eb256f93704bdb" /><Relationship Type="http://schemas.openxmlformats.org/officeDocument/2006/relationships/slide" Target="/ppt/slides/slide3.xml" Id="R32e05bec4e9440a3" /><Relationship Type="http://schemas.openxmlformats.org/officeDocument/2006/relationships/slide" Target="/ppt/slides/slide4.xml" Id="Reb229d6850344a64" /><Relationship Type="http://schemas.openxmlformats.org/officeDocument/2006/relationships/slide" Target="/ppt/slides/slide5.xml" Id="R2cb767c8167d4ffc" /><Relationship Type="http://schemas.openxmlformats.org/officeDocument/2006/relationships/slide" Target="/ppt/slides/slide6.xml" Id="Re0ba868fb65647eb" /><Relationship Type="http://schemas.openxmlformats.org/officeDocument/2006/relationships/slide" Target="/ppt/slides/slide7.xml" Id="Rf51365b028a041e7" /><Relationship Type="http://schemas.openxmlformats.org/officeDocument/2006/relationships/slide" Target="/ppt/slides/slide8.xml" Id="R11f97798ff2e4e24" /><Relationship Type="http://schemas.openxmlformats.org/officeDocument/2006/relationships/slide" Target="/ppt/slides/slide9.xml" Id="R146c7bec92bd45c3" /><Relationship Type="http://schemas.openxmlformats.org/officeDocument/2006/relationships/slide" Target="/ppt/slides/slide10.xml" Id="R90360530365247c0" /><Relationship Type="http://schemas.openxmlformats.org/officeDocument/2006/relationships/slide" Target="/ppt/slides/slide11.xml" Id="R17199524b5a34ec1" /><Relationship Type="http://schemas.openxmlformats.org/officeDocument/2006/relationships/slide" Target="/ppt/slides/slide12.xml" Id="R960e54b8a81a4809" /><Relationship Type="http://schemas.openxmlformats.org/officeDocument/2006/relationships/slide" Target="/ppt/slides/slide13.xml" Id="Rbd07444c707f4b6e" /><Relationship Type="http://schemas.openxmlformats.org/officeDocument/2006/relationships/slide" Target="/ppt/slides/slide14.xml" Id="Re2c00d31613043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be685c9fa749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d3641cc0bc4f84" /><Relationship Type="http://schemas.openxmlformats.org/officeDocument/2006/relationships/notesMaster" Target="/ppt/notesMasters/notesMaster1.xml" Id="R481bfd77586e43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549e82d0ba4542" /><Relationship Type="http://schemas.openxmlformats.org/officeDocument/2006/relationships/notesMaster" Target="/ppt/notesMasters/notesMaster1.xml" Id="R82709c8633414c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6fe08776044a34" /><Relationship Type="http://schemas.openxmlformats.org/officeDocument/2006/relationships/notesMaster" Target="/ppt/notesMasters/notesMaster1.xml" Id="Rc41739f5d3ce4d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d2b96a603a4224" /><Relationship Type="http://schemas.openxmlformats.org/officeDocument/2006/relationships/notesMaster" Target="/ppt/notesMasters/notesMaster1.xml" Id="R668212e6bfc948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bd283d8b4049cb" /><Relationship Type="http://schemas.openxmlformats.org/officeDocument/2006/relationships/notesMaster" Target="/ppt/notesMasters/notesMaster1.xml" Id="R61326f2e3dae4f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c9a4412e9f4e59" /><Relationship Type="http://schemas.openxmlformats.org/officeDocument/2006/relationships/notesMaster" Target="/ppt/notesMasters/notesMaster1.xml" Id="R4062e0fa187d49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0702762da34ab9" /><Relationship Type="http://schemas.openxmlformats.org/officeDocument/2006/relationships/notesMaster" Target="/ppt/notesMasters/notesMaster1.xml" Id="R47c0f8018b3944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a3c644f6f3f4a5c" /><Relationship Type="http://schemas.openxmlformats.org/officeDocument/2006/relationships/notesMaster" Target="/ppt/notesMasters/notesMaster1.xml" Id="R8d64cef7c6c64d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cd8c90eb0d94949" /><Relationship Type="http://schemas.openxmlformats.org/officeDocument/2006/relationships/notesMaster" Target="/ppt/notesMasters/notesMaster1.xml" Id="R22b0a96661984fb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1e87f99b05a4936" /><Relationship Type="http://schemas.openxmlformats.org/officeDocument/2006/relationships/notesMaster" Target="/ppt/notesMasters/notesMaster1.xml" Id="R873abdfa26ce41a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71fe35473ec4a1d" /><Relationship Type="http://schemas.openxmlformats.org/officeDocument/2006/relationships/notesMaster" Target="/ppt/notesMasters/notesMaster1.xml" Id="R654eab7db4cd47d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6f4d03bc30046f9" /><Relationship Type="http://schemas.openxmlformats.org/officeDocument/2006/relationships/notesMaster" Target="/ppt/notesMasters/notesMaster1.xml" Id="R5ee1bca32638490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aa9644f661c4779" /><Relationship Type="http://schemas.openxmlformats.org/officeDocument/2006/relationships/notesMaster" Target="/ppt/notesMasters/notesMaster1.xml" Id="R257374bd63b7494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1867d5724634fe4" /><Relationship Type="http://schemas.openxmlformats.org/officeDocument/2006/relationships/notesMaster" Target="/ppt/notesMasters/notesMaster1.xml" Id="R73badeea2aaf48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분야 설명용 스톡 이미지. 실제 제안사 수행·설치·행사 사진 아님.</a:t>
            </a:r>
          </a:p>
          <a:p xmlns:a="http://schemas.openxmlformats.org/drawingml/2006/main">
            <a:r>
              <a:t>이미지 출처: https://images.pexels.com/photos/2774556/pexels-photo-2774556.jpeg?auto=compress&amp;cs=tinysrgb&amp;w=1800</a:t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붙임2. 제안요청서_2025년 글로벌지식협력단지 지식교류의 날(KED) 행사 운영 대행 용역.pdf</a:t>
            </a:r>
          </a:p>
          <a:p xmlns:a="http://schemas.openxmlformats.org/drawingml/2006/main">
            <a:r>
              <a:t>https://www.kdi.re.kr/board/file/download?atch_no=W7NcCq48KygPu652rpK8vg%3D%3D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붙임2. 제안요청서_2025년 글로벌지식협력단지 지식교류의 날(KED) 행사 운영 대행 용역.pdf</a:t>
            </a:r>
          </a:p>
          <a:p xmlns:a="http://schemas.openxmlformats.org/drawingml/2006/main">
            <a:r>
              <a:t>https://www.kdi.re.kr/board/file/download?atch_no=W7NcCq48KygPu652rpK8vg%3D%3D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분야 설명용 스톡 이미지. 실제 수행 사진 아님.</a:t>
            </a:r>
          </a:p>
          <a:p xmlns:a="http://schemas.openxmlformats.org/drawingml/2006/main">
            <a:r>
              <a:t>이미지 출처: https://images.pexels.com/photos/2608517/pexels-photo-2608517.jpeg?auto=compress&amp;cs=tinysrgb&amp;w=1500</a:t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붙임2. 제안요청서_2025년 글로벌지식협력단지 지식교류의 날(KED) 행사 운영 대행 용역.pdf</a:t>
            </a:r>
          </a:p>
          <a:p xmlns:a="http://schemas.openxmlformats.org/drawingml/2006/main">
            <a:r>
              <a:t>https://www.kdi.re.kr/board/file/download?atch_no=W7NcCq48KygPu652rpK8vg%3D%3D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붙임2. 제안요청서_2025년 글로벌지식협력단지 지식교류의 날(KED) 행사 운영 대행 용역.pdf</a:t>
            </a:r>
          </a:p>
          <a:p xmlns:a="http://schemas.openxmlformats.org/drawingml/2006/main">
            <a:r>
              <a:t>https://www.kdi.re.kr/board/file/download?atch_no=W7NcCq48KygPu652rpK8vg%3D%3D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붙임2. 제안요청서_2025년 글로벌지식협력단지 지식교류의 날(KED) 행사 운영 대행 용역.pdf</a:t>
            </a:r>
          </a:p>
          <a:p xmlns:a="http://schemas.openxmlformats.org/drawingml/2006/main">
            <a:r>
              <a:t>https://www.kdi.re.kr/board/file/download?atch_no=W7NcCq48KygPu652rpK8vg%3D%3D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붙임2. 제안요청서_2025년 글로벌지식협력단지 지식교류의 날(KED) 행사 운영 대행 용역.pdf</a:t>
            </a:r>
          </a:p>
          <a:p xmlns:a="http://schemas.openxmlformats.org/drawingml/2006/main">
            <a:r>
              <a:t>https://www.kdi.re.kr/board/file/download?atch_no=W7NcCq48KygPu652rpK8vg%3D%3D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붙임2. 제안요청서_2025년 글로벌지식협력단지 지식교류의 날(KED) 행사 운영 대행 용역.pdf</a:t>
            </a:r>
          </a:p>
          <a:p xmlns:a="http://schemas.openxmlformats.org/drawingml/2006/main">
            <a:r>
              <a:t>https://www.kdi.re.kr/board/file/download?atch_no=W7NcCq48KygPu652rpK8vg%3D%3D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붙임2. 제안요청서_2025년 글로벌지식협력단지 지식교류의 날(KED) 행사 운영 대행 용역.pdf</a:t>
            </a:r>
          </a:p>
          <a:p xmlns:a="http://schemas.openxmlformats.org/drawingml/2006/main">
            <a:r>
              <a:t>https://www.kdi.re.kr/board/file/download?atch_no=W7NcCq48KygPu652rpK8vg%3D%3D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붙임2. 제안요청서_2025년 글로벌지식협력단지 지식교류의 날(KED) 행사 운영 대행 용역.pdf</a:t>
            </a:r>
          </a:p>
          <a:p xmlns:a="http://schemas.openxmlformats.org/drawingml/2006/main">
            <a:r>
              <a:t>https://www.kdi.re.kr/board/file/download?atch_no=W7NcCq48KygPu652rpK8vg%3D%3D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붙임2. 제안요청서_2025년 글로벌지식협력단지 지식교류의 날(KED) 행사 운영 대행 용역.pdf</a:t>
            </a:r>
          </a:p>
          <a:p xmlns:a="http://schemas.openxmlformats.org/drawingml/2006/main">
            <a:r>
              <a:t>https://www.kdi.re.kr/board/file/download?atch_no=W7NcCq48KygPu652rpK8vg%3D%3D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붙임2. 제안요청서_2025년 글로벌지식협력단지 지식교류의 날(KED) 행사 운영 대행 용역.pdf</a:t>
            </a:r>
          </a:p>
          <a:p xmlns:a="http://schemas.openxmlformats.org/drawingml/2006/main">
            <a:r>
              <a:t>https://www.kdi.re.kr/board/file/download?atch_no=W7NcCq48KygPu652rpK8vg%3D%3D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붙임2. 제안요청서_2025년 글로벌지식협력단지 지식교류의 날(KED) 행사 운영 대행 용역.pdf</a:t>
            </a:r>
          </a:p>
          <a:p xmlns:a="http://schemas.openxmlformats.org/drawingml/2006/main">
            <a:r>
              <a:t>https://www.kdi.re.kr/board/file/download?atch_no=W7NcCq48KygPu652rpK8vg%3D%3D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붙임2. 제안요청서_2025년 글로벌지식협력단지 지식교류의 날(KED) 행사 운영 대행 용역.pdf</a:t>
            </a:r>
          </a:p>
          <a:p xmlns:a="http://schemas.openxmlformats.org/drawingml/2006/main">
            <a:r>
              <a:t>https://www.kdi.re.kr/board/file/download?atch_no=W7NcCq48KygPu652rpK8vg%3D%3D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붙임2. 제안요청서_2025년 글로벌지식협력단지 지식교류의 날(KED) 행사 운영 대행 용역.pdf</a:t>
            </a:r>
          </a:p>
          <a:p xmlns:a="http://schemas.openxmlformats.org/drawingml/2006/main">
            <a:r>
              <a:t>https://www.kdi.re.kr/board/file/download?atch_no=W7NcCq48KygPu652rpK8vg%3D%3D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df7f461f5343d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292b290f3e4e9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5db45567be425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ab7a38e6ab4ca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f1fe4d207c4b4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a74781c8e041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95F8155-73E2-4A22-BDCB-1D05C7AC3F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7D24124-0E82-4D41-A652-4FADF9D99E2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7539712-793C-45E7-A2B5-64A983B81B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38FB434-00A0-4D03-8ECF-58752872A1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9E513F0-2DF0-4E25-AEB7-0AB90E6E9F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B661D47-11B2-4890-9AD0-E22672DB9A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13B33D3-4A29-458A-A2E8-4CF407DEF0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28B7C17-5CD7-49FF-8B87-744DE327D59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DF2C982-A87C-42EE-AD39-C7439DF4C5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FB1F329-97D5-47CF-A2C3-F54E211B6F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5f518efa044d81" /><Relationship Type="http://schemas.openxmlformats.org/officeDocument/2006/relationships/slideLayout" Target="/ppt/slideLayouts/slideLayout1.xml" Id="Ra4f2ac9fd3e64f54" /><Relationship Type="http://schemas.openxmlformats.org/officeDocument/2006/relationships/slideLayout" Target="/ppt/slideLayouts/slideLayout2.xml" Id="Rf5b2e38018ee47a0" /><Relationship Type="http://schemas.openxmlformats.org/officeDocument/2006/relationships/slideLayout" Target="/ppt/slideLayouts/slideLayout3.xml" Id="Rb98e7a16dfed488f" /><Relationship Type="http://schemas.openxmlformats.org/officeDocument/2006/relationships/slideLayout" Target="/ppt/slideLayouts/slideLayout4.xml" Id="Rcaabbbed33d44dd0" /><Relationship Type="http://schemas.openxmlformats.org/officeDocument/2006/relationships/slideLayout" Target="/ppt/slideLayouts/slideLayout5.xml" Id="R884d703aa8c84d0c" /><Relationship Type="http://schemas.openxmlformats.org/officeDocument/2006/relationships/slideLayout" Target="/ppt/slideLayouts/slideLayout6.xml" Id="R50fe848fda3548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f2ac9fd3e64f54"/>
    <p:sldLayoutId xmlns:r="http://schemas.openxmlformats.org/officeDocument/2006/relationships" id="2147483650" r:id="Rf5b2e38018ee47a0"/>
    <p:sldLayoutId xmlns:r="http://schemas.openxmlformats.org/officeDocument/2006/relationships" id="2147483651" r:id="Rb98e7a16dfed488f"/>
    <p:sldLayoutId xmlns:r="http://schemas.openxmlformats.org/officeDocument/2006/relationships" id="2147483652" r:id="Rcaabbbed33d44dd0"/>
    <p:sldLayoutId xmlns:r="http://schemas.openxmlformats.org/officeDocument/2006/relationships" id="2147483653" r:id="R884d703aa8c84d0c"/>
    <p:sldLayoutId xmlns:r="http://schemas.openxmlformats.org/officeDocument/2006/relationships" id="2147483654" r:id="R50fe848fda3548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1cd59d98cf4a25" /><Relationship Type="http://schemas.openxmlformats.org/officeDocument/2006/relationships/image" Target="/ppt/media/image.jpeg" Id="Ra2c51f2b02d74435" /><Relationship Type="http://schemas.openxmlformats.org/officeDocument/2006/relationships/notesSlide" Target="/ppt/notesSlides/notesSlide1.xml" Id="R175aa0838ba74c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869d48635246a5" /><Relationship Type="http://schemas.openxmlformats.org/officeDocument/2006/relationships/notesSlide" Target="/ppt/notesSlides/notesSlide2.xml" Id="R395c66b85c0c48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ba505ce75e459d" /><Relationship Type="http://schemas.openxmlformats.org/officeDocument/2006/relationships/image" Target="/ppt/media/image2.jpeg" Id="R968eec3b45cf4ad4" /><Relationship Type="http://schemas.openxmlformats.org/officeDocument/2006/relationships/notesSlide" Target="/ppt/notesSlides/notesSlide3.xml" Id="Rf64e71e9ee0447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1364cd09cd41d8" /><Relationship Type="http://schemas.openxmlformats.org/officeDocument/2006/relationships/notesSlide" Target="/ppt/notesSlides/notesSlide4.xml" Id="Rd549c52fdf5b46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fae406b4b44ddb" /><Relationship Type="http://schemas.openxmlformats.org/officeDocument/2006/relationships/notesSlide" Target="/ppt/notesSlides/notesSlide5.xml" Id="R1bdb17c0db5843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2ff4016c3b447a" /><Relationship Type="http://schemas.openxmlformats.org/officeDocument/2006/relationships/notesSlide" Target="/ppt/notesSlides/notesSlide6.xml" Id="R7cec1896170849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8de74407f042fb" /><Relationship Type="http://schemas.openxmlformats.org/officeDocument/2006/relationships/notesSlide" Target="/ppt/notesSlides/notesSlide7.xml" Id="R467647414edb4d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251953459647ad" /><Relationship Type="http://schemas.openxmlformats.org/officeDocument/2006/relationships/notesSlide" Target="/ppt/notesSlides/notesSlide8.xml" Id="R2ab6da5e46d741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f258b70abb49c9" /><Relationship Type="http://schemas.openxmlformats.org/officeDocument/2006/relationships/notesSlide" Target="/ppt/notesSlides/notesSlide9.xml" Id="Re1a51aba78124f0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b6ee235e1c4e72" /><Relationship Type="http://schemas.openxmlformats.org/officeDocument/2006/relationships/notesSlide" Target="/ppt/notesSlides/notesSlide10.xml" Id="R6b95612001534d1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8ed070b4ae4fcf" /><Relationship Type="http://schemas.openxmlformats.org/officeDocument/2006/relationships/notesSlide" Target="/ppt/notesSlides/notesSlide11.xml" Id="R5d2832cdaba84d5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38af4fbbf34715" /><Relationship Type="http://schemas.openxmlformats.org/officeDocument/2006/relationships/notesSlide" Target="/ppt/notesSlides/notesSlide12.xml" Id="Rec2b2af3aa794f1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5e40ea8e554b2a" /><Relationship Type="http://schemas.openxmlformats.org/officeDocument/2006/relationships/notesSlide" Target="/ppt/notesSlides/notesSlide13.xml" Id="R8e34b2c3494e4ec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17ad0411f0423e" /><Relationship Type="http://schemas.openxmlformats.org/officeDocument/2006/relationships/notesSlide" Target="/ppt/notesSlides/notesSlide14.xml" Id="Rf017f96a5625421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E64D3-E9D6-4BE6-9155-6F4006479A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c51f2b02d74435"/>
          <a:srcRect xmlns:a="http://schemas.openxmlformats.org/drawingml/2006/main" l="19722" t="0" r="197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0"/>
            <a:ext cx="62293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E9A90B63-B82B-40D3-8BAD-26DC01FC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행사·홍보 제안서</a:t>
            </a:r>
          </a:p>
        </p:txBody>
      </p:sp>
      <p:sp>
        <p:nvSpPr>
          <p:cNvPr id="3" name="bid3-title">
            <a:extLst xmlns:a="http://schemas.openxmlformats.org/drawingml/2006/main">
              <a:ext uri="{FF2B5EF4-FFF2-40B4-BE49-F238E27FC236}">
                <a16:creationId xmlns:a16="http://schemas.microsoft.com/office/drawing/2014/main" id="{6E66BEC9-2A41-4ED1-8C26-8C782BC0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4667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행사·홍보</a:t>
            </a:r>
          </a:p>
          <a:p xmlns:a="http://schemas.openxmlformats.org/drawingml/2006/main">
            <a:pPr algn="l">
              <a:defRPr sz="4200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사업 제안서</a:t>
            </a:r>
          </a:p>
        </p:txBody>
      </p:sp>
      <p:sp>
        <p:nvSpPr>
          <p:cNvPr id="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C9889A4-DDC8-4E2B-9EA5-816707DB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4667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사업명 · 발주기관 · 제안사 작성</a:t>
            </a:r>
          </a:p>
        </p:txBody>
      </p:sp>
      <p:sp>
        <p:nvSpPr>
          <p:cNvPr id="5" name="bid3-fixed-design-name">
            <a:extLst xmlns:a="http://schemas.openxmlformats.org/drawingml/2006/main">
              <a:ext uri="{FF2B5EF4-FFF2-40B4-BE49-F238E27FC236}">
                <a16:creationId xmlns:a16="http://schemas.microsoft.com/office/drawing/2014/main" id="{65699073-A5D2-46F6-826C-AB5A9A0D1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4667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이벤트 익스피리언스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5F51980F-11D9-4B06-822C-E6AEEC7E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3722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50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485531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97EA70F8-E3AD-42CB-BA80-DB0D00B4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행사·홍보 / 제안 구성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0AB0BA12-7D4D-440E-8B2B-AA595DA2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행사 운영 제안의 구성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547660B-99CF-4EC2-89F4-CA99051A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행사 전 안내부터 현장 경험과 결과 보고까지 하나의 흐름으로 연결합니다.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85E419DB-181E-41F1-AD94-0FFC7A35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행사·홍보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98675942-54C3-417D-B614-2ECF6B70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5605A44C-1912-4C1C-A8CD-8E25BA98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C09FB18-55E8-4CC0-B622-4F1646F6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22BFE59A-0672-40E5-83F7-10167095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638425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행사 경험</a:t>
            </a:r>
          </a:p>
        </p:txBody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FC37DB1-3F35-49F4-8E50-5B9F9A52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667000"/>
            <a:ext cx="6029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0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C317B19D-AE60-4048-BB63-BF577FB4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57550"/>
            <a:ext cx="9829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DB"/>
          </a:solidFill>
          <a:ln xmlns:a="http://schemas.openxmlformats.org/drawingml/2006/main" w="0">
            <a:noFill/>
          </a:ln>
        </p:spPr>
      </p:sp>
      <p:sp>
        <p:nvSpPr>
          <p:cNvPr id="1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FF695D87-4E5D-48D7-914C-9746CBC6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E27ED13-CAA9-48CB-B24A-15DA460E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29000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현장 운영</a:t>
            </a:r>
          </a:p>
        </p:txBody>
      </p: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7446625-618A-4C87-ABFF-C209FA61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457575"/>
            <a:ext cx="6029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6941AC58-34E8-410C-B32A-6CF36888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48125"/>
            <a:ext cx="9829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DB"/>
          </a:solidFill>
          <a:ln xmlns:a="http://schemas.openxmlformats.org/drawingml/2006/main" w="0">
            <a:noFill/>
          </a:ln>
        </p:spPr>
      </p:sp>
      <p:sp>
        <p:nvSpPr>
          <p:cNvPr id="1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E3107C5-4C93-473F-9042-6ADA3166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5CA1CAA-2196-4230-8BD8-85EDF31D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19575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참여와 안전</a:t>
            </a:r>
          </a:p>
        </p:txBody>
      </p:sp>
      <p:sp>
        <p:nvSpPr>
          <p:cNvPr id="1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F10E1FA-5832-4FB2-B9FE-AD060445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248150"/>
            <a:ext cx="6029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8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EE97B6AC-2662-4487-AB11-C93C06A9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38700"/>
            <a:ext cx="9829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DB"/>
          </a:solidFill>
          <a:ln xmlns:a="http://schemas.openxmlformats.org/drawingml/2006/main" w="0">
            <a:noFill/>
          </a:ln>
        </p:spPr>
      </p:sp>
      <p:sp>
        <p:nvSpPr>
          <p:cNvPr id="1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3BF1D7F-9292-44E9-A34B-15B5F4DA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9A80D50-BD2B-4C95-B879-75EA3361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10150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성과와 정산</a:t>
            </a:r>
          </a:p>
        </p:txBody>
      </p:sp>
      <p:sp>
        <p:nvSpPr>
          <p:cNvPr id="2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1631CFF-F807-4D3F-A132-6F85CA60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5038725"/>
            <a:ext cx="6029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</p:spTree>
    <p:extLst>
      <p:ext uri="{BB962C8B-B14F-4D97-AF65-F5344CB8AC3E}">
        <p14:creationId xmlns:p14="http://schemas.microsoft.com/office/powerpoint/2010/main" val="10873384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8B626A74-D70E-4F2D-BDF0-F06BD11E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행사·홍보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C2A5D315-77FB-4185-AB27-FC54511A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행사 콘셉트와 참여 가치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2C63F469-66DA-4E8C-9935-7FA76A0F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지역 산업의 경험과 협업 기회를 연결하는 가상 포럼입니다.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4305EEEB-3FB8-4420-8345-66AAFC24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행사·홍보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12F8620B-E7F8-49C0-B8F1-18A4F679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01D53311-88F3-470E-83E9-22E55ED2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DE80A1-B1B4-42C0-8C92-D43036B8C3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8eec3b45cf4ad4"/>
          <a:srcRect xmlns:a="http://schemas.openxmlformats.org/drawingml/2006/main" l="0" t="4318" r="0" b="43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43650" y="2667000"/>
            <a:ext cx="5238750" cy="3190875"/>
          </a:xfrm>
          <a:prstGeom xmlns:a="http://schemas.openxmlformats.org/drawingml/2006/main" prst="rect">
            <a:avLst/>
          </a:prstGeom>
        </p:spPr>
      </p:pic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5E84B9B7-409E-4BD9-8149-5A4E7779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5162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현장 사례 공유</a:t>
            </a:r>
          </a:p>
        </p:txBody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0E30434-166E-4200-B2E6-BF5FC469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51625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A10662D-AA17-45C8-8744-A63F5594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5162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참여자 간 연결</a:t>
            </a:r>
          </a:p>
        </p:txBody>
      </p:sp>
      <p:sp>
        <p:nvSpPr>
          <p:cNvPr id="1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5DBBAD4B-7571-4F9F-BAB2-06FE2EC6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51625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960D890-C246-426E-A5CD-41549AD8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5162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참여 이후 활용</a:t>
            </a:r>
          </a:p>
        </p:txBody>
      </p: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D27A8F6-1A58-4367-8312-EFBD3F34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51625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4" name="bid3-fixed-image-caption">
            <a:extLst xmlns:a="http://schemas.openxmlformats.org/drawingml/2006/main">
              <a:ext uri="{FF2B5EF4-FFF2-40B4-BE49-F238E27FC236}">
                <a16:creationId xmlns:a16="http://schemas.microsoft.com/office/drawing/2014/main" id="{27D06AA2-F729-40DE-AE23-9FE786CD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9626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분야 설명용 사진 · 실제 제안사 수행 사진 아님</a:t>
            </a:r>
          </a:p>
        </p:txBody>
      </p:sp>
    </p:spTree>
    <p:extLst>
      <p:ext uri="{BB962C8B-B14F-4D97-AF65-F5344CB8AC3E}">
        <p14:creationId xmlns:p14="http://schemas.microsoft.com/office/powerpoint/2010/main" val="9959194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4E33DB58-E0ED-4071-AC42-FEDF36BF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행사·홍보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00C6EDD1-CF0E-41C7-B1AC-308E9F2D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프로그램과 운영 큐시트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85FE912-4EEC-46FD-A756-CC94E05C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가상 행사 운영표이며 실제 시간·규모·출연자는 공고와 협의로 확정합니다.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369E1B65-40A5-4F80-B735-1C111D4E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행사·홍보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CAEB1805-BA34-4664-9DDE-3A17687C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AB4AE09D-2CF0-4661-B46C-0F541D34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7BF335-6CB1-4C1B-8F74-2366B171F9B4}"/>
              </a:ext>
            </a:extLst>
          </p:cNvPr>
          <p:cNvGraphicFramePr/>
          <p:nvPr/>
        </p:nvGraphicFramePr>
        <p:xfrm>
          <a:off xmlns:a="http://schemas.openxmlformats.org/drawingml/2006/main" x="609600" y="2657475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2571750"/>
                <a:gridCol w="3781425"/>
                <a:gridCol w="2857500"/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순서</a:t>
                      </a:r>
                    </a:p>
                  </a:txBody>
                  <a:tcPr marL="142875" marR="142875" marT="114300" marB="95250" anchor="ctr">
                    <a:solidFill>
                      <a:srgbClr val="443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프로그램</a:t>
                      </a:r>
                    </a:p>
                  </a:txBody>
                  <a:tcPr marL="142875" marR="142875" marT="114300" marB="95250" anchor="ctr">
                    <a:solidFill>
                      <a:srgbClr val="443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현장 큐</a:t>
                      </a:r>
                    </a:p>
                  </a:txBody>
                  <a:tcPr marL="142875" marR="142875" marT="114300" marB="95250" anchor="ctr">
                    <a:solidFill>
                      <a:srgbClr val="443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 역할</a:t>
                      </a:r>
                    </a:p>
                  </a:txBody>
                  <a:tcPr marL="142875" marR="142875" marT="114300" marB="95250" anchor="ctr">
                    <a:solidFill>
                      <a:srgbClr val="44312F"/>
                    </a:solidFill>
                  </a:tcPr>
                </a:tc>
              </a:tr>
              <a:tr h="654844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44312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입장</a:t>
                      </a:r>
                    </a:p>
                  </a:txBody>
                  <a:tcPr marL="142875" marR="142875" marT="114300" marB="95250" anchor="ctr">
                    <a:solidFill>
                      <a:srgbClr val="F5E3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4312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F5E3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4312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5E3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4312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5E3DB"/>
                    </a:solidFill>
                  </a:tcPr>
                </a:tc>
              </a:tr>
              <a:tr h="654844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44312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본 행사</a:t>
                      </a:r>
                    </a:p>
                  </a:txBody>
                  <a:tcPr marL="142875" marR="142875" marT="114300" marB="95250" anchor="ctr">
                    <a:solidFill>
                      <a:srgbClr val="FFF8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4312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FFF8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4312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FF8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4312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FF8F4"/>
                    </a:solidFill>
                  </a:tcPr>
                </a:tc>
              </a:tr>
              <a:tr h="654844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44312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교류</a:t>
                      </a:r>
                    </a:p>
                  </a:txBody>
                  <a:tcPr marL="142875" marR="142875" marT="114300" marB="95250" anchor="ctr">
                    <a:solidFill>
                      <a:srgbClr val="F5E3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4312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F5E3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4312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5E3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4312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5E3DB"/>
                    </a:solidFill>
                  </a:tcPr>
                </a:tc>
              </a:tr>
              <a:tr h="654844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44312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종료</a:t>
                      </a:r>
                    </a:p>
                  </a:txBody>
                  <a:tcPr marL="142875" marR="142875" marT="114300" marB="95250" anchor="ctr">
                    <a:solidFill>
                      <a:srgbClr val="FFF8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4312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FFF8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4312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FF8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4312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FF8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62377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5ADE4CF7-EF99-47D1-8A85-384CD9B5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행사·홍보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463823AB-A947-47CC-8BCE-ECFA06DB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공간 구성과 현장 동선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442F9C4-F2E2-488B-83DE-3A7EEEDE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장소 도면이 아닌 기능 구역의 개념 구성입니다.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6DEA09DE-AC14-44E5-9CB2-A7A04F25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행사·홍보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2FADDF22-AC15-43F4-AC14-15C2631F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C3103BC2-A2B4-4145-9B46-D9767DA0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AC4F9DC-60F2-4062-B739-3CDD1E35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입장 구역</a:t>
            </a:r>
          </a:p>
        </p:txBody>
      </p:sp>
      <p:sp>
        <p:nvSpPr>
          <p:cNvPr id="8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8916E2CC-7133-4B69-A18C-B90D27AA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57475"/>
            <a:ext cx="27114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DB"/>
          </a:solidFill>
          <a:ln xmlns:a="http://schemas.openxmlformats.org/drawingml/2006/main" w="9525">
            <a:solidFill>
              <a:srgbClr val="B54F3F"/>
            </a:solidFill>
          </a:ln>
        </p:spPr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2FB6E000-2EF2-4486-BF39-C9CF45A7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28925"/>
            <a:ext cx="2368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등록·문의</a:t>
            </a:r>
          </a:p>
        </p:txBody>
      </p:sp>
      <p:sp>
        <p:nvSpPr>
          <p:cNvPr id="10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61155179-8875-4DEA-8054-7854A48A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2657475"/>
            <a:ext cx="27114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DB"/>
          </a:solidFill>
          <a:ln xmlns:a="http://schemas.openxmlformats.org/drawingml/2006/main" w="9525">
            <a:solidFill>
              <a:srgbClr val="B54F3F"/>
            </a:solidFill>
          </a:ln>
        </p:spPr>
      </p:sp>
      <p:sp>
        <p:nvSpPr>
          <p:cNvPr id="1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3E8B7E6-5785-4489-8455-87A79596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0450" y="2828925"/>
            <a:ext cx="2368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대기·안내</a:t>
            </a:r>
          </a:p>
        </p:txBody>
      </p:sp>
      <p:sp>
        <p:nvSpPr>
          <p:cNvPr id="12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3DD53D31-7C9A-4B39-80F3-63918C43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0950" y="2657475"/>
            <a:ext cx="27114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DB"/>
          </a:solidFill>
          <a:ln xmlns:a="http://schemas.openxmlformats.org/drawingml/2006/main" w="9525">
            <a:solidFill>
              <a:srgbClr val="B54F3F"/>
            </a:solidFill>
          </a:ln>
        </p:spPr>
      </p: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29C83AE6-D775-4AB1-A539-61DA1F62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2400" y="2828925"/>
            <a:ext cx="2368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자료 수령</a:t>
            </a:r>
          </a:p>
        </p:txBody>
      </p:sp>
      <p:cxnSp>
        <p:nvCxnSpPr>
          <p:cNvPr id="14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696AFB10-BC6D-46BE-A07C-EB5C9542E495}"/>
              </a:ext>
            </a:extLst>
          </p:cNvPr>
          <p:cNvCxnSpPr/>
          <p:nvPr/>
        </p:nvCxnSpPr>
        <p:spPr>
          <a:xfrm xmlns:a="http://schemas.openxmlformats.org/drawingml/2006/main">
            <a:off x="7334250" y="3448050"/>
            <a:ext cx="0" cy="3048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B54F3F"/>
            </a:solidFill>
          </a:ln>
        </p:spPr>
      </p:cxnSp>
      <p:sp>
        <p:nvSpPr>
          <p:cNvPr id="1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77370BE-0454-4217-A33D-838B981F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행사 구역</a:t>
            </a:r>
          </a:p>
        </p:txBody>
      </p:sp>
      <p:sp>
        <p:nvSpPr>
          <p:cNvPr id="16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01A1B7AB-3017-4513-944B-C722572D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752850"/>
            <a:ext cx="27114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DB"/>
          </a:solidFill>
          <a:ln xmlns:a="http://schemas.openxmlformats.org/drawingml/2006/main" w="9525">
            <a:solidFill>
              <a:srgbClr val="B54F3F"/>
            </a:solidFill>
          </a:ln>
        </p:spPr>
      </p:sp>
      <p:sp>
        <p:nvSpPr>
          <p:cNvPr id="1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6A447D7-3CD3-466E-86F2-D2F22D99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24300"/>
            <a:ext cx="2368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무대·발표</a:t>
            </a:r>
          </a:p>
        </p:txBody>
      </p:sp>
      <p:sp>
        <p:nvSpPr>
          <p:cNvPr id="18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84355EE1-9D94-4E4A-89A3-F260BE84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3752850"/>
            <a:ext cx="27114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DB"/>
          </a:solidFill>
          <a:ln xmlns:a="http://schemas.openxmlformats.org/drawingml/2006/main" w="9525">
            <a:solidFill>
              <a:srgbClr val="B54F3F"/>
            </a:solidFill>
          </a:ln>
        </p:spPr>
      </p:sp>
      <p:sp>
        <p:nvSpPr>
          <p:cNvPr id="1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4758B73-3494-4C0A-B6B0-BCE350BB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0450" y="3924300"/>
            <a:ext cx="2368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참여 좌석</a:t>
            </a:r>
          </a:p>
        </p:txBody>
      </p:sp>
      <p:sp>
        <p:nvSpPr>
          <p:cNvPr id="20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0E60D56B-6BDC-4DD2-A58E-EA7DF61C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0950" y="3752850"/>
            <a:ext cx="27114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DB"/>
          </a:solidFill>
          <a:ln xmlns:a="http://schemas.openxmlformats.org/drawingml/2006/main" w="9525">
            <a:solidFill>
              <a:srgbClr val="B54F3F"/>
            </a:solidFill>
          </a:ln>
        </p:spPr>
      </p:sp>
      <p:sp>
        <p:nvSpPr>
          <p:cNvPr id="2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9582ECFD-F6B6-4D22-B0EA-F1AE7B96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2400" y="3924300"/>
            <a:ext cx="2368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기술 운영</a:t>
            </a:r>
          </a:p>
        </p:txBody>
      </p:sp>
      <p:cxnSp>
        <p:nvCxnSpPr>
          <p:cNvPr id="22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65715B12-33FF-4A3F-9481-3765B505A25E}"/>
              </a:ext>
            </a:extLst>
          </p:cNvPr>
          <p:cNvCxnSpPr/>
          <p:nvPr/>
        </p:nvCxnSpPr>
        <p:spPr>
          <a:xfrm xmlns:a="http://schemas.openxmlformats.org/drawingml/2006/main">
            <a:off x="7334250" y="4543425"/>
            <a:ext cx="0" cy="3048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B54F3F"/>
            </a:solidFill>
          </a:ln>
        </p:spPr>
      </p:cxnSp>
      <p:sp>
        <p:nvSpPr>
          <p:cNvPr id="2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92B8045-358A-497E-98F2-A9284141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지원 구역</a:t>
            </a:r>
          </a:p>
        </p:txBody>
      </p:sp>
      <p:sp>
        <p:nvSpPr>
          <p:cNvPr id="24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F757D171-19CC-43D4-A13D-73364F03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848225"/>
            <a:ext cx="27114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DB"/>
          </a:solidFill>
          <a:ln xmlns:a="http://schemas.openxmlformats.org/drawingml/2006/main" w="9525">
            <a:solidFill>
              <a:srgbClr val="B54F3F"/>
            </a:solidFill>
          </a:ln>
        </p:spPr>
      </p:sp>
      <p:sp>
        <p:nvSpPr>
          <p:cNvPr id="2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FFE7B68-A0E3-40D5-8600-45BCEBCA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019675"/>
            <a:ext cx="2368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교류 공간</a:t>
            </a:r>
          </a:p>
        </p:txBody>
      </p:sp>
      <p:sp>
        <p:nvSpPr>
          <p:cNvPr id="26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EE8AB2A9-D193-4B9F-84B5-07BAEAD2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4848225"/>
            <a:ext cx="27114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DB"/>
          </a:solidFill>
          <a:ln xmlns:a="http://schemas.openxmlformats.org/drawingml/2006/main" w="9525">
            <a:solidFill>
              <a:srgbClr val="B54F3F"/>
            </a:solidFill>
          </a:ln>
        </p:spPr>
      </p:sp>
      <p:sp>
        <p:nvSpPr>
          <p:cNvPr id="2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94EF41AA-E3D5-466D-85B5-DB3BA749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0450" y="5019675"/>
            <a:ext cx="2368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운영 본부</a:t>
            </a:r>
          </a:p>
        </p:txBody>
      </p:sp>
      <p:sp>
        <p:nvSpPr>
          <p:cNvPr id="28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1322DFF5-3FD1-450E-922F-369D50D6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0950" y="4848225"/>
            <a:ext cx="27114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DB"/>
          </a:solidFill>
          <a:ln xmlns:a="http://schemas.openxmlformats.org/drawingml/2006/main" w="9525">
            <a:solidFill>
              <a:srgbClr val="B54F3F"/>
            </a:solidFill>
          </a:ln>
        </p:spPr>
      </p:sp>
      <p:sp>
        <p:nvSpPr>
          <p:cNvPr id="2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57F1F178-5E0D-4C31-8AFC-7E626CA6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2400" y="5019675"/>
            <a:ext cx="2368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응급·비상 지원</a:t>
            </a:r>
          </a:p>
        </p:txBody>
      </p:sp>
    </p:spTree>
    <p:extLst>
      <p:ext uri="{BB962C8B-B14F-4D97-AF65-F5344CB8AC3E}">
        <p14:creationId xmlns:p14="http://schemas.microsoft.com/office/powerpoint/2010/main" val="7144495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C1D58C4C-D294-482E-873C-B0CBAF3D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행사·홍보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10C37D53-D057-4B3A-8862-8D09DC61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참가자 여정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248EFCB-5847-430C-9178-EA43584A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참여자가 필요한 정보를 각 시점에 받을 수 있도록 운영합니다.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68268061-8C4E-4AB1-B769-79388F0D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행사·홍보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34239313-A0A7-4CCB-BFA6-852E071E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F390D457-B389-42C6-98D5-8AE05F5B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50463095-A5E6-4F16-A256-FBD66AF6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B1F4A463-CB9A-4E02-A0C3-7E77F331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DB"/>
          </a:solidFill>
          <a:ln xmlns:a="http://schemas.openxmlformats.org/drawingml/2006/main" w="9525">
            <a:solidFill>
              <a:srgbClr val="B54F3F"/>
            </a:solidFill>
          </a:ln>
        </p:spPr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7CC2B60-CDB2-4F4B-9F83-44015647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행사 전</a:t>
            </a:r>
          </a:p>
        </p:txBody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F76EF697-8965-4725-B896-DBE0C191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11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03B6F337-8AAC-4A04-AD55-8654A200E40D}"/>
              </a:ext>
            </a:extLst>
          </p:cNvPr>
          <p:cNvCxnSpPr/>
          <p:nvPr/>
        </p:nvCxnSpPr>
        <p:spPr>
          <a:xfrm xmlns:a="http://schemas.openxmlformats.org/drawingml/2006/main">
            <a:off x="3109913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B54F3F"/>
            </a:solidFill>
          </a:ln>
        </p:spPr>
      </p:cxn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01AB491-45EB-4264-ACDB-6A6DAFA4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FD26E952-C694-4CC5-A52A-A12E8EC18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DB"/>
          </a:solidFill>
          <a:ln xmlns:a="http://schemas.openxmlformats.org/drawingml/2006/main" w="9525">
            <a:solidFill>
              <a:srgbClr val="B54F3F"/>
            </a:solidFill>
          </a:ln>
        </p:spPr>
      </p:sp>
      <p:sp>
        <p:nvSpPr>
          <p:cNvPr id="1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242FE836-0B04-4646-9855-76582991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도착</a:t>
            </a:r>
          </a:p>
        </p:txBody>
      </p:sp>
      <p:sp>
        <p:nvSpPr>
          <p:cNvPr id="1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BD46FA3-274B-420D-AD96-D699895D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16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319295E7-81FA-4623-995C-F2C9CA8508F5}"/>
              </a:ext>
            </a:extLst>
          </p:cNvPr>
          <p:cNvCxnSpPr/>
          <p:nvPr/>
        </p:nvCxnSpPr>
        <p:spPr>
          <a:xfrm xmlns:a="http://schemas.openxmlformats.org/drawingml/2006/main">
            <a:off x="5934075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B54F3F"/>
            </a:solidFill>
          </a:ln>
        </p:spPr>
      </p:cxnSp>
      <p:sp>
        <p:nvSpPr>
          <p:cNvPr id="1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8D4AB7D-B1B1-4B2E-987B-F979EF7E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8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90542B9E-0C1D-4354-BFAD-769C5C79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DB"/>
          </a:solidFill>
          <a:ln xmlns:a="http://schemas.openxmlformats.org/drawingml/2006/main" w="9525">
            <a:solidFill>
              <a:srgbClr val="B54F3F"/>
            </a:solidFill>
          </a:ln>
        </p:spPr>
      </p:sp>
      <p:sp>
        <p:nvSpPr>
          <p:cNvPr id="1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08C10B8-4C39-4E93-AFC4-EDB285EA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참여</a:t>
            </a:r>
          </a:p>
        </p:txBody>
      </p:sp>
      <p:sp>
        <p:nvSpPr>
          <p:cNvPr id="2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176A958-146F-47B6-9AED-ED299903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21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FF514679-FA8F-4C37-B09C-66F1CF767874}"/>
              </a:ext>
            </a:extLst>
          </p:cNvPr>
          <p:cNvCxnSpPr/>
          <p:nvPr/>
        </p:nvCxnSpPr>
        <p:spPr>
          <a:xfrm xmlns:a="http://schemas.openxmlformats.org/drawingml/2006/main">
            <a:off x="8758238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B54F3F"/>
            </a:solidFill>
          </a:ln>
        </p:spPr>
      </p:cxnSp>
      <p:sp>
        <p:nvSpPr>
          <p:cNvPr id="2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5761A3B-31B6-40FD-8737-6C533A5D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3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88C29898-E850-43EB-A383-A20DFAE5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DB"/>
          </a:solidFill>
          <a:ln xmlns:a="http://schemas.openxmlformats.org/drawingml/2006/main" w="9525">
            <a:solidFill>
              <a:srgbClr val="B54F3F"/>
            </a:solidFill>
          </a:ln>
        </p:spPr>
      </p:sp>
      <p:sp>
        <p:nvSpPr>
          <p:cNvPr id="2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1388BEC-B293-4AA5-9076-89395943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행사 후</a:t>
            </a:r>
          </a:p>
        </p:txBody>
      </p:sp>
      <p:sp>
        <p:nvSpPr>
          <p:cNvPr id="2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3B598E9-CE11-4121-A440-198DA959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</p:spTree>
    <p:extLst>
      <p:ext uri="{BB962C8B-B14F-4D97-AF65-F5344CB8AC3E}">
        <p14:creationId xmlns:p14="http://schemas.microsoft.com/office/powerpoint/2010/main" val="4133980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66A84A16-B80E-4C10-AAAF-E469EC90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행사·홍보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0BC917CC-EA2F-490E-989C-30E31661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홍보 채널과 콘텐츠 구성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06783A7-D948-410D-ACFB-A0127865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대상과 채널의 특성에 맞춰 메시지와 참여 경로를 연결합니다.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4605E782-AF19-43D9-A7C8-E8690C28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행사·홍보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A6F6A19E-387F-4FBE-8AB9-E514A56C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FD766B30-BDA2-4176-87B9-D69B1DF9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41E3358-727C-4CC2-8A35-51396C36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335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427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4D5C99E9-6A9C-4C9F-97DE-BDD71F81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335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F3F"/>
          </a:solidFill>
          <a:ln xmlns:a="http://schemas.openxmlformats.org/drawingml/2006/main" w="0">
            <a:noFill/>
          </a:ln>
        </p:spPr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FA16939-43DC-4FE3-AE77-551D6921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335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기관 채널</a:t>
            </a:r>
          </a:p>
        </p:txBody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94D9C2A1-4B13-46B9-A469-77213EB4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335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A164A7E-2A34-4766-BCB2-9109048A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95575"/>
            <a:ext cx="335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427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9A5E105F-A32E-4B31-9C31-6304024C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62350"/>
            <a:ext cx="335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F3F"/>
          </a:solidFill>
          <a:ln xmlns:a="http://schemas.openxmlformats.org/drawingml/2006/main" w="0">
            <a:noFill/>
          </a:ln>
        </p:spPr>
      </p: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FF9F790F-26EC-447D-A902-1320D691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76675"/>
            <a:ext cx="335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참여 커뮤니티</a:t>
            </a:r>
          </a:p>
        </p:txBody>
      </p:sp>
      <p:sp>
        <p:nvSpPr>
          <p:cNvPr id="1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288F5CB-0DE0-40A0-A148-3DBDBF61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781550"/>
            <a:ext cx="335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8225F0D-EC35-4449-B08D-C45D82EF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95575"/>
            <a:ext cx="335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427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95100F67-7BFC-4573-8810-85BAD947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62350"/>
            <a:ext cx="335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F3F"/>
          </a:solidFill>
          <a:ln xmlns:a="http://schemas.openxmlformats.org/drawingml/2006/main" w="0">
            <a:noFill/>
          </a:ln>
        </p:spPr>
      </p:sp>
      <p:sp>
        <p:nvSpPr>
          <p:cNvPr id="1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6911108-8B50-4466-BE64-9492F2C5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76675"/>
            <a:ext cx="335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현장·후속 콘텐츠</a:t>
            </a:r>
          </a:p>
        </p:txBody>
      </p:sp>
      <p:sp>
        <p:nvSpPr>
          <p:cNvPr id="1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85B32F2-335C-4F34-9024-6FEE1577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81550"/>
            <a:ext cx="335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</p:spTree>
    <p:extLst>
      <p:ext uri="{BB962C8B-B14F-4D97-AF65-F5344CB8AC3E}">
        <p14:creationId xmlns:p14="http://schemas.microsoft.com/office/powerpoint/2010/main" val="13572581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8FA5FE0D-5761-4B7F-8656-DCB58CA1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행사·홍보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92549679-1D34-4725-8583-24B41503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현장 인력과 책임 분담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B750634-5FA6-4FF4-8F47-8117EDE0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실명·인원은 배치 자료를 확인한 뒤 반영합니다.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1B5D3CCA-EB3E-439B-A9EF-AEC69892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행사·홍보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3484B931-0225-46C1-A529-3F55B98E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61550A5E-31DB-4C8B-9AF7-1F448A6D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AC25F0-1DBC-4547-9D5A-4073788D6A5A}"/>
              </a:ext>
            </a:extLst>
          </p:cNvPr>
          <p:cNvGraphicFramePr/>
          <p:nvPr/>
        </p:nvGraphicFramePr>
        <p:xfrm>
          <a:off xmlns:a="http://schemas.openxmlformats.org/drawingml/2006/main" x="609600" y="2657475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343400"/>
                <a:gridCol w="4343400"/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142875" marR="142875" marT="114300" marB="95250" anchor="ctr">
                    <a:solidFill>
                      <a:srgbClr val="443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현장 책임</a:t>
                      </a:r>
                    </a:p>
                  </a:txBody>
                  <a:tcPr marL="142875" marR="142875" marT="114300" marB="95250" anchor="ctr">
                    <a:solidFill>
                      <a:srgbClr val="443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연결할 업무</a:t>
                      </a:r>
                    </a:p>
                  </a:txBody>
                  <a:tcPr marL="142875" marR="142875" marT="114300" marB="95250" anchor="ctr">
                    <a:solidFill>
                      <a:srgbClr val="44312F"/>
                    </a:solidFill>
                  </a:tcPr>
                </a:tc>
              </a:tr>
              <a:tr h="654844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44312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 총괄</a:t>
                      </a:r>
                    </a:p>
                  </a:txBody>
                  <a:tcPr marL="142875" marR="142875" marT="114300" marB="95250" anchor="ctr">
                    <a:solidFill>
                      <a:srgbClr val="F5E3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44312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F5E3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44312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5E3DB"/>
                    </a:solidFill>
                  </a:tcPr>
                </a:tc>
              </a:tr>
              <a:tr h="654844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44312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무대·기술</a:t>
                      </a:r>
                    </a:p>
                  </a:txBody>
                  <a:tcPr marL="142875" marR="142875" marT="114300" marB="95250" anchor="ctr">
                    <a:solidFill>
                      <a:srgbClr val="FFF8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44312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FFF8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44312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FF8F4"/>
                    </a:solidFill>
                  </a:tcPr>
                </a:tc>
              </a:tr>
              <a:tr h="654844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44312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접수·안내</a:t>
                      </a:r>
                    </a:p>
                  </a:txBody>
                  <a:tcPr marL="142875" marR="142875" marT="114300" marB="95250" anchor="ctr">
                    <a:solidFill>
                      <a:srgbClr val="F5E3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44312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F5E3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44312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5E3DB"/>
                    </a:solidFill>
                  </a:tcPr>
                </a:tc>
              </a:tr>
              <a:tr h="654844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44312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기록·정산</a:t>
                      </a:r>
                    </a:p>
                  </a:txBody>
                  <a:tcPr marL="142875" marR="142875" marT="114300" marB="95250" anchor="ctr">
                    <a:solidFill>
                      <a:srgbClr val="FFF8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44312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FFF8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44312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FF8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1324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624D8C39-F690-4646-BBD8-764CFD35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행사·홍보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CC8B3185-FA10-47A9-97CE-2D289E25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제작·리허설·현장 운영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5D7428F6-036E-4725-B5D1-556B4482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일정은 가상 운영 단계이며 실제 마감과 승인 시점을 먼저 확인합니다.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600B3DDC-07D3-4B5B-8EE0-1B63FC17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행사·홍보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52DFA762-4C9C-4FF2-9248-681B6DF5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FC35008F-43F1-435D-9182-0CDBD7F8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C41B058-7839-44BB-B48D-9D27E2D6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사전 제작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D734138-53BD-4CA6-99F2-7A837319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1462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F3B1193-8B57-4F92-97EA-27E045B2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714625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조건·기준·근거 확인 필요</a:t>
            </a:r>
          </a:p>
        </p:txBody>
      </p:sp>
      <p:sp>
        <p:nvSpPr>
          <p:cNvPr id="10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4C567B50-447C-48F3-B107-9FA9DCD2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DB"/>
          </a:solidFill>
          <a:ln xmlns:a="http://schemas.openxmlformats.org/drawingml/2006/main" w="0">
            <a:noFill/>
          </a:ln>
        </p:spPr>
      </p:sp>
      <p:sp>
        <p:nvSpPr>
          <p:cNvPr id="1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B3FC9A6-1176-4017-BD85-8DB59BA3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리허설</a:t>
            </a:r>
          </a:p>
        </p:txBody>
      </p: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5C94410-28C8-4D0E-AE04-021E95D8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8142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EAA95FE-D189-4F52-A3A8-B2B0254E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781425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조건·기준·근거 확인 필요</a:t>
            </a:r>
          </a:p>
        </p:txBody>
      </p:sp>
      <p:sp>
        <p:nvSpPr>
          <p:cNvPr id="1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8449E018-8053-4076-BD87-5C37B08E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DB"/>
          </a:solidFill>
          <a:ln xmlns:a="http://schemas.openxmlformats.org/drawingml/2006/main" w="0">
            <a:noFill/>
          </a:ln>
        </p:spPr>
      </p:sp>
      <p:sp>
        <p:nvSpPr>
          <p:cNvPr id="1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11DEEB1-D6A8-4156-8693-2238D04C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현장 운영</a:t>
            </a:r>
          </a:p>
        </p:txBody>
      </p:sp>
      <p:sp>
        <p:nvSpPr>
          <p:cNvPr id="1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5E0D4FC6-9C13-4E51-ACF8-7DE9C53A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84822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F18B3C2-CECB-4A24-88A3-33E3D804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848225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조건·기준·근거 확인 필요</a:t>
            </a:r>
          </a:p>
        </p:txBody>
      </p:sp>
    </p:spTree>
    <p:extLst>
      <p:ext uri="{BB962C8B-B14F-4D97-AF65-F5344CB8AC3E}">
        <p14:creationId xmlns:p14="http://schemas.microsoft.com/office/powerpoint/2010/main" val="2722971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E8BF49ED-2530-482F-A042-68BA2EE9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행사·홍보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80ABE8CA-E16C-469B-9650-CB8F624E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혼잡·시설·비상 상황 대응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4BA551F-BCF9-45B0-9EF9-113DA4DC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현장 조건과 원문 기준에 맞춰 안전 계획을 확정합니다.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D489A8D5-F253-432D-8757-ABC8457E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행사·홍보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8B8225C7-BA89-4F11-B6A4-F8B14460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D6CB3DC9-5299-485D-84DF-BBEE1235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195677-608C-4147-8FBF-A8FA4058B50D}"/>
              </a:ext>
            </a:extLst>
          </p:cNvPr>
          <p:cNvGraphicFramePr/>
          <p:nvPr/>
        </p:nvGraphicFramePr>
        <p:xfrm>
          <a:off xmlns:a="http://schemas.openxmlformats.org/drawingml/2006/main" x="609600" y="2657475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343400"/>
                <a:gridCol w="4343400"/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상황</a:t>
                      </a:r>
                    </a:p>
                  </a:txBody>
                  <a:tcPr marL="142875" marR="142875" marT="114300" marB="95250" anchor="ctr">
                    <a:solidFill>
                      <a:srgbClr val="443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사전 준비</a:t>
                      </a:r>
                    </a:p>
                  </a:txBody>
                  <a:tcPr marL="142875" marR="142875" marT="114300" marB="95250" anchor="ctr">
                    <a:solidFill>
                      <a:srgbClr val="443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현장 판단</a:t>
                      </a:r>
                    </a:p>
                  </a:txBody>
                  <a:tcPr marL="142875" marR="142875" marT="114300" marB="95250" anchor="ctr">
                    <a:solidFill>
                      <a:srgbClr val="44312F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44312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입장 혼잡</a:t>
                      </a:r>
                    </a:p>
                  </a:txBody>
                  <a:tcPr marL="142875" marR="142875" marT="114300" marB="95250" anchor="ctr">
                    <a:solidFill>
                      <a:srgbClr val="F5E3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44312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F5E3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44312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5E3DB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44312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시설·기상</a:t>
                      </a:r>
                    </a:p>
                  </a:txBody>
                  <a:tcPr marL="142875" marR="142875" marT="114300" marB="95250" anchor="ctr">
                    <a:solidFill>
                      <a:srgbClr val="FFF8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44312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FFF8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44312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FF8F4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44312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응급 상황</a:t>
                      </a:r>
                    </a:p>
                  </a:txBody>
                  <a:tcPr marL="142875" marR="142875" marT="114300" marB="95250" anchor="ctr">
                    <a:solidFill>
                      <a:srgbClr val="F5E3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44312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F5E3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44312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5E3D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79606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B9B54F35-BC4E-4BFA-B1DD-DCF34052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행사·홍보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A0A71E15-99DC-4779-B7AF-1B9EF111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프로그램 변경과 대체 운영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28827DB-0325-4408-B680-477ADA69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중요한 변경은 운영 총괄과 발주처의 판단·기록을 거칩니다.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E507A859-29E8-4177-81B3-74523F80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행사·홍보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818D11DB-7F7E-4092-A4B5-A4365DA6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A27E3F93-8074-44F2-AA0B-5982CDDB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7453F7F-FD1F-4A84-A0FF-60C8686E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616B8920-6272-47E8-B43E-BB514287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DB"/>
          </a:solidFill>
          <a:ln xmlns:a="http://schemas.openxmlformats.org/drawingml/2006/main" w="9525">
            <a:solidFill>
              <a:srgbClr val="B54F3F"/>
            </a:solidFill>
          </a:ln>
        </p:spPr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6EA7BC7-8010-4EEC-ADC8-1CBE1459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상황 확인</a:t>
            </a:r>
          </a:p>
        </p:txBody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82D7052-5B56-40A4-8CAF-D33E5F4D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11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F7EF333F-DDCE-4E00-92BF-6EE277632185}"/>
              </a:ext>
            </a:extLst>
          </p:cNvPr>
          <p:cNvCxnSpPr/>
          <p:nvPr/>
        </p:nvCxnSpPr>
        <p:spPr>
          <a:xfrm xmlns:a="http://schemas.openxmlformats.org/drawingml/2006/main">
            <a:off x="3109913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B54F3F"/>
            </a:solidFill>
          </a:ln>
        </p:spPr>
      </p:cxn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4DF3A43-4B32-4BA5-B141-8B22B518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3D42596B-B440-488A-AFED-6D149C3F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DB"/>
          </a:solidFill>
          <a:ln xmlns:a="http://schemas.openxmlformats.org/drawingml/2006/main" w="9525">
            <a:solidFill>
              <a:srgbClr val="B54F3F"/>
            </a:solidFill>
          </a:ln>
        </p:spPr>
      </p:sp>
      <p:sp>
        <p:nvSpPr>
          <p:cNvPr id="1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7FFA8E7-FE3A-45D2-9418-5BB62165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영향 검토</a:t>
            </a:r>
          </a:p>
        </p:txBody>
      </p:sp>
      <p:sp>
        <p:nvSpPr>
          <p:cNvPr id="1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0D032E8-EF92-4159-914E-B03E6999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16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06CEC015-952E-49B0-ADDA-EE2FEA72AF57}"/>
              </a:ext>
            </a:extLst>
          </p:cNvPr>
          <p:cNvCxnSpPr/>
          <p:nvPr/>
        </p:nvCxnSpPr>
        <p:spPr>
          <a:xfrm xmlns:a="http://schemas.openxmlformats.org/drawingml/2006/main">
            <a:off x="5934075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B54F3F"/>
            </a:solidFill>
          </a:ln>
        </p:spPr>
      </p:cxnSp>
      <p:sp>
        <p:nvSpPr>
          <p:cNvPr id="1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AF35A70-DC24-435F-8B5F-FB439435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8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5406E5ED-EF8C-4678-91E1-BA17563B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DB"/>
          </a:solidFill>
          <a:ln xmlns:a="http://schemas.openxmlformats.org/drawingml/2006/main" w="9525">
            <a:solidFill>
              <a:srgbClr val="B54F3F"/>
            </a:solidFill>
          </a:ln>
        </p:spPr>
      </p:sp>
      <p:sp>
        <p:nvSpPr>
          <p:cNvPr id="1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DC73AA1-165E-4358-A266-A95342A4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대체안 협의</a:t>
            </a:r>
          </a:p>
        </p:txBody>
      </p:sp>
      <p:sp>
        <p:nvSpPr>
          <p:cNvPr id="2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0C618BE-1EF7-434A-9CC0-6230E688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21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C58C3D9C-5A4E-44F7-B610-38C031091816}"/>
              </a:ext>
            </a:extLst>
          </p:cNvPr>
          <p:cNvCxnSpPr/>
          <p:nvPr/>
        </p:nvCxnSpPr>
        <p:spPr>
          <a:xfrm xmlns:a="http://schemas.openxmlformats.org/drawingml/2006/main">
            <a:off x="8758238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B54F3F"/>
            </a:solidFill>
          </a:ln>
        </p:spPr>
      </p:cxnSp>
      <p:sp>
        <p:nvSpPr>
          <p:cNvPr id="2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54B5F61-288C-4956-85FD-9E2109DA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3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FCD0ED53-AF4D-4D48-9473-036C41B7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DB"/>
          </a:solidFill>
          <a:ln xmlns:a="http://schemas.openxmlformats.org/drawingml/2006/main" w="9525">
            <a:solidFill>
              <a:srgbClr val="B54F3F"/>
            </a:solidFill>
          </a:ln>
        </p:spPr>
      </p:sp>
      <p:sp>
        <p:nvSpPr>
          <p:cNvPr id="2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8BF59F2-2650-44C7-8690-206DDEB8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안내·실행</a:t>
            </a:r>
          </a:p>
        </p:txBody>
      </p:sp>
      <p:sp>
        <p:nvSpPr>
          <p:cNvPr id="2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0B70824-2BC6-47A1-82F2-1B25D43A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</p:spTree>
    <p:extLst>
      <p:ext uri="{BB962C8B-B14F-4D97-AF65-F5344CB8AC3E}">
        <p14:creationId xmlns:p14="http://schemas.microsoft.com/office/powerpoint/2010/main" val="20569974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838A8DBB-051F-40AF-9981-5C3906C6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행사·홍보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E119B3AB-42A5-4FA4-8295-3C832D55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성과 측정과 결과 보고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3EDFF81-1B8D-4345-8058-E24F72F7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결과 수치를 미리 만들지 않고 수집 방식과 검토 기준을 정합니다.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89476105-D00D-4F41-B989-FDC1275E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행사·홍보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B5F3D944-D174-41E3-AA15-4A9A8324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933DCE32-FE2E-4B8F-95CA-579DD7A9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A8F6A4-0BF9-4E99-B8C0-683265C2CA35}"/>
              </a:ext>
            </a:extLst>
          </p:cNvPr>
          <p:cNvGraphicFramePr/>
          <p:nvPr/>
        </p:nvGraphicFramePr>
        <p:xfrm>
          <a:off xmlns:a="http://schemas.openxmlformats.org/drawingml/2006/main" x="609600" y="2657475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343400"/>
                <a:gridCol w="4343400"/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관측 항목</a:t>
                      </a:r>
                    </a:p>
                  </a:txBody>
                  <a:tcPr marL="142875" marR="142875" marT="114300" marB="95250" anchor="ctr">
                    <a:solidFill>
                      <a:srgbClr val="443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수집 기록</a:t>
                      </a:r>
                    </a:p>
                  </a:txBody>
                  <a:tcPr marL="142875" marR="142875" marT="114300" marB="95250" anchor="ctr">
                    <a:solidFill>
                      <a:srgbClr val="443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보고 내용</a:t>
                      </a:r>
                    </a:p>
                  </a:txBody>
                  <a:tcPr marL="142875" marR="142875" marT="114300" marB="95250" anchor="ctr">
                    <a:solidFill>
                      <a:srgbClr val="44312F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44312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참여 흐름</a:t>
                      </a:r>
                    </a:p>
                  </a:txBody>
                  <a:tcPr marL="142875" marR="142875" marT="114300" marB="95250" anchor="ctr">
                    <a:solidFill>
                      <a:srgbClr val="F5E3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44312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F5E3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44312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5E3DB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44312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프로그램 반응</a:t>
                      </a:r>
                    </a:p>
                  </a:txBody>
                  <a:tcPr marL="142875" marR="142875" marT="114300" marB="95250" anchor="ctr">
                    <a:solidFill>
                      <a:srgbClr val="FFF8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44312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FFF8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44312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FF8F4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44312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 결과</a:t>
                      </a:r>
                    </a:p>
                  </a:txBody>
                  <a:tcPr marL="142875" marR="142875" marT="114300" marB="95250" anchor="ctr">
                    <a:solidFill>
                      <a:srgbClr val="F5E3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44312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F5E3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44312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5E3D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50389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6D33A94F-3A33-4519-AB34-EE1004D0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행사·홍보 / 수행 근거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8D9C9942-9E1B-442C-8959-70D36CF9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행사 산출물과 사용 범위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C9E2027-C2CC-4B84-B44F-36CADBC9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제작물·현장 기록·비용 근거를 제출 조건에 맞춰 인계합니다.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0FC5DC4E-C380-42E2-9AA8-65FF3C93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행사·홍보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58906CEF-168F-4C99-8894-CD1CDFE4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7EB68EB2-F5B3-43D4-B8F9-E62F7C83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22AFA6F1-BF40-4E63-AED2-0D1819EF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기획·제작물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8F55F6F-5B74-4756-9AE3-786A482D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5029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27D32F5-F3F8-4527-BCF8-EF0E6236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현장 기록</a:t>
            </a:r>
          </a:p>
        </p:txBody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388EB0B-B032-4572-9622-F583BEB2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5029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8E89E7E-6909-44B3-9089-31CACA1C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결과·정산</a:t>
            </a:r>
          </a:p>
        </p:txBody>
      </p: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5E9DAFEF-A625-4693-8DA0-0D2EA547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5029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3" name="bid3-material-placeholder-heading">
            <a:extLst xmlns:a="http://schemas.openxmlformats.org/drawingml/2006/main">
              <a:ext uri="{FF2B5EF4-FFF2-40B4-BE49-F238E27FC236}">
                <a16:creationId xmlns:a16="http://schemas.microsoft.com/office/drawing/2014/main" id="{F2DF9315-A6C5-4A6D-A3FB-39159D64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57500"/>
            <a:ext cx="4495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원문 자료와 제출 증빙</a:t>
            </a:r>
          </a:p>
        </p:txBody>
      </p:sp>
      <p:sp>
        <p:nvSpPr>
          <p:cNvPr id="14" name="bid3-material-placeholder-copy">
            <a:extLst xmlns:a="http://schemas.openxmlformats.org/drawingml/2006/main">
              <a:ext uri="{FF2B5EF4-FFF2-40B4-BE49-F238E27FC236}">
                <a16:creationId xmlns:a16="http://schemas.microsoft.com/office/drawing/2014/main" id="{01447003-CA9F-4D61-8992-161AE7D5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67125"/>
            <a:ext cx="44958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회사 소개서의 관련 이미지·도표를</a:t>
            </a:r>
          </a:p>
          <a:p xmlns:a="http://schemas.openxmlformats.org/drawingml/2006/main">
            <a:pPr algn="l">
              <a:def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4312F"/>
                </a:solidFill>
                <a:latin typeface="Malgun Gothic"/>
                <a:ea typeface="Malgun Gothic"/>
                <a:cs typeface="Malgun Gothic"/>
              </a:rPr>
              <a:t>현재 사업의 수행 근거와 대조합니다.</a:t>
            </a:r>
          </a:p>
        </p:txBody>
      </p:sp>
      <p:sp>
        <p:nvSpPr>
          <p:cNvPr id="15" name="bid3-material-placeholder-notice">
            <a:extLst xmlns:a="http://schemas.openxmlformats.org/drawingml/2006/main">
              <a:ext uri="{FF2B5EF4-FFF2-40B4-BE49-F238E27FC236}">
                <a16:creationId xmlns:a16="http://schemas.microsoft.com/office/drawing/2014/main" id="{99328189-1898-4D86-9A1C-C0F910A3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10175"/>
            <a:ext cx="4495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B54F3F"/>
                </a:solidFill>
                <a:latin typeface="Malgun Gothic"/>
                <a:ea typeface="Malgun Gothic"/>
                <a:cs typeface="Malgun Gothic"/>
              </a:rPr>
              <a:t>자료가 없으면 현행 증빙 확보 후 반영</a:t>
            </a:r>
          </a:p>
        </p:txBody>
      </p:sp>
    </p:spTree>
    <p:extLst>
      <p:ext uri="{BB962C8B-B14F-4D97-AF65-F5344CB8AC3E}">
        <p14:creationId xmlns:p14="http://schemas.microsoft.com/office/powerpoint/2010/main" val="125839601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4431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F2A85BF3-F680-4896-9389-870049AD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66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참여자의 경험을</a:t>
            </a:r>
          </a:p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현장의 실행으로</a:t>
            </a:r>
          </a:p>
        </p:txBody>
      </p:sp>
      <p:sp>
        <p:nvSpPr>
          <p:cNvPr id="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BF6EE0A-FAD9-4EA5-BB2C-0D806B67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45770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제안사 · 담당자 · 연락처 작성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7B09EF2C-45DA-4A65-887E-1F30191C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행사·홍보 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7C6AE8C2-6247-4F7B-9111-42C5D7C7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661946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2026-10-14T01:26:41.3120000Z</dcterms:created>
  <dcterms:modified xsi:type="dcterms:W3CDTF">2026-10-14T01:26:41.3120000Z</dcterms:modified>
</coreProperties>
</file>