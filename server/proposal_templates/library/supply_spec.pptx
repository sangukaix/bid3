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36d15da4284d26" /><Relationship Type="http://schemas.openxmlformats.org/officeDocument/2006/relationships/extended-properties" Target="/docProps/app.xml" Id="Rbd86fbb23d984aa1" /><Relationship Type="http://schemas.openxmlformats.org/officeDocument/2006/relationships/officeDocument" Target="/ppt/presentation.xml" Id="Rbda18906b97640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e5a854e1ff42ed"/>
  </p:sldMasterIdLst>
  <p:notesMasterIdLst>
    <p:notesMasterId xmlns:r="http://schemas.openxmlformats.org/officeDocument/2006/relationships" r:id="R9d5495bee07042f6"/>
  </p:notesMasterIdLst>
  <p:sldIdLst>
    <p:sldId xmlns:r="http://schemas.openxmlformats.org/officeDocument/2006/relationships" id="256" r:id="R2ba769f981d74382"/>
    <p:sldId xmlns:r="http://schemas.openxmlformats.org/officeDocument/2006/relationships" id="257" r:id="R291c356043ad47de"/>
    <p:sldId xmlns:r="http://schemas.openxmlformats.org/officeDocument/2006/relationships" id="258" r:id="R890bfc1921fe4484"/>
    <p:sldId xmlns:r="http://schemas.openxmlformats.org/officeDocument/2006/relationships" id="259" r:id="Ra78faa0ab2e044e6"/>
    <p:sldId xmlns:r="http://schemas.openxmlformats.org/officeDocument/2006/relationships" id="260" r:id="Reb3cf1ee97994634"/>
    <p:sldId xmlns:r="http://schemas.openxmlformats.org/officeDocument/2006/relationships" id="261" r:id="Rbcb9763115664102"/>
    <p:sldId xmlns:r="http://schemas.openxmlformats.org/officeDocument/2006/relationships" id="262" r:id="Rc2b0ea6971da4f09"/>
    <p:sldId xmlns:r="http://schemas.openxmlformats.org/officeDocument/2006/relationships" id="263" r:id="Ra7a975cd43bf4310"/>
    <p:sldId xmlns:r="http://schemas.openxmlformats.org/officeDocument/2006/relationships" id="264" r:id="Rcd49212a7aff4d28"/>
    <p:sldId xmlns:r="http://schemas.openxmlformats.org/officeDocument/2006/relationships" id="265" r:id="Rfe356b380dda414f"/>
    <p:sldId xmlns:r="http://schemas.openxmlformats.org/officeDocument/2006/relationships" id="266" r:id="R0ec720eaecb14eda"/>
    <p:sldId xmlns:r="http://schemas.openxmlformats.org/officeDocument/2006/relationships" id="267" r:id="R0562da5682454fbc"/>
    <p:sldId xmlns:r="http://schemas.openxmlformats.org/officeDocument/2006/relationships" id="268" r:id="R1d9bdffd923d40bc"/>
    <p:sldId xmlns:r="http://schemas.openxmlformats.org/officeDocument/2006/relationships" id="269" r:id="Rd2e16abe724a4a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8e2ae9027b46bd" /><Relationship Type="http://schemas.openxmlformats.org/officeDocument/2006/relationships/slideMaster" Target="/ppt/slideMasters/slideMaster1.xml" Id="Rf1e5a854e1ff42ed" /><Relationship Type="http://schemas.openxmlformats.org/officeDocument/2006/relationships/notesMaster" Target="/ppt/notesMasters/notesMaster1.xml" Id="R9d5495bee07042f6" /><Relationship Type="http://schemas.openxmlformats.org/officeDocument/2006/relationships/presProps" Target="/ppt/presProps.xml" Id="R79b09a844cb7454d" /><Relationship Type="http://schemas.openxmlformats.org/officeDocument/2006/relationships/tableStyles" Target="/ppt/tableStyles.xml" Id="R3d30eca0b7114c32" /><Relationship Type="http://schemas.openxmlformats.org/officeDocument/2006/relationships/slide" Target="/ppt/slides/slide1.xml" Id="R2ba769f981d74382" /><Relationship Type="http://schemas.openxmlformats.org/officeDocument/2006/relationships/slide" Target="/ppt/slides/slide2.xml" Id="R291c356043ad47de" /><Relationship Type="http://schemas.openxmlformats.org/officeDocument/2006/relationships/slide" Target="/ppt/slides/slide3.xml" Id="R890bfc1921fe4484" /><Relationship Type="http://schemas.openxmlformats.org/officeDocument/2006/relationships/slide" Target="/ppt/slides/slide4.xml" Id="Ra78faa0ab2e044e6" /><Relationship Type="http://schemas.openxmlformats.org/officeDocument/2006/relationships/slide" Target="/ppt/slides/slide5.xml" Id="Reb3cf1ee97994634" /><Relationship Type="http://schemas.openxmlformats.org/officeDocument/2006/relationships/slide" Target="/ppt/slides/slide6.xml" Id="Rbcb9763115664102" /><Relationship Type="http://schemas.openxmlformats.org/officeDocument/2006/relationships/slide" Target="/ppt/slides/slide7.xml" Id="Rc2b0ea6971da4f09" /><Relationship Type="http://schemas.openxmlformats.org/officeDocument/2006/relationships/slide" Target="/ppt/slides/slide8.xml" Id="Ra7a975cd43bf4310" /><Relationship Type="http://schemas.openxmlformats.org/officeDocument/2006/relationships/slide" Target="/ppt/slides/slide9.xml" Id="Rcd49212a7aff4d28" /><Relationship Type="http://schemas.openxmlformats.org/officeDocument/2006/relationships/slide" Target="/ppt/slides/slide10.xml" Id="Rfe356b380dda414f" /><Relationship Type="http://schemas.openxmlformats.org/officeDocument/2006/relationships/slide" Target="/ppt/slides/slide11.xml" Id="R0ec720eaecb14eda" /><Relationship Type="http://schemas.openxmlformats.org/officeDocument/2006/relationships/slide" Target="/ppt/slides/slide12.xml" Id="R0562da5682454fbc" /><Relationship Type="http://schemas.openxmlformats.org/officeDocument/2006/relationships/slide" Target="/ppt/slides/slide13.xml" Id="R1d9bdffd923d40bc" /><Relationship Type="http://schemas.openxmlformats.org/officeDocument/2006/relationships/slide" Target="/ppt/slides/slide14.xml" Id="Rd2e16abe724a4a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9fb824d8564b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7ce0d366c74ed7" /><Relationship Type="http://schemas.openxmlformats.org/officeDocument/2006/relationships/notesMaster" Target="/ppt/notesMasters/notesMaster1.xml" Id="R84e1660aa82a4d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87d718e2c945a5" /><Relationship Type="http://schemas.openxmlformats.org/officeDocument/2006/relationships/notesMaster" Target="/ppt/notesMasters/notesMaster1.xml" Id="R9e8e9bff7b924a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77eb00f4d04834" /><Relationship Type="http://schemas.openxmlformats.org/officeDocument/2006/relationships/notesMaster" Target="/ppt/notesMasters/notesMaster1.xml" Id="Rc5d08d75b97b4f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263fc315d54f9c" /><Relationship Type="http://schemas.openxmlformats.org/officeDocument/2006/relationships/notesMaster" Target="/ppt/notesMasters/notesMaster1.xml" Id="R0681f0f04b4c48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0f3daf76834a01" /><Relationship Type="http://schemas.openxmlformats.org/officeDocument/2006/relationships/notesMaster" Target="/ppt/notesMasters/notesMaster1.xml" Id="Rd1b9b4135d0d4f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1be820a7604d22" /><Relationship Type="http://schemas.openxmlformats.org/officeDocument/2006/relationships/notesMaster" Target="/ppt/notesMasters/notesMaster1.xml" Id="R561055b3d7cb4d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723c84959e4098" /><Relationship Type="http://schemas.openxmlformats.org/officeDocument/2006/relationships/notesMaster" Target="/ppt/notesMasters/notesMaster1.xml" Id="R02d25931876841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706f2e7de74e88" /><Relationship Type="http://schemas.openxmlformats.org/officeDocument/2006/relationships/notesMaster" Target="/ppt/notesMasters/notesMaster1.xml" Id="Rfd11fd66e6f041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9e0cd729874bef" /><Relationship Type="http://schemas.openxmlformats.org/officeDocument/2006/relationships/notesMaster" Target="/ppt/notesMasters/notesMaster1.xml" Id="R8772ef63f43543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634f214c764d01" /><Relationship Type="http://schemas.openxmlformats.org/officeDocument/2006/relationships/notesMaster" Target="/ppt/notesMasters/notesMaster1.xml" Id="R4d96107bc63041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eb35c5a6744890" /><Relationship Type="http://schemas.openxmlformats.org/officeDocument/2006/relationships/notesMaster" Target="/ppt/notesMasters/notesMaster1.xml" Id="Rc6e511672a6445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fe7a530e0245bf" /><Relationship Type="http://schemas.openxmlformats.org/officeDocument/2006/relationships/notesMaster" Target="/ppt/notesMasters/notesMaster1.xml" Id="Rb23d819d6ab34c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59adcb22584d56" /><Relationship Type="http://schemas.openxmlformats.org/officeDocument/2006/relationships/notesMaster" Target="/ppt/notesMasters/notesMaster1.xml" Id="R6e3f8f11a78c46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5d0275561a4dae" /><Relationship Type="http://schemas.openxmlformats.org/officeDocument/2006/relationships/notesMaster" Target="/ppt/notesMasters/notesMaster1.xml" Id="Rb7f2e9b6c9c543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제안사 수행·설치·행사 사진 아님.</a:t>
            </a:r>
          </a:p>
          <a:p xmlns:a="http://schemas.openxmlformats.org/drawingml/2006/main">
            <a:r>
              <a:t>이미지 출처: https://images.pexels.com/photos/4481259/pexels-photo-4481259.jpeg?auto=compress&amp;cs=tinysrgb&amp;w=1800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수행 사진 아님.</a:t>
            </a:r>
          </a:p>
          <a:p xmlns:a="http://schemas.openxmlformats.org/drawingml/2006/main">
            <a:r>
              <a:t>이미지 출처: https://images.pexels.com/photos/4481532/pexels-photo-4481532.jpeg?auto=compress&amp;cs=tinysrgb&amp;w=1500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삼육대학교 PBL 강의실 시스템 구축 제안요청서</a:t>
            </a:r>
          </a:p>
          <a:p xmlns:a="http://schemas.openxmlformats.org/drawingml/2006/main">
            <a:r>
              <a:t>https://www.syu.ac.kr/wp-content/uploads/2019/01/01.-삼육대학교-ACE사업_RFPPBL강의실_에스라관209호406호.pdf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eadc07e414d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ab6ce48cd44e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08b38b1414e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8332186ca147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24dddb1d640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8aa2b8b5634c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0599A0-0C45-4014-8F3C-63C1E571CB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7ECAD3-C7C0-4B3E-961B-595AD1110D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9AAE28E-B654-4182-B988-DB6C9C842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B50DB9-75CF-4BB9-8860-EB465781D2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7853E6-3B34-48D1-9D8F-E3E92BECF8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FCDE2D-4CC7-4743-BBBB-18E7AEB019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BD9073-2035-42C6-83F7-0AB6483C4C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5AC600C-DFDD-4670-9DB2-C4C17C3386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4EEE83-1558-45D7-BCF8-A3F90D8B8F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C9ED14-9825-41A7-97CC-3A39FDB4EA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4393ee71f64ea8" /><Relationship Type="http://schemas.openxmlformats.org/officeDocument/2006/relationships/slideLayout" Target="/ppt/slideLayouts/slideLayout1.xml" Id="R5be17ff1dfd04283" /><Relationship Type="http://schemas.openxmlformats.org/officeDocument/2006/relationships/slideLayout" Target="/ppt/slideLayouts/slideLayout2.xml" Id="R681d6d55983847e4" /><Relationship Type="http://schemas.openxmlformats.org/officeDocument/2006/relationships/slideLayout" Target="/ppt/slideLayouts/slideLayout3.xml" Id="R57226930a958465b" /><Relationship Type="http://schemas.openxmlformats.org/officeDocument/2006/relationships/slideLayout" Target="/ppt/slideLayouts/slideLayout4.xml" Id="R2d94d2ec35e44ed3" /><Relationship Type="http://schemas.openxmlformats.org/officeDocument/2006/relationships/slideLayout" Target="/ppt/slideLayouts/slideLayout5.xml" Id="R8f502c8781a64825" /><Relationship Type="http://schemas.openxmlformats.org/officeDocument/2006/relationships/slideLayout" Target="/ppt/slideLayouts/slideLayout6.xml" Id="R186c260b8cb545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e17ff1dfd04283"/>
    <p:sldLayoutId xmlns:r="http://schemas.openxmlformats.org/officeDocument/2006/relationships" id="2147483650" r:id="R681d6d55983847e4"/>
    <p:sldLayoutId xmlns:r="http://schemas.openxmlformats.org/officeDocument/2006/relationships" id="2147483651" r:id="R57226930a958465b"/>
    <p:sldLayoutId xmlns:r="http://schemas.openxmlformats.org/officeDocument/2006/relationships" id="2147483652" r:id="R2d94d2ec35e44ed3"/>
    <p:sldLayoutId xmlns:r="http://schemas.openxmlformats.org/officeDocument/2006/relationships" id="2147483653" r:id="R8f502c8781a64825"/>
    <p:sldLayoutId xmlns:r="http://schemas.openxmlformats.org/officeDocument/2006/relationships" id="2147483654" r:id="R186c260b8cb545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20ae33843046c3" /><Relationship Type="http://schemas.openxmlformats.org/officeDocument/2006/relationships/image" Target="/ppt/media/image.jpeg" Id="R72680cf8ae7f402e" /><Relationship Type="http://schemas.openxmlformats.org/officeDocument/2006/relationships/notesSlide" Target="/ppt/notesSlides/notesSlide1.xml" Id="R453829ce05f843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50b5ce81474421" /><Relationship Type="http://schemas.openxmlformats.org/officeDocument/2006/relationships/notesSlide" Target="/ppt/notesSlides/notesSlide2.xml" Id="Rdbf1f248078e4c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57295b51a4f85" /><Relationship Type="http://schemas.openxmlformats.org/officeDocument/2006/relationships/notesSlide" Target="/ppt/notesSlides/notesSlide3.xml" Id="Re77c2b5f7b7140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e02a7f7144a49" /><Relationship Type="http://schemas.openxmlformats.org/officeDocument/2006/relationships/notesSlide" Target="/ppt/notesSlides/notesSlide4.xml" Id="Raae36d83a5e649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58d36bbb754e6a" /><Relationship Type="http://schemas.openxmlformats.org/officeDocument/2006/relationships/notesSlide" Target="/ppt/notesSlides/notesSlide5.xml" Id="R8ad93275e8494d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42c64b989544a3" /><Relationship Type="http://schemas.openxmlformats.org/officeDocument/2006/relationships/notesSlide" Target="/ppt/notesSlides/notesSlide6.xml" Id="Rda455f9e832547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859e6efab84483" /><Relationship Type="http://schemas.openxmlformats.org/officeDocument/2006/relationships/notesSlide" Target="/ppt/notesSlides/notesSlide7.xml" Id="R291e4901568041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9fceb14a8545d1" /><Relationship Type="http://schemas.openxmlformats.org/officeDocument/2006/relationships/notesSlide" Target="/ppt/notesSlides/notesSlide8.xml" Id="R5e1e5821cb7145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9bde725a8a42f4" /><Relationship Type="http://schemas.openxmlformats.org/officeDocument/2006/relationships/notesSlide" Target="/ppt/notesSlides/notesSlide9.xml" Id="Rfd3afe3c022440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c155f1c174b9f" /><Relationship Type="http://schemas.openxmlformats.org/officeDocument/2006/relationships/notesSlide" Target="/ppt/notesSlides/notesSlide10.xml" Id="R150b932a1e1048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f0b607b5d8494f" /><Relationship Type="http://schemas.openxmlformats.org/officeDocument/2006/relationships/notesSlide" Target="/ppt/notesSlides/notesSlide11.xml" Id="R90b51d317a3d4f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6d1ff6e9542b8" /><Relationship Type="http://schemas.openxmlformats.org/officeDocument/2006/relationships/notesSlide" Target="/ppt/notesSlides/notesSlide12.xml" Id="Rd0f87074819b42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b8f1b5f2ea425e" /><Relationship Type="http://schemas.openxmlformats.org/officeDocument/2006/relationships/notesSlide" Target="/ppt/notesSlides/notesSlide13.xml" Id="R8c37879bae7340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0ab98d9ea4d17" /><Relationship Type="http://schemas.openxmlformats.org/officeDocument/2006/relationships/image" Target="/ppt/media/image2.jpeg" Id="R7fbf784f0e854187" /><Relationship Type="http://schemas.openxmlformats.org/officeDocument/2006/relationships/notesSlide" Target="/ppt/notesSlides/notesSlide14.xml" Id="R532e7cca2b4546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D217F-DDCE-462B-95BA-9ACD90591E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80cf8ae7f402e"/>
          <a:srcRect xmlns:a="http://schemas.openxmlformats.org/drawingml/2006/main" l="19722" t="0" r="197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DD655511-C16A-4805-BDD9-21EC5F2B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8B99C24F-6F65-40CA-AC31-C07DF983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물품·설비 납품</a:t>
            </a:r>
          </a:p>
          <a:p xmlns:a="http://schemas.openxmlformats.org/drawingml/2006/main">
            <a:pPr algn="l">
              <a:defRPr sz="42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6AFAB20-8CDD-4AAB-89F5-01610F14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667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사업명 · 발주기관 · 제안사 작성</a:t>
            </a:r>
          </a:p>
        </p:txBody>
      </p:sp>
      <p:sp>
        <p:nvSpPr>
          <p:cNvPr id="5" name="bid3-fixed-design-name">
            <a:extLst xmlns:a="http://schemas.openxmlformats.org/drawingml/2006/main">
              <a:ext uri="{FF2B5EF4-FFF2-40B4-BE49-F238E27FC236}">
                <a16:creationId xmlns:a16="http://schemas.microsoft.com/office/drawing/2014/main" id="{BA4419E4-1A03-4EC3-BC8F-327DF647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서플라이 스펙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40C79A2-EA15-457B-9D82-D094B7C5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372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72308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7A98E91-0488-4095-82FE-F8D5D92E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/ 제안 구성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F33398F-FCD5-4070-80C6-AC01DBD3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공급·설치 제안의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63589B4-BD61-47D4-A4C9-DED0124D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요청 규격과 실제 반입·설치·검수 자료를 연결합니다.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AC901AA-96DB-4A9E-8D30-CBC93D9F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9CB6DF35-63EE-4949-988C-AD61D6CF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EBD2887-46ED-4811-BA8C-83D6BD89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FF313E6-30EC-477D-894D-47E9548A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CB18639-3B4A-4F20-9385-6E7CA17B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384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규격과 구성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FC84769-7350-49A2-B127-B457CED4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6700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C8B7C039-176C-44AC-8435-52745716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EE2970C-F6E5-41F7-8B31-2A042CC7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015A9C7-DADD-4CA3-93C8-EFA75486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공급과 설치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827A549-02BF-4C37-B598-CE6D539E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5757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FF3A4705-9242-4BE2-A026-644780BD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EF07B80-469D-48A4-A371-F4BB597B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1B55CCA-542A-49D5-BFDD-3C43AC3D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957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검수와 교육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F233BBA-E698-49D6-A9D8-FA919AA7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4815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8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EA9AFC9-2D7A-43C0-B299-8C542E72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3870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57562F8-A156-4DE7-8A26-DFE15AFA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0B968B2-5BFF-44CB-88C2-AA60AB1E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보증과 지원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524EF73-FAC2-4FCD-8909-57CB9BB4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03872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882599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70CA80A5-C895-4E69-9272-3046997D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5DD8B20-B86E-46AF-89A3-AF9ECB4B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납품 구성과 품목 체계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5C2A74F-8337-4C9A-AD96-AB2CA5C2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아래는 품목 구성의 개념이며 실제 모델과 수량은 원문과 제조사 자료로 확정합니다.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92267F3-CE41-4BD1-838D-72DE2A7E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1694ECB8-8FDB-4918-9085-BB030B26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B36EB84-2EF9-40D6-AEBF-67295273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7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83F045AA-8F2C-460A-8724-9FFA797F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52700"/>
            <a:ext cx="46291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9525">
            <a:solidFill>
              <a:srgbClr val="356D89"/>
            </a:solidFill>
          </a:ln>
        </p:spPr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CD3F2AA-7664-40A6-A485-5D1A0D7E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7241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업무용 장비 구성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4BEEE3F-5A2A-41C5-98B6-DD8BD1CC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238500"/>
            <a:ext cx="428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규격·설치 조건·검수 기록 연결</a:t>
            </a:r>
          </a:p>
        </p:txBody>
      </p:sp>
      <p:cxnSp>
        <p:nvCxnSpPr>
          <p:cNvPr id="10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67D24879-F77C-43F9-9F7C-F9ECFD326080}"/>
              </a:ext>
            </a:extLst>
          </p:cNvPr>
          <p:cNvCxnSpPr/>
          <p:nvPr/>
        </p:nvCxnSpPr>
        <p:spPr>
          <a:xfrm xmlns:a="http://schemas.openxmlformats.org/drawingml/2006/main">
            <a:off x="6096000" y="3876675"/>
            <a:ext cx="0" cy="4000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56D89"/>
            </a:solidFill>
          </a:ln>
        </p:spPr>
      </p:cxn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BF377B32-483E-4FD1-A2EA-502F83FD6537}"/>
              </a:ext>
            </a:extLst>
          </p:cNvPr>
          <p:cNvCxnSpPr/>
          <p:nvPr/>
        </p:nvCxnSpPr>
        <p:spPr>
          <a:xfrm xmlns:a="http://schemas.openxmlformats.org/drawingml/2006/main">
            <a:off x="2238375" y="4276725"/>
            <a:ext cx="77152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56D89"/>
            </a:solidFill>
          </a:ln>
        </p:spPr>
      </p:cxn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25257BA1-9DAF-4558-88BD-52C53834B419}"/>
              </a:ext>
            </a:extLst>
          </p:cNvPr>
          <p:cNvCxnSpPr/>
          <p:nvPr/>
        </p:nvCxnSpPr>
        <p:spPr>
          <a:xfrm xmlns:a="http://schemas.openxmlformats.org/drawingml/2006/main">
            <a:off x="2228850" y="4276725"/>
            <a:ext cx="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56D89"/>
            </a:solidFill>
          </a:ln>
        </p:spPr>
      </p:cxn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78CEFDFF-68E1-46AA-A88E-EE6D3EB7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9525">
            <a:solidFill>
              <a:srgbClr val="356D89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4E64390-DFCF-477E-A96A-E659A7C4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주 장비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894BAB5-40B4-4240-8BD6-436CBCC5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2895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요청 기능·성능 · 제조사·모델·수량 대조</a:t>
            </a:r>
          </a:p>
        </p:txBody>
      </p:sp>
      <p:cxnSp>
        <p:nvCxnSpPr>
          <p:cNvPr id="16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CA77B959-13F8-4F1F-9609-07308D9158C8}"/>
              </a:ext>
            </a:extLst>
          </p:cNvPr>
          <p:cNvCxnSpPr/>
          <p:nvPr/>
        </p:nvCxnSpPr>
        <p:spPr>
          <a:xfrm xmlns:a="http://schemas.openxmlformats.org/drawingml/2006/main">
            <a:off x="6096000" y="4276725"/>
            <a:ext cx="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56D89"/>
            </a:solidFill>
          </a:ln>
        </p:spPr>
      </p:cxnSp>
      <p:sp>
        <p:nvSpPr>
          <p:cNvPr id="17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10FE660E-286C-4F53-B44A-0B81F3A7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053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9525">
            <a:solidFill>
              <a:srgbClr val="356D89"/>
            </a:solidFill>
          </a:ln>
        </p:spPr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79E9B7E-A792-478A-AAF0-E0679B7A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76775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연결·부속품</a:t>
            </a:r>
          </a:p>
        </p:txBody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B6374E6-0FAB-4011-80F2-D62D459F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91125"/>
            <a:ext cx="2895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연결 규격·케이블 · 설치에 필요한 부속품</a:t>
            </a:r>
          </a:p>
        </p:txBody>
      </p:sp>
      <p:cxnSp>
        <p:nvCxnSpPr>
          <p:cNvPr id="20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AE6B232A-DA1C-4E8F-AF94-5BED48D356B0}"/>
              </a:ext>
            </a:extLst>
          </p:cNvPr>
          <p:cNvCxnSpPr/>
          <p:nvPr/>
        </p:nvCxnSpPr>
        <p:spPr>
          <a:xfrm xmlns:a="http://schemas.openxmlformats.org/drawingml/2006/main">
            <a:off x="9963150" y="4276725"/>
            <a:ext cx="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56D89"/>
            </a:solidFill>
          </a:ln>
        </p:spPr>
      </p:cxnSp>
      <p:sp>
        <p:nvSpPr>
          <p:cNvPr id="21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4F1C8E0B-F1A7-43A4-8162-531E087D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053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9525">
            <a:solidFill>
              <a:srgbClr val="356D89"/>
            </a:solidFill>
          </a:ln>
        </p:spPr>
      </p: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FBC07A3-40C0-4974-9E2D-59E88775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76775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운영 자료</a:t>
            </a:r>
          </a:p>
        </p:txBody>
      </p: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B2DCFB1-EA8D-4205-ABFD-76577871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91125"/>
            <a:ext cx="2895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매뉴얼·라이선스 · 보증·검사·공급 자료</a:t>
            </a:r>
          </a:p>
        </p:txBody>
      </p:sp>
    </p:spTree>
    <p:extLst>
      <p:ext uri="{BB962C8B-B14F-4D97-AF65-F5344CB8AC3E}">
        <p14:creationId xmlns:p14="http://schemas.microsoft.com/office/powerpoint/2010/main" val="989449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0D6F0555-11A0-4132-84CA-489E3AD0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F6896C7-C99E-49F2-B17B-B4D8F020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요청 규격과 제안 사양 비교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CCCF521-0D41-4786-B1C3-C463EBA3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실제 성능·규격 충족 여부는 제조사 원문과 시험 자료로 확인합니다.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0930D82-BAFA-4150-8AB1-38551BA2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59F8314E-93E7-432F-9BF5-DAB81D13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0DA3829-0C62-4B03-8C5A-81EAF4D7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51F35-379D-4038-96AB-BEADBB12A3DD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571750"/>
                <a:gridCol w="3781425"/>
                <a:gridCol w="2857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대조 항목</a:t>
                      </a:r>
                    </a:p>
                  </a:txBody>
                  <a:tcPr marL="142875" marR="142875" marT="114300" marB="95250" anchor="ctr">
                    <a:solidFill>
                      <a:srgbClr val="24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기준</a:t>
                      </a:r>
                    </a:p>
                  </a:txBody>
                  <a:tcPr marL="142875" marR="142875" marT="114300" marB="95250" anchor="ctr">
                    <a:solidFill>
                      <a:srgbClr val="24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자료</a:t>
                      </a:r>
                    </a:p>
                  </a:txBody>
                  <a:tcPr marL="142875" marR="142875" marT="114300" marB="95250" anchor="ctr">
                    <a:solidFill>
                      <a:srgbClr val="24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근거</a:t>
                      </a:r>
                    </a:p>
                  </a:txBody>
                  <a:tcPr marL="142875" marR="142875" marT="114300" marB="95250" anchor="ctr">
                    <a:solidFill>
                      <a:srgbClr val="243B47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성능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호환성</a:t>
                      </a:r>
                    </a:p>
                  </a:txBody>
                  <a:tcPr marL="142875" marR="142875" marT="114300" marB="95250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7F9F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구성품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5350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C3EFF0C-1602-448A-BD58-A2F79A3D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BDF959A-59A2-4830-893D-5CE11ACB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설치 환경과 호환 조건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AEBC2EC-3C28-4507-B88E-A86EF432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물품 사양뿐 아니라 현장에서 사용할 수 있는 조건을 확인합니다.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EF5185E-8776-452D-95A5-8C4B0823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6FD66E95-8B25-4DDD-9B98-284F8F43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4C48B36-2E60-463E-872D-AE3DB521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6AAFE6F-3EB7-47E7-99FC-563EDE9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3B716525-20E3-44E5-B482-EBDAEF27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D89"/>
          </a:solidFill>
          <a:ln xmlns:a="http://schemas.openxmlformats.org/drawingml/2006/main" w="0">
            <a:noFill/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A87D1BA-FCA7-4A34-A481-726C5ABC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공간·반입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295095B-5AEE-40F4-9C4D-5028C1B5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8F96EE1-0960-4F86-9A50-D02E97F2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0839A75E-926D-407A-837B-2B66EBF7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D89"/>
          </a:solidFill>
          <a:ln xmlns:a="http://schemas.openxmlformats.org/drawingml/2006/main" w="0">
            <a:noFill/>
          </a:ln>
        </p:spPr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55493E0-400F-4798-B00C-A9555717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전원·연결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ACF098D-A026-4297-A02E-3747867D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7515788-4135-4FC5-B114-F7EAD9B1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5271838-3A8A-410D-B31A-7047E409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D89"/>
          </a:solidFill>
          <a:ln xmlns:a="http://schemas.openxmlformats.org/drawingml/2006/main" w="0">
            <a:noFill/>
          </a:ln>
        </p:spPr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2C654EE-F094-4DFF-9776-A4D75DC3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운영 환경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12ED57A-E1EB-4145-8C48-30654578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2032120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DA4E2B5-C688-4E79-91B6-0EC3FFD0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4EAAAAF-CB0A-4E91-BCEC-BD7A2F84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제조사와 공급 이력 관리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BACBCAE-E762-42DC-BA70-D772BB86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발주·입고·설치·검수까지 제품의 이력을 연결합니다.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CFAE05F-5B60-4C82-80A5-D79AE383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60A9A9B2-A06A-456B-B5EE-C0DDB2B0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2DF085C-5085-4ED7-979E-1177A91A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D1767-CB60-4C89-B7D2-7BE82E510148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자료</a:t>
                      </a:r>
                    </a:p>
                  </a:txBody>
                  <a:tcPr marL="142875" marR="142875" marT="114300" marB="95250" anchor="ctr">
                    <a:solidFill>
                      <a:srgbClr val="24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대조할 내용</a:t>
                      </a:r>
                    </a:p>
                  </a:txBody>
                  <a:tcPr marL="142875" marR="142875" marT="114300" marB="95250" anchor="ctr">
                    <a:solidFill>
                      <a:srgbClr val="24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기록</a:t>
                      </a:r>
                    </a:p>
                  </a:txBody>
                  <a:tcPr marL="142875" marR="142875" marT="114300" marB="95250" anchor="ctr">
                    <a:solidFill>
                      <a:srgbClr val="243B47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공급 자료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정보</a:t>
                      </a:r>
                    </a:p>
                  </a:txBody>
                  <a:tcPr marL="142875" marR="142875" marT="114300" marB="95250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7F9F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보증·검사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265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243EE91-A13F-452D-A8C0-5F706ED2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8B1C6AA-FCB6-45C2-90A3-64A17DB3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납품과 반입 절차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15720D0-E59A-4908-BD5C-B9B5EF1E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현장 여건과 승인된 납품 계획에 맞춰 반입·상태 확인을 진행합니다.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1BDEE5D-2FAB-405A-9845-A02A86BC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5DD7AC01-755E-4CF4-A39D-2C74ABDE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C6773E6-E57B-4DBD-85A2-29DCAA9B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2772300-7794-4665-BCCA-CA616FEB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5FB79D61-4E1A-406E-80BB-981BECD1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9525">
            <a:solidFill>
              <a:srgbClr val="356D89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295F50F-3C22-46EC-885A-EC8876B7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출고 확인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C6839F1-1B2F-4B6A-8BC2-17C882AD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99FC1F3D-BFFC-431F-AC52-7B7FAA8C74B4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56D89"/>
            </a:solidFill>
          </a:ln>
        </p:spPr>
      </p:cxn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C2FA3AF-69CC-4E80-A88D-66EEDE91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08219847-4A9A-49F6-8E13-86B45A09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9525">
            <a:solidFill>
              <a:srgbClr val="356D89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9772570-C165-4612-BD63-1AB6A926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운송·반입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4C46C03-6178-4A62-B805-16446E49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6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9CFC090F-7A0C-40E0-BD5E-D694727CAB07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56D89"/>
            </a:solidFill>
          </a:ln>
        </p:spPr>
      </p:cxn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6746E40-89FC-4A38-9DF7-87B6626E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9A328B64-5E35-4A00-85AE-7DB52305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9525">
            <a:solidFill>
              <a:srgbClr val="356D89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59C77B9-A0BD-4E0E-9399-541327A5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현장 입고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9AF17C8-4126-40DF-BCAE-1F2038DE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5B05E7A7-3B83-4FC9-ACA2-50088B2759FD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56D89"/>
            </a:solidFill>
          </a:ln>
        </p:spPr>
      </p:cxn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99CA054-4268-4135-AE84-D324C86C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68FCA21B-E5A9-497C-8E07-8A385977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9525">
            <a:solidFill>
              <a:srgbClr val="356D89"/>
            </a:solidFill>
          </a:ln>
        </p:spPr>
      </p: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41388EB-B378-4AF2-A67D-7110AE65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설치 인계</a:t>
            </a:r>
          </a:p>
        </p:txBody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2BFA181-4A1D-41F3-ABA3-BC4E2C75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8836699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DCE81C96-7BF1-447A-B6F8-C30A35FA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69CF226-BF13-4079-A357-A08CD5DB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설치와 시운전 순서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937BD41-6371-497C-8507-5BC26468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설치 결과와 기능 시험 기록을 검수에 연결합니다.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FB87D95-A553-414C-9954-A0E7204D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2499CEEC-E8B1-442B-874E-917662CB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34274DE-6299-44B2-922F-4D9E7069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ED576F5-B2BC-430A-8FE2-92BC0FDE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설치 준비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496A172-0B62-47CF-A82A-3714B279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85F37F6-74D9-47C1-A468-BD09912E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3113CD24-A5FA-4177-8FDE-8DED212A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F08F18E-D61F-4E44-8A5A-86B53CCD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설치·구성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145B454-9D1E-4F03-A60F-8D16E6DC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A413AF0-6D97-4694-8665-91B95CFB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CAE35938-E0BA-4098-BC64-AB5EB6E8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5E5FDF8-A7E4-4721-86D3-EA9058E3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시운전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8ACF359-6566-4F79-BD33-A18C7155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C6E36EE-4FE7-4C1C-A5DB-A3BF7B40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904628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7101E230-97BD-44CC-8714-6BFD6AA8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0A6F143B-3CD6-4938-BE37-519B9B54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검수 기준과 확인 기록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740F2A4-DF56-4396-ABBA-FC0C7C56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판정 기준은 공고·계약·승인 자료를 대조해 확정합니다.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DEA0251-5DB2-4331-ACCB-CC7B7E65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AB586056-B930-4ED9-A6DC-DB7DDDD4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AFB3C2C-E5E6-4C4D-9A2E-481E97AF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00202-79D9-4ADD-BF1F-006E74C519AF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검수 항목</a:t>
                      </a:r>
                    </a:p>
                  </a:txBody>
                  <a:tcPr marL="142875" marR="142875" marT="114300" marB="95250" anchor="ctr">
                    <a:solidFill>
                      <a:srgbClr val="24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방법</a:t>
                      </a:r>
                    </a:p>
                  </a:txBody>
                  <a:tcPr marL="142875" marR="142875" marT="114300" marB="95250" anchor="ctr">
                    <a:solidFill>
                      <a:srgbClr val="24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남길 기록</a:t>
                      </a:r>
                    </a:p>
                  </a:txBody>
                  <a:tcPr marL="142875" marR="142875" marT="114300" marB="95250" anchor="ctr">
                    <a:solidFill>
                      <a:srgbClr val="243B47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규격·수량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기능·연계</a:t>
                      </a:r>
                    </a:p>
                  </a:txBody>
                  <a:tcPr marL="142875" marR="142875" marT="114300" marB="95250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7F9F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문서·인계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9737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0232A699-4A79-4E89-8EED-F03C3C84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08D3C08-E644-48EC-9105-4ABDBA39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관리자 교육과 운영 인계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EE2FF48-11E5-430F-BB4E-B7D53366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장비를 사용할 수 있는 설명과 자료를 함께 전달합니다.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9634A43-6760-456E-B0DE-3508CB4B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04538082-9648-4E32-9E66-1EF0AC7A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543668A-400A-4F3D-BC9A-EEB145C8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D5EC926-73CC-4FE5-AE47-A3F61F99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1DF606B6-108A-45DF-B9AE-FCB2F8C2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9525">
            <a:solidFill>
              <a:srgbClr val="356D89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F2BA759-2122-4D43-A792-81080D2B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기본 사용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7F154DF-1D22-4B94-AE6D-7489E4C4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AEA1743B-223E-4AAE-8924-620FA56DF2AC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56D89"/>
            </a:solidFill>
          </a:ln>
        </p:spPr>
      </p:cxn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4E6E6CF-5FAD-4168-AED0-A90C98DC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03C3C3F2-41EA-49A7-A877-61AD521F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9525">
            <a:solidFill>
              <a:srgbClr val="356D89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EDE627C-406D-47DE-AC88-1AF9886A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일상 점검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7493CE0-F33F-4048-A59C-3154D50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6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9ECBBB12-6EB0-4A45-BCC2-A4AF7906F2A6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56D89"/>
            </a:solidFill>
          </a:ln>
        </p:spPr>
      </p:cxn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D781337-0DF9-42DD-91E9-CDC88599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8E8BE77C-6095-43CB-92DE-5850A876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9525">
            <a:solidFill>
              <a:srgbClr val="356D89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AF2F3B0-896F-4D2F-B131-452A962B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오류 대응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8805F08-F858-4B31-967D-C1AB43AB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F5B2BA7B-5FD7-4424-BF99-311B65E86559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56D89"/>
            </a:solidFill>
          </a:ln>
        </p:spPr>
      </p:cxn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FA7E8CD-E0CB-4EFA-B31D-C0589AFF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91AE7958-DEFB-4428-B7CE-2058A8C5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9525">
            <a:solidFill>
              <a:srgbClr val="356D89"/>
            </a:solidFill>
          </a:ln>
        </p:spPr>
      </p: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A6EA5DE-4E5A-49B5-9FDD-5B5B44FE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자료 인계</a:t>
            </a:r>
          </a:p>
        </p:txBody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18B8C99-D141-4214-AE0E-2FDB10EE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740632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EB387CA-B512-44F9-BBDB-1A7F34DA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0EEAA65-56F8-42B9-9115-E67F5BE8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보증과 사후지원 체계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4A827AB-DA48-4941-8E7B-8A1B6543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보증 기간과 처리 조건은 원문·계약·제조사 자료를 확인해 반영합니다.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2C332A8-AB77-41CD-A601-A9C4EBDC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530E242F-100C-4E74-8E13-6D2ADB9C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160DE78-B68E-4AC2-B86D-A441AA95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2D36AEF-E35A-4A6D-8B14-8E789781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접수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93C618E-B399-4C9F-8B9B-5ACE4E98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41C2E6A-F0F5-4553-8040-66879CF7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DABEE3C-0A11-4DE5-839A-C3CC5F6C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F8C2BEB-61D7-43D1-8699-1CACF481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진단·조치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BEB9CF4-B186-4166-BF40-D7F94687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E85A321-9058-48F2-83AF-A9C035AB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01D8814-62A3-499A-818E-B859018B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D87C9CB-3F26-4319-BBE0-55FEF0D0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완료 확인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F4E7428-833F-4FDA-9B98-8C048388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BD211C2-9D65-4499-A6F2-7286612A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672939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A32D4FFF-821F-4DD4-BD7C-6C2F6479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8E59324-7736-4355-B53F-619334AC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예비품과 소모품 운영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4D6ABD6-E1FE-452F-9054-872352F6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필요 품목·공급 조건·교체 주기는 실제 제품 기준으로 검토합니다.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1D20486-814F-42FB-8323-197B6877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53870B56-BF0F-4DA5-A4C4-AD9D3B6B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2E69799-7892-4F29-88A7-FAF860B7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036FB-6777-4FF7-B5CD-DD6F816F0463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품목 구분</a:t>
                      </a:r>
                    </a:p>
                  </a:txBody>
                  <a:tcPr marL="142875" marR="142875" marT="114300" marB="95250" anchor="ctr">
                    <a:solidFill>
                      <a:srgbClr val="24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조건</a:t>
                      </a:r>
                    </a:p>
                  </a:txBody>
                  <a:tcPr marL="142875" marR="142875" marT="114300" marB="95250" anchor="ctr">
                    <a:solidFill>
                      <a:srgbClr val="24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기록</a:t>
                      </a:r>
                    </a:p>
                  </a:txBody>
                  <a:tcPr marL="142875" marR="142875" marT="114300" marB="95250" anchor="ctr">
                    <a:solidFill>
                      <a:srgbClr val="243B47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 부품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소모품</a:t>
                      </a:r>
                    </a:p>
                  </a:txBody>
                  <a:tcPr marL="142875" marR="142875" marT="114300" marB="95250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7F9F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단종·대체품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43B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3ED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2431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0D21A84-8FA7-48F4-9645-15BCA948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/ 수행 근거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9BB1B59-B778-4CB6-BA70-0859B735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납품 대장과 인계 근거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E992C3D-FF0F-446F-A9B3-07D44926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제품 정보와 설치·검사·지원 자료를 한 묶음으로 인계합니다.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375D172-3F30-4DC4-9E26-583FED4E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6A5A39DB-8D06-495A-B7CD-CE92CF3B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0EDBEC8-6B1A-45A0-BAB9-599485E1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D2B923C-54B0-4E05-AC14-D2D8CFFF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품목·제조번호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9BB93FF-9997-4DA4-BB36-644BB97B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2B96F90-3CB0-409B-AF26-A438F13E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설치·검수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C820FCA-A690-426D-A90F-A1F5E4C4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E74B515-18BA-4D71-81D9-92ED1B05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운영·보증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9B28359-8776-4EEE-A945-C9090154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bid3-material-placeholder-heading">
            <a:extLst xmlns:a="http://schemas.openxmlformats.org/drawingml/2006/main">
              <a:ext uri="{FF2B5EF4-FFF2-40B4-BE49-F238E27FC236}">
                <a16:creationId xmlns:a16="http://schemas.microsoft.com/office/drawing/2014/main" id="{5AAE582B-59C9-4A8A-965E-98610DFB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49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원문 자료와 제출 증빙</a:t>
            </a:r>
          </a:p>
        </p:txBody>
      </p:sp>
      <p:sp>
        <p:nvSpPr>
          <p:cNvPr id="14" name="bid3-material-placeholder-copy">
            <a:extLst xmlns:a="http://schemas.openxmlformats.org/drawingml/2006/main">
              <a:ext uri="{FF2B5EF4-FFF2-40B4-BE49-F238E27FC236}">
                <a16:creationId xmlns:a16="http://schemas.microsoft.com/office/drawing/2014/main" id="{373A7EAA-3646-483E-95CE-111D6089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4495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회사 소개서의 관련 이미지·도표를</a:t>
            </a:r>
          </a:p>
          <a:p xmlns:a="http://schemas.openxmlformats.org/drawingml/2006/main">
            <a:pPr algn="l">
              <a:def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B47"/>
                </a:solidFill>
                <a:latin typeface="Malgun Gothic"/>
                <a:ea typeface="Malgun Gothic"/>
                <a:cs typeface="Malgun Gothic"/>
              </a:rPr>
              <a:t>현재 사업의 수행 근거와 대조합니다.</a:t>
            </a:r>
          </a:p>
        </p:txBody>
      </p:sp>
      <p:sp>
        <p:nvSpPr>
          <p:cNvPr id="15" name="bid3-material-placeholder-notice">
            <a:extLst xmlns:a="http://schemas.openxmlformats.org/drawingml/2006/main">
              <a:ext uri="{FF2B5EF4-FFF2-40B4-BE49-F238E27FC236}">
                <a16:creationId xmlns:a16="http://schemas.microsoft.com/office/drawing/2014/main" id="{82FECD0A-D8BB-4B36-951B-1AA47F25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0175"/>
            <a:ext cx="449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56D89"/>
                </a:solidFill>
                <a:latin typeface="Malgun Gothic"/>
                <a:ea typeface="Malgun Gothic"/>
                <a:cs typeface="Malgun Gothic"/>
              </a:rPr>
              <a:t>자료가 없으면 현행 증빙 확보 후 반영</a:t>
            </a:r>
          </a:p>
        </p:txBody>
      </p:sp>
    </p:spTree>
    <p:extLst>
      <p:ext uri="{BB962C8B-B14F-4D97-AF65-F5344CB8AC3E}">
        <p14:creationId xmlns:p14="http://schemas.microsoft.com/office/powerpoint/2010/main" val="345711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43B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65815-B718-4557-905E-5EABFFE97F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f784f0e8541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CBFF460-E38C-4343-91E6-4EA94503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66294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규격의 충족에서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 가능한 인계까지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9B730BF-FC73-4F82-8B74-A9B0B636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57700"/>
            <a:ext cx="633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제안사 · 담당자 · 연락처 작성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2DE6EB2-F789-40B1-A2D8-764B3DC8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물품·설비 납품 제안서</a:t>
            </a:r>
          </a:p>
        </p:txBody>
      </p:sp>
      <p:sp>
        <p:nvSpPr>
          <p:cNvPr id="5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760393A-E362-4C11-B4DB-52698879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6435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2026-10-14T01:26:50.9610000Z</dcterms:created>
  <dcterms:modified xsi:type="dcterms:W3CDTF">2026-10-14T01:26:50.9610000Z</dcterms:modified>
</coreProperties>
</file>