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fef2a2cff74cec" /><Relationship Type="http://schemas.openxmlformats.org/officeDocument/2006/relationships/extended-properties" Target="/docProps/app.xml" Id="R7d6f986c6a1e40b8" /><Relationship Type="http://schemas.openxmlformats.org/officeDocument/2006/relationships/officeDocument" Target="/ppt/presentation.xml" Id="R70aef943f7214b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b022af9aa84533"/>
  </p:sldMasterIdLst>
  <p:notesMasterIdLst>
    <p:notesMasterId xmlns:r="http://schemas.openxmlformats.org/officeDocument/2006/relationships" r:id="R0fcd74699b6b4027"/>
  </p:notesMasterIdLst>
  <p:sldIdLst>
    <p:sldId xmlns:r="http://schemas.openxmlformats.org/officeDocument/2006/relationships" id="256" r:id="R840d8f82c57841bc"/>
    <p:sldId xmlns:r="http://schemas.openxmlformats.org/officeDocument/2006/relationships" id="257" r:id="Rd811a1c97f1246ec"/>
    <p:sldId xmlns:r="http://schemas.openxmlformats.org/officeDocument/2006/relationships" id="258" r:id="Re0e8a2ffdef246f3"/>
    <p:sldId xmlns:r="http://schemas.openxmlformats.org/officeDocument/2006/relationships" id="259" r:id="R9b5fbecc7a334121"/>
    <p:sldId xmlns:r="http://schemas.openxmlformats.org/officeDocument/2006/relationships" id="260" r:id="R795bbfa66de94fec"/>
    <p:sldId xmlns:r="http://schemas.openxmlformats.org/officeDocument/2006/relationships" id="261" r:id="R7087ca0560b94357"/>
    <p:sldId xmlns:r="http://schemas.openxmlformats.org/officeDocument/2006/relationships" id="262" r:id="Rd0a77b08af0945ae"/>
    <p:sldId xmlns:r="http://schemas.openxmlformats.org/officeDocument/2006/relationships" id="263" r:id="Re26c7312ef7f4ca8"/>
    <p:sldId xmlns:r="http://schemas.openxmlformats.org/officeDocument/2006/relationships" id="264" r:id="R08beae69783646fe"/>
    <p:sldId xmlns:r="http://schemas.openxmlformats.org/officeDocument/2006/relationships" id="265" r:id="R8367fc23a9184086"/>
    <p:sldId xmlns:r="http://schemas.openxmlformats.org/officeDocument/2006/relationships" id="266" r:id="R9a3ad925aa174702"/>
    <p:sldId xmlns:r="http://schemas.openxmlformats.org/officeDocument/2006/relationships" id="267" r:id="R50ea363cc7e544ec"/>
    <p:sldId xmlns:r="http://schemas.openxmlformats.org/officeDocument/2006/relationships" id="268" r:id="Rf59952845f374777"/>
    <p:sldId xmlns:r="http://schemas.openxmlformats.org/officeDocument/2006/relationships" id="269" r:id="Rd5c82b4fa55945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e89b46efd84984" /><Relationship Type="http://schemas.openxmlformats.org/officeDocument/2006/relationships/slideMaster" Target="/ppt/slideMasters/slideMaster1.xml" Id="R2cb022af9aa84533" /><Relationship Type="http://schemas.openxmlformats.org/officeDocument/2006/relationships/notesMaster" Target="/ppt/notesMasters/notesMaster1.xml" Id="R0fcd74699b6b4027" /><Relationship Type="http://schemas.openxmlformats.org/officeDocument/2006/relationships/presProps" Target="/ppt/presProps.xml" Id="Rb0a53902081d4037" /><Relationship Type="http://schemas.openxmlformats.org/officeDocument/2006/relationships/tableStyles" Target="/ppt/tableStyles.xml" Id="R151542f88974436f" /><Relationship Type="http://schemas.openxmlformats.org/officeDocument/2006/relationships/slide" Target="/ppt/slides/slide1.xml" Id="R840d8f82c57841bc" /><Relationship Type="http://schemas.openxmlformats.org/officeDocument/2006/relationships/slide" Target="/ppt/slides/slide2.xml" Id="Rd811a1c97f1246ec" /><Relationship Type="http://schemas.openxmlformats.org/officeDocument/2006/relationships/slide" Target="/ppt/slides/slide3.xml" Id="Re0e8a2ffdef246f3" /><Relationship Type="http://schemas.openxmlformats.org/officeDocument/2006/relationships/slide" Target="/ppt/slides/slide4.xml" Id="R9b5fbecc7a334121" /><Relationship Type="http://schemas.openxmlformats.org/officeDocument/2006/relationships/slide" Target="/ppt/slides/slide5.xml" Id="R795bbfa66de94fec" /><Relationship Type="http://schemas.openxmlformats.org/officeDocument/2006/relationships/slide" Target="/ppt/slides/slide6.xml" Id="R7087ca0560b94357" /><Relationship Type="http://schemas.openxmlformats.org/officeDocument/2006/relationships/slide" Target="/ppt/slides/slide7.xml" Id="Rd0a77b08af0945ae" /><Relationship Type="http://schemas.openxmlformats.org/officeDocument/2006/relationships/slide" Target="/ppt/slides/slide8.xml" Id="Re26c7312ef7f4ca8" /><Relationship Type="http://schemas.openxmlformats.org/officeDocument/2006/relationships/slide" Target="/ppt/slides/slide9.xml" Id="R08beae69783646fe" /><Relationship Type="http://schemas.openxmlformats.org/officeDocument/2006/relationships/slide" Target="/ppt/slides/slide10.xml" Id="R8367fc23a9184086" /><Relationship Type="http://schemas.openxmlformats.org/officeDocument/2006/relationships/slide" Target="/ppt/slides/slide11.xml" Id="R9a3ad925aa174702" /><Relationship Type="http://schemas.openxmlformats.org/officeDocument/2006/relationships/slide" Target="/ppt/slides/slide12.xml" Id="R50ea363cc7e544ec" /><Relationship Type="http://schemas.openxmlformats.org/officeDocument/2006/relationships/slide" Target="/ppt/slides/slide13.xml" Id="Rf59952845f374777" /><Relationship Type="http://schemas.openxmlformats.org/officeDocument/2006/relationships/slide" Target="/ppt/slides/slide14.xml" Id="Rd5c82b4fa55945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72ef3a85ea4f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2a5a7c1fcb4945" /><Relationship Type="http://schemas.openxmlformats.org/officeDocument/2006/relationships/notesMaster" Target="/ppt/notesMasters/notesMaster1.xml" Id="R22bb1be9c60148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6604f7749f4ba5" /><Relationship Type="http://schemas.openxmlformats.org/officeDocument/2006/relationships/notesMaster" Target="/ppt/notesMasters/notesMaster1.xml" Id="R75b8154db80849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4d67093e534e59" /><Relationship Type="http://schemas.openxmlformats.org/officeDocument/2006/relationships/notesMaster" Target="/ppt/notesMasters/notesMaster1.xml" Id="Rf06673c278ca42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dd1b02f0534ddd" /><Relationship Type="http://schemas.openxmlformats.org/officeDocument/2006/relationships/notesMaster" Target="/ppt/notesMasters/notesMaster1.xml" Id="Re92714af8c6e43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858576f5694960" /><Relationship Type="http://schemas.openxmlformats.org/officeDocument/2006/relationships/notesMaster" Target="/ppt/notesMasters/notesMaster1.xml" Id="Rdda9da3801d34e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b258c7cb214ff0" /><Relationship Type="http://schemas.openxmlformats.org/officeDocument/2006/relationships/notesMaster" Target="/ppt/notesMasters/notesMaster1.xml" Id="Rd6c100be2e1745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5f0dcbdad342bb" /><Relationship Type="http://schemas.openxmlformats.org/officeDocument/2006/relationships/notesMaster" Target="/ppt/notesMasters/notesMaster1.xml" Id="R788d7108cafd4e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07604069f04a38" /><Relationship Type="http://schemas.openxmlformats.org/officeDocument/2006/relationships/notesMaster" Target="/ppt/notesMasters/notesMaster1.xml" Id="Ra93738b0f8034d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3f48c7e61243b7" /><Relationship Type="http://schemas.openxmlformats.org/officeDocument/2006/relationships/notesMaster" Target="/ppt/notesMasters/notesMaster1.xml" Id="Rc9ed6956770443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ed002d4b674339" /><Relationship Type="http://schemas.openxmlformats.org/officeDocument/2006/relationships/notesMaster" Target="/ppt/notesMasters/notesMaster1.xml" Id="Rf4fe3abbd84f4f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c094d2145a413a" /><Relationship Type="http://schemas.openxmlformats.org/officeDocument/2006/relationships/notesMaster" Target="/ppt/notesMasters/notesMaster1.xml" Id="Re4f8562ba66745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08219c6bd44cfb" /><Relationship Type="http://schemas.openxmlformats.org/officeDocument/2006/relationships/notesMaster" Target="/ppt/notesMasters/notesMaster1.xml" Id="R58ee9543bc944b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4ffe61d4cc45f6" /><Relationship Type="http://schemas.openxmlformats.org/officeDocument/2006/relationships/notesMaster" Target="/ppt/notesMasters/notesMaster1.xml" Id="R3c351a3f102240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91446471d445bf" /><Relationship Type="http://schemas.openxmlformats.org/officeDocument/2006/relationships/notesMaster" Target="/ppt/notesMasters/notesMaster1.xml" Id="R49fc97d021f348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생성 가상 교육 장면. 실제 회사 직원·강사·수행 사진 아님.</a:t>
            </a:r>
          </a:p>
          <a:p xmlns:a="http://schemas.openxmlformats.org/drawingml/2006/main">
            <a:r>
              <a:t>이미지 출처: BID3 기존 Codex 생성 이미지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생성 가상 교육 장면. 실제 회사 직원·강사·수행 사진 아님.</a:t>
            </a:r>
          </a:p>
          <a:p xmlns:a="http://schemas.openxmlformats.org/drawingml/2006/main">
            <a:r>
              <a:t>이미지 출처: BID3 기존 Codex 생성 이미지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14aab430846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7503d66fe4f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9009ac6a3240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18c046f1142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cd8f1b9d043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dc671063645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BEFB9F-D225-4EC9-8F70-6A2CDC08E6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F7520B-F45D-4F3C-9A4B-2A2F5005B8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6CA8C61-8522-49FC-ABD3-9C211033FF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FD3D06-335A-45A7-A016-13AF34CD74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1F05A79-A744-45BE-9468-7AB1733228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5E5373-9A3F-489C-B8AC-D6F58293CE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E78416-5905-4EEB-937E-B0BAF5214B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651FCE-D7F4-4BFC-94CE-6DDFB970AD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9A32BF-9C1D-481F-96BE-B13B8D6A46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D90073-9ECC-4BC0-9863-CAA6154617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563c0c563e4a19" /><Relationship Type="http://schemas.openxmlformats.org/officeDocument/2006/relationships/slideLayout" Target="/ppt/slideLayouts/slideLayout1.xml" Id="R471d1e4b20364410" /><Relationship Type="http://schemas.openxmlformats.org/officeDocument/2006/relationships/slideLayout" Target="/ppt/slideLayouts/slideLayout2.xml" Id="R79f98983752c48c1" /><Relationship Type="http://schemas.openxmlformats.org/officeDocument/2006/relationships/slideLayout" Target="/ppt/slideLayouts/slideLayout3.xml" Id="Re4ca87f845ed4fb7" /><Relationship Type="http://schemas.openxmlformats.org/officeDocument/2006/relationships/slideLayout" Target="/ppt/slideLayouts/slideLayout4.xml" Id="Rc663f6ecc8534c20" /><Relationship Type="http://schemas.openxmlformats.org/officeDocument/2006/relationships/slideLayout" Target="/ppt/slideLayouts/slideLayout5.xml" Id="R3303ba14934e4e41" /><Relationship Type="http://schemas.openxmlformats.org/officeDocument/2006/relationships/slideLayout" Target="/ppt/slideLayouts/slideLayout6.xml" Id="Rb95ab7fb82544d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1d1e4b20364410"/>
    <p:sldLayoutId xmlns:r="http://schemas.openxmlformats.org/officeDocument/2006/relationships" id="2147483650" r:id="R79f98983752c48c1"/>
    <p:sldLayoutId xmlns:r="http://schemas.openxmlformats.org/officeDocument/2006/relationships" id="2147483651" r:id="Re4ca87f845ed4fb7"/>
    <p:sldLayoutId xmlns:r="http://schemas.openxmlformats.org/officeDocument/2006/relationships" id="2147483652" r:id="Rc663f6ecc8534c20"/>
    <p:sldLayoutId xmlns:r="http://schemas.openxmlformats.org/officeDocument/2006/relationships" id="2147483653" r:id="R3303ba14934e4e41"/>
    <p:sldLayoutId xmlns:r="http://schemas.openxmlformats.org/officeDocument/2006/relationships" id="2147483654" r:id="Rb95ab7fb82544d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e6a298c7ea478b" /><Relationship Type="http://schemas.openxmlformats.org/officeDocument/2006/relationships/image" Target="/ppt/media/image.png" Id="Rde509063bc22401e" /><Relationship Type="http://schemas.openxmlformats.org/officeDocument/2006/relationships/notesSlide" Target="/ppt/notesSlides/notesSlide1.xml" Id="Rbf4e406448b243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74d260eabd4ebb" /><Relationship Type="http://schemas.openxmlformats.org/officeDocument/2006/relationships/notesSlide" Target="/ppt/notesSlides/notesSlide2.xml" Id="R21a6bc733a8c4e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c59e54a90846cb" /><Relationship Type="http://schemas.openxmlformats.org/officeDocument/2006/relationships/image" Target="/ppt/media/image2.png" Id="Ra65a1e929c5445e3" /><Relationship Type="http://schemas.openxmlformats.org/officeDocument/2006/relationships/notesSlide" Target="/ppt/notesSlides/notesSlide3.xml" Id="R93d87437a8804b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f5385faf3c43ce" /><Relationship Type="http://schemas.openxmlformats.org/officeDocument/2006/relationships/notesSlide" Target="/ppt/notesSlides/notesSlide4.xml" Id="R90c4fbfd5df148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7d5a446a84a53" /><Relationship Type="http://schemas.openxmlformats.org/officeDocument/2006/relationships/notesSlide" Target="/ppt/notesSlides/notesSlide5.xml" Id="Red0db537b5b244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19bd0615b4b2e" /><Relationship Type="http://schemas.openxmlformats.org/officeDocument/2006/relationships/notesSlide" Target="/ppt/notesSlides/notesSlide6.xml" Id="R3b3cd81f799e47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4d65f5e76462c" /><Relationship Type="http://schemas.openxmlformats.org/officeDocument/2006/relationships/notesSlide" Target="/ppt/notesSlides/notesSlide7.xml" Id="Rd2fe90e2ad6d41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99f30f9954a1b" /><Relationship Type="http://schemas.openxmlformats.org/officeDocument/2006/relationships/notesSlide" Target="/ppt/notesSlides/notesSlide8.xml" Id="Raa567760053544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20cf9c88774265" /><Relationship Type="http://schemas.openxmlformats.org/officeDocument/2006/relationships/notesSlide" Target="/ppt/notesSlides/notesSlide9.xml" Id="R6912f10007ec41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2028b58294449" /><Relationship Type="http://schemas.openxmlformats.org/officeDocument/2006/relationships/notesSlide" Target="/ppt/notesSlides/notesSlide10.xml" Id="Rc784ecbb00484b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44dfbcd3c4d4a" /><Relationship Type="http://schemas.openxmlformats.org/officeDocument/2006/relationships/notesSlide" Target="/ppt/notesSlides/notesSlide11.xml" Id="Rf97ac3e9f6a344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b4ff821944569" /><Relationship Type="http://schemas.openxmlformats.org/officeDocument/2006/relationships/notesSlide" Target="/ppt/notesSlides/notesSlide12.xml" Id="Rc7b3cce0aeb74a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a70d37e954220" /><Relationship Type="http://schemas.openxmlformats.org/officeDocument/2006/relationships/notesSlide" Target="/ppt/notesSlides/notesSlide13.xml" Id="R18f1f947199544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1e27c4bd424c6f" /><Relationship Type="http://schemas.openxmlformats.org/officeDocument/2006/relationships/notesSlide" Target="/ppt/notesSlides/notesSlide14.xml" Id="R57ccebc9ecde46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DEC41-002E-4876-9183-D60FF95ECA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09063bc22401e"/>
          <a:srcRect xmlns:a="http://schemas.openxmlformats.org/drawingml/2006/main" l="24440" t="0" r="244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229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B6B404F-A945-49E2-B331-1C2ED983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191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BCCF56C9-877D-48FC-9C15-BD83ABAB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76425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교육·연수</a:t>
            </a:r>
          </a:p>
          <a:p xmlns:a="http://schemas.openxmlformats.org/drawingml/2006/main">
            <a:pPr algn="l">
              <a:defRPr sz="42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70D77E5-F622-4E15-9A9A-D4BF9403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9600"/>
            <a:ext cx="4667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사업명 · 발주기관 · 제안사 작성</a:t>
            </a:r>
          </a:p>
        </p:txBody>
      </p:sp>
      <p:sp>
        <p:nvSpPr>
          <p:cNvPr id="5" name="bid3-fixed-design-name">
            <a:extLst xmlns:a="http://schemas.openxmlformats.org/drawingml/2006/main">
              <a:ext uri="{FF2B5EF4-FFF2-40B4-BE49-F238E27FC236}">
                <a16:creationId xmlns:a16="http://schemas.microsoft.com/office/drawing/2014/main" id="{034FC092-DE37-4A5D-9FDD-A83419DA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83882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세미나 포커스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B7AEF43-248B-4FBA-B7D5-3F1037AD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395462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5DC8F88-D21E-459B-9777-A67E976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/ 제안 구성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BAEDE30-16CF-4C03-A741-2D3DE501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교육 운영의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11BDF9B-C09C-4F9E-83AF-E1515901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학습 설계와 운영 관리가 하나의 교육 경험으로 이어집니다.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8B689E92-D106-4157-8C6F-73ADF196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B719876-600C-454C-844B-90ECCA5A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6944EDEA-C80C-45A1-B804-0D872A69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0128B7B-714F-4CAC-A55D-A67BFED5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D3FF224-4687-4C29-A9AF-D7D2B372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B3B00C2-769A-4888-97C0-5D730581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384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학습자와 과정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E9D3BF7-BE8D-443A-A450-5C4AE41A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6700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A57DB086-EB03-401F-BF77-66C2DCC7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2867F6D-9BC7-44D7-A5BF-D3D01A59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3272B75-8CDC-4C02-8D4F-6B5A7798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수업과 학습 지원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3719BE0-4BE5-4033-824B-6220346C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5757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0D569938-B2EB-4A13-8368-42FE8892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7614153-5B32-44DC-8566-54337DCD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0D05204-51C2-4364-8AC5-75AFAA43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957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관리와 평가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E495A74-9A06-4E87-8F8A-C0DDE521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4815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9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E0210EDC-7A3B-4A18-8904-CC2C4D57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3870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0">
            <a:noFill/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5D720C2-A714-414F-B3A6-81282A6A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C19C499-AD32-4C4E-BC73-6B99B59F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실행과 보고</a:t>
            </a:r>
          </a:p>
        </p:txBody>
      </p: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5113A3C-36EE-49F2-B685-5AB81148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03872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248250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E90D5CB-578A-42B3-81F5-B15A33DB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86D9B1B-8A0E-4151-9159-DB637A6E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학습자와 교육 목표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11A1F37-EBDB-458C-95E0-4CE0C718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업무에 필요한 회화와 지속 가능한 학습을 함께 설계합니다.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45923FF-180B-4EB3-AC74-16A18A73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0945BB6-01E7-4A70-9A4D-81045A3E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0174F744-ACF8-4CA7-804B-FFD2A970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7806101-A0F9-4089-AD79-A5A7C06E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D2A1B-151F-4DAA-B906-BF688DAAEA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a1e929c5445e3"/>
          <a:srcRect xmlns:a="http://schemas.openxmlformats.org/drawingml/2006/main" l="3800" t="0" r="38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2667000"/>
            <a:ext cx="5238750" cy="3190875"/>
          </a:xfrm>
          <a:prstGeom xmlns:a="http://schemas.openxmlformats.org/drawingml/2006/main" prst="rect">
            <a:avLst/>
          </a:prstGeom>
        </p:spPr>
      </p:pic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530CE0B-5C3B-43BD-91D4-77082038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업무 맥락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7C443B7-B665-4078-8A78-01415FE5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3717596-78EC-4130-A91B-F7E7ED4F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학습 시간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CD46895-D4AC-4C0D-8F08-C306ADF2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04024E3-E463-4D01-B04D-AFC105AD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운영 기록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EB58983-AC6C-46B8-8226-C766FFAE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5" name="bid3-fixed-image-caption">
            <a:extLst xmlns:a="http://schemas.openxmlformats.org/drawingml/2006/main">
              <a:ext uri="{FF2B5EF4-FFF2-40B4-BE49-F238E27FC236}">
                <a16:creationId xmlns:a16="http://schemas.microsoft.com/office/drawing/2014/main" id="{60D2BF98-970D-4EDA-9538-A616B8E2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62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AI 생성 교육 장면 · 실제 소속 강사 사진 아님</a:t>
            </a:r>
          </a:p>
        </p:txBody>
      </p:sp>
    </p:spTree>
    <p:extLst>
      <p:ext uri="{BB962C8B-B14F-4D97-AF65-F5344CB8AC3E}">
        <p14:creationId xmlns:p14="http://schemas.microsoft.com/office/powerpoint/2010/main" val="485123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A027DEF-AE6A-4630-A72A-9933D9A7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A4A55F4-5C4D-48DA-BF49-5E41EB93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언어·수준별 과정 설계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70FD291-A406-484F-998F-8A25A744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착수 시 진단 결과와 개설 가능 범위를 대조해 과정 편성을 협의합니다.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FCC238D3-4FA7-4FB0-A0F6-FA02FAC0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8E244CD-455D-4361-8C10-31E60726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C51BD84D-B65C-46A9-9E69-B2CAF6C7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D795858-D0EF-4E1F-82D7-FE4964CE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484BF-1D9B-4EEF-B160-0CBF0A531D62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571750"/>
                <a:gridCol w="3781425"/>
                <a:gridCol w="2857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42875" marR="142875" marT="114300" marB="95250" anchor="ctr">
                    <a:solidFill>
                      <a:srgbClr val="493B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목적</a:t>
                      </a:r>
                    </a:p>
                  </a:txBody>
                  <a:tcPr marL="142875" marR="142875" marT="114300" marB="95250" anchor="ctr">
                    <a:solidFill>
                      <a:srgbClr val="493B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수업 구성</a:t>
                      </a:r>
                    </a:p>
                  </a:txBody>
                  <a:tcPr marL="142875" marR="142875" marT="114300" marB="95250" anchor="ctr">
                    <a:solidFill>
                      <a:srgbClr val="493B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사항</a:t>
                      </a:r>
                    </a:p>
                  </a:txBody>
                  <a:tcPr marL="142875" marR="142875" marT="114300" marB="95250" anchor="ctr">
                    <a:solidFill>
                      <a:srgbClr val="493B31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영어</a:t>
                      </a:r>
                    </a:p>
                  </a:txBody>
                  <a:tcPr marL="142875" marR="142875" marT="114300" marB="95250" anchor="ctr">
                    <a:solidFill>
                      <a:srgbClr val="F2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2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2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2E5D6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제2외국어</a:t>
                      </a:r>
                    </a:p>
                  </a:txBody>
                  <a:tcPr marL="142875" marR="142875" marT="114300" marB="95250" anchor="ctr"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FF8F0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대비</a:t>
                      </a:r>
                    </a:p>
                  </a:txBody>
                  <a:tcPr marL="142875" marR="142875" marT="114300" marB="95250" anchor="ctr">
                    <a:solidFill>
                      <a:srgbClr val="F2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2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2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2E5D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9650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D02E42C3-3C99-47B2-8ACF-4868B363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846AA36-55BD-4338-8F2F-E9A46E73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예습부터 수업 후 점검까지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34F27CE-DA84-4431-BEC4-E663720E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각 수업을 준비하고, 사용한 표현을 복습하며 다음 학습으로 이어갑니다.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ECA38FFE-A0D6-4554-B474-2EE4D775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3319376-0FF7-46F0-8B5D-2E266837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6685C913-FB0F-48D9-A99E-DA234742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B668B26-D000-434A-BCD5-D0C4F331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21019DA-0FDB-4CF8-A7F5-CC4207AA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745068D6-418B-4AF9-8E1B-A5E4A524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9525">
            <a:solidFill>
              <a:srgbClr val="B36637"/>
            </a:solidFill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D3721DC-1246-407F-B317-739C5149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예습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7DC9DBB-A32E-4862-8C10-724D9141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5A0BADED-5BD6-433A-B4FA-591DEA8104F6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36637"/>
            </a:solidFill>
          </a:ln>
        </p:spPr>
      </p:cxn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0E58B8C-B21A-41E5-9483-330FE762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8BC90647-F958-4AF9-AB6C-B63FC003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9525">
            <a:solidFill>
              <a:srgbClr val="B36637"/>
            </a:solidFill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2B9724B-14B6-463B-AC4E-16C30368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수업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952A839-719F-4B42-9AC7-AF2F1455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7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247301DE-FA45-401E-97EA-BD2161415062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36637"/>
            </a:solidFill>
          </a:ln>
        </p:spPr>
      </p:cxn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9E93129-9CF2-4470-B09E-63E73E46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4A3F6BD6-1A11-43DD-A70F-6874F00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9525">
            <a:solidFill>
              <a:srgbClr val="B36637"/>
            </a:solidFill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A72EC47-3BC7-437D-B96E-71CAEA3B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복습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231A889-953E-4EB0-A766-CC54D1C2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BB13F4CA-5ECB-4B50-983F-566D210B7E35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36637"/>
            </a:solidFill>
          </a:ln>
        </p:spPr>
      </p:cxn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A2DBB63-6F84-426F-B4AC-5B62DE22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3DF55A68-4130-49AB-A100-3AF200FC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9525">
            <a:solidFill>
              <a:srgbClr val="B36637"/>
            </a:solidFill>
          </a:ln>
        </p:spPr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880C88D-5209-4A8D-91D7-F1297077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점검</a:t>
            </a:r>
          </a:p>
        </p:txBody>
      </p:sp>
      <p:sp>
        <p:nvSpPr>
          <p:cNvPr id="2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8ACCEA8-9604-4497-BCC7-81C1F3DD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8188782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2401D29-5F11-4EEF-BE99-539B23D5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C3CF9F1-62FF-4C79-A8B8-1836BB6A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수업 유형과 운영 시간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07C47F5-399A-4EA4-B1F0-3B21947E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학습 일정과 이용 환경에 맞춰 전화·화상 수업 유형을 구성합니다.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27CD212-DCFF-41A7-91FE-AB3D4D4D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2CCA36E-D917-4BCB-9D12-CF59D011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D84CEC7A-88A4-4932-BDEA-CE85CCC2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C021EFD-E181-4990-8336-0A496B53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26841D2-1AD8-4D40-83BC-F521AED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863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60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운영 기준</a:t>
            </a:r>
          </a:p>
        </p:txBody>
      </p:sp>
      <p:sp>
        <p:nvSpPr>
          <p:cNvPr id="9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B1711EA-12DF-4467-9016-4F157BC0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286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45BC2DB-CC5C-49E2-B9DB-AA26D586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1CEFF4E-9D64-468A-81FF-107F5BF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14625"/>
            <a:ext cx="52863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60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선택 유형</a:t>
            </a:r>
          </a:p>
        </p:txBody>
      </p:sp>
      <p:sp>
        <p:nvSpPr>
          <p:cNvPr id="12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1D11AF06-3037-46A5-8F89-922702EE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38600"/>
            <a:ext cx="5286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85F8E7A-0FFB-4A8F-99EC-6E3574EB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14825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61929EE-63D8-4288-BF5C-388300E8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048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지원 범위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4369528-A5D0-469A-AB20-08AC825E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14975"/>
            <a:ext cx="672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998968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D459E91-5B61-402E-BEF6-53DDDBBB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0A9E41CF-B20C-4F0D-BE3D-929A35AE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목적별 교육과정과 교재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5B27108-4D25-41FB-9285-63424071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학습 목적과 수준에 맞는 과정과 교재를 선택합니다.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3E6E93D-E5A2-4269-9084-8DAD2EB3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9321C1E-53C5-4042-93D2-33EB2575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49472C07-F72F-49C3-AB6A-0D1CF78D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7D7ABDB-B4DA-4708-B53A-DFDA02AA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429E593-31F8-4B97-B462-1CE5D505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F8C9E9E1-0F03-4EC8-B98F-FBAA6A4E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2E91820-761A-4586-8719-0D47C611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일상 회화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46C8AC8-865F-4444-BFA2-750C4B70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819D37E-0BE2-405D-AF8E-C381D34F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BBDF995B-949A-4EC8-98B2-1171A64D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37892B2-C556-4F32-8C2E-3B9E53BF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비즈니스·뉴스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5F4178B-DA30-4484-A8A3-CC745ACE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CBB9D81-BC4E-4409-B94A-DAA3CDF1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426FFE07-A91C-4ABE-8151-4594A022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4F04455-C905-4972-8CBE-0C6C4AD1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시험 대비</a:t>
            </a:r>
          </a:p>
        </p:txBody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DA00FA8-460F-463D-A985-EE91C75A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3949220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8080A4B-989E-482A-A907-868518F6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0E84043-61FB-450E-8F6E-84A2E6F3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강사 선발과 수업 품질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1FABE17-7E58-4BE3-A31D-5C63461E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사전 확인과 수업 피드백을 통해 보완·교체 여부를 협의합니다.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3A423C3-161A-4F90-B5C9-EDA8D5E5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47F2C65-A0E6-458E-95BB-93C305DB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B2949CFE-F590-4235-B915-0FDB7295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CE4D2D7-D76A-462B-ADE9-C089560F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623B5F0-87E3-4F9B-81AB-43B1D23E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FA6E623B-63D6-473E-9A64-3C49E3A0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9525">
            <a:solidFill>
              <a:srgbClr val="B36637"/>
            </a:solidFill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93B7F8C-5F4B-4B74-A4B2-0A2242BF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선발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D1349A5-990A-4201-83A0-EFDECCFC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F032884C-85D5-459F-81DB-67ED7925D02F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36637"/>
            </a:solidFill>
          </a:ln>
        </p:spPr>
      </p:cxn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EFD4B59-3145-49E4-A3BC-1DFC2529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5A28286F-305F-4814-8BCD-FFA7F043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9525">
            <a:solidFill>
              <a:srgbClr val="B36637"/>
            </a:solidFill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43FA709-6900-4F06-A3D7-5E137BB4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훈련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E450234-5765-40C5-B5DE-4F713347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7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67EB74ED-EC4B-4D3E-9A81-C48BAE65B152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36637"/>
            </a:solidFill>
          </a:ln>
        </p:spPr>
      </p:cxn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DEBEDCD-E12E-418D-BA06-01486F29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AC5E3548-4E95-4553-B4C0-3722CEB7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9525">
            <a:solidFill>
              <a:srgbClr val="B36637"/>
            </a:solidFill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704F841-21B5-4548-A189-CDC3D612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909F567-8263-405A-BD45-261F9093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70A909E1-AAC9-443B-8675-66E391FEC322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36637"/>
            </a:solidFill>
          </a:ln>
        </p:spPr>
      </p:cxn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BD77B13-A3D2-4846-A19B-8E73C7C5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8EF6A0A7-0D26-4B3A-AB11-A0A95BA4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9525">
            <a:solidFill>
              <a:srgbClr val="B36637"/>
            </a:solidFill>
          </a:ln>
        </p:spPr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E9A7634-B236-46AB-A441-39EE001B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개선</a:t>
            </a:r>
          </a:p>
        </p:txBody>
      </p:sp>
      <p:sp>
        <p:nvSpPr>
          <p:cNvPr id="2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AD20203-833A-4D35-B73D-8122BEDD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4881122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FAC24E1-006B-41BF-B650-F4748A49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59ABB98-017D-401A-BB07-BDC1FE9A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출석·수료·안내 체계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31E0876-9B35-4036-90FF-AE252C52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공고의 수료 조건을 사전에 안내하고 실제 출석 기록과 대조합니다.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2DBF831B-F63C-4715-B8DC-EB002890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69BD700-E2AB-453F-B0C9-5C7E5FA8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DDF64C96-2E67-4EF5-A762-A18A5755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60752D6-9785-4783-BAEB-CD78A598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31D9FF8-6574-4B7C-9953-7AF40289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863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60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운영 기준</a:t>
            </a:r>
          </a:p>
        </p:txBody>
      </p:sp>
      <p:sp>
        <p:nvSpPr>
          <p:cNvPr id="9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F2056238-183A-4326-BB5B-53CCD013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286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1BF9114-EA6D-494E-A1AF-2E72ACD7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AC09CBC-E429-450F-AE67-27698EBC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14625"/>
            <a:ext cx="52863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60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선택 유형</a:t>
            </a:r>
          </a:p>
        </p:txBody>
      </p:sp>
      <p:sp>
        <p:nvSpPr>
          <p:cNvPr id="12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135AF90A-E41A-48C4-BAA5-0A57D9C8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38600"/>
            <a:ext cx="5286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F3D3FF1-F2D8-4ECC-AF6F-C612C390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14825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055E24B-D413-4A85-A929-F27F7B48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048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지원 범위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B079AEA-0451-4B44-9BBD-2D565339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14975"/>
            <a:ext cx="672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6469696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65BDCD5-9373-4801-8BEA-B2693706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2C00C2C-D2D6-41E3-903C-E09D82BF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월별 평가와 상시 학습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E104A90-66E7-4AF6-9F94-F9801548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학습 기록을 읽고 다음 수업과 수업 밖의 학습을 연결합니다.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69E964B3-0177-4749-92EF-A3CE8692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F16B8FB-84F6-43FE-9E5D-1CD66D1C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F5BA3E9C-CB27-4689-81AA-29BA4BFA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5487F02-55D0-49A6-A359-DB809AA7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89F3F75-164E-4947-8017-C9C2F9BB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A65575C7-7E37-41F2-B39A-4B1DCCBB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9525">
            <a:solidFill>
              <a:srgbClr val="B36637"/>
            </a:solidFill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46C5967-216A-481C-A5C3-24F41B53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4F6B336-0E7E-4959-AE0C-53DFA6D3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30D4C6BE-A2FD-4304-9BCF-A05B85931744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36637"/>
            </a:solidFill>
          </a:ln>
        </p:spPr>
      </p:cxn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78B0BFE-C1E5-4EF5-B1E4-C11DA537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7994EB0E-2983-4E5E-BAF1-62615BCA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9525">
            <a:solidFill>
              <a:srgbClr val="B36637"/>
            </a:solidFill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9F0D8B7-31FA-453E-8DDD-0FA7DFEE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85FAED0-E14B-4284-AABE-EB42F69E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7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5B043E83-C8A0-4F3B-ACE0-4514229B3C89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36637"/>
            </a:solidFill>
          </a:ln>
        </p:spPr>
      </p:cxn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EB85939-66BB-4422-B63F-41A1E45C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FD16A735-E2C5-462B-9DE4-A92C5FF8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9525">
            <a:solidFill>
              <a:srgbClr val="B36637"/>
            </a:solidFill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BDDF589-BBF9-4021-AEFE-52A69F01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보완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9F849C6-53AE-4E66-BB12-44F7675B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F6CC22C2-8A3E-4709-B338-C90CA921C156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36637"/>
            </a:solidFill>
          </a:ln>
        </p:spPr>
      </p:cxn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F481045-B216-4762-80CC-9FCF9663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2AE15150-66AE-41EC-9817-03E8A205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9525">
            <a:solidFill>
              <a:srgbClr val="B36637"/>
            </a:solidFill>
          </a:ln>
        </p:spPr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53D985D-5C39-4E55-80BF-FF127547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다음 수업</a:t>
            </a:r>
          </a:p>
        </p:txBody>
      </p:sp>
      <p:sp>
        <p:nvSpPr>
          <p:cNvPr id="2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2ED0C74-4BFB-4EEA-BEFB-2B91A67F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0099705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F88314F-689C-4694-B53E-D2741E7C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3A92303-476E-457E-ABB6-D0B1683F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연차별 교육 일정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83F645A-CE94-4C6F-96E0-B39CEEDC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계약 기간과 교육 일정에 맞춰 운영 단계와 보고 시점을 작성합니다.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364FEC48-1268-40C9-8B7E-D1809F75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DE92BE7-BE1A-407E-9923-4C425987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B3F844C1-2F98-47BC-B50D-AD18B907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C39AE33-25C3-434A-B21C-D8AF73F6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428D825-75EE-43F9-AFB4-DFD34D70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운영 1단계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A45DC40-D3FE-4B3D-8DEC-21B91072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1C733BD-7DD5-465C-840D-512D0D6D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E2D8786C-9D85-4BC8-AC18-7F938B85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D6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B1E9921-6BF0-46AB-8D9B-747CFE8B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운영 2단계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3C02CC4-616C-49CA-A7BA-49ED9765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8147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F166BB4-8620-45B1-829E-CB76C3D6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18147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639052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238CACE-EB8F-45D3-92C8-73D330B7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5545DCA-5FD6-4E94-9FAA-8901A2F6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운영 보고와 실비 정산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9DE847C-FED6-404B-B060-264CAEED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수행 내역을 확인할 수 있는 기록으로 월별 운영과 정산을 관리합니다.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8A77B048-97E1-4CBB-827A-1551B87E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72509B0-6005-4996-B09B-E62471CF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3FA4858C-5EA1-4AF9-A076-2FFCA4C8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44D49F2-CACF-48A3-B736-75186157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7956E-9DEA-4FDB-96E0-3B9675B51A5C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142875" marR="142875" marT="114300" marB="95250" anchor="ctr">
                    <a:solidFill>
                      <a:srgbClr val="493B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기록할 내용</a:t>
                      </a:r>
                    </a:p>
                  </a:txBody>
                  <a:tcPr marL="142875" marR="142875" marT="114300" marB="95250" anchor="ctr">
                    <a:solidFill>
                      <a:srgbClr val="493B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시점</a:t>
                      </a:r>
                    </a:p>
                  </a:txBody>
                  <a:tcPr marL="142875" marR="142875" marT="114300" marB="95250" anchor="ctr">
                    <a:solidFill>
                      <a:srgbClr val="493B31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계획</a:t>
                      </a:r>
                    </a:p>
                  </a:txBody>
                  <a:tcPr marL="142875" marR="142875" marT="114300" marB="95250" anchor="ctr">
                    <a:solidFill>
                      <a:srgbClr val="F2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2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2E5D6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월별 운영 보고</a:t>
                      </a:r>
                    </a:p>
                  </a:txBody>
                  <a:tcPr marL="142875" marR="142875" marT="114300" marB="95250" anchor="ctr"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FF8F0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결과·인계</a:t>
                      </a:r>
                    </a:p>
                  </a:txBody>
                  <a:tcPr marL="142875" marR="142875" marT="114300" marB="95250" anchor="ctr">
                    <a:solidFill>
                      <a:srgbClr val="F2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2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93B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2E5D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2685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ACB1BD3A-D129-4648-9097-807DBC14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/ 수행 근거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EDA49CD-D5C8-4EEB-B697-D1471EAF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회사 자료와 현행 증빙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48BB4E8-5A83-46CC-BDFB-7B046A81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회사 자료와 현행 제공 범위를 대조해 수행 근거를 작성합니다.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C66B9C0B-AC7E-4226-A146-6CE4E913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637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A206B40-A027-4CDE-8F61-71C26251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348B1996-A211-45E9-A8E8-3E44F577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EB3B291-C7BA-4AB0-8AC8-6825AE56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19596CE-910F-4470-842A-CF322202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현행 서비스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6AB776A-4043-43AC-98B2-A1312768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D9A71FA-C71B-4EC5-A8A5-16AA758B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투입 인력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E805B01-0996-4CDF-A7BC-26D063A9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B7F8B1B-575D-4776-99A1-7662879D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유사 실적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E9ADBA8-F1B5-4175-8793-F7D57D16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material-placeholder-heading">
            <a:extLst xmlns:a="http://schemas.openxmlformats.org/drawingml/2006/main">
              <a:ext uri="{FF2B5EF4-FFF2-40B4-BE49-F238E27FC236}">
                <a16:creationId xmlns:a16="http://schemas.microsoft.com/office/drawing/2014/main" id="{842444FB-81DA-42F8-9730-2E8B6AD0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49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원문 자료와 제출 증빙</a:t>
            </a:r>
          </a:p>
        </p:txBody>
      </p:sp>
      <p:sp>
        <p:nvSpPr>
          <p:cNvPr id="15" name="bid3-material-placeholder-copy">
            <a:extLst xmlns:a="http://schemas.openxmlformats.org/drawingml/2006/main">
              <a:ext uri="{FF2B5EF4-FFF2-40B4-BE49-F238E27FC236}">
                <a16:creationId xmlns:a16="http://schemas.microsoft.com/office/drawing/2014/main" id="{69330926-57DC-4B8F-9A95-261C1EC5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4495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회사 소개서의 관련 이미지·도표를</a:t>
            </a:r>
          </a:p>
          <a:p xmlns:a="http://schemas.openxmlformats.org/drawingml/2006/main">
            <a:pPr algn="l">
              <a:def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93B31"/>
                </a:solidFill>
                <a:latin typeface="Malgun Gothic"/>
                <a:ea typeface="Malgun Gothic"/>
                <a:cs typeface="Malgun Gothic"/>
              </a:rPr>
              <a:t>현재 사업의 수행 근거와 대조합니다.</a:t>
            </a:r>
          </a:p>
        </p:txBody>
      </p:sp>
      <p:sp>
        <p:nvSpPr>
          <p:cNvPr id="16" name="bid3-material-placeholder-notice">
            <a:extLst xmlns:a="http://schemas.openxmlformats.org/drawingml/2006/main">
              <a:ext uri="{FF2B5EF4-FFF2-40B4-BE49-F238E27FC236}">
                <a16:creationId xmlns:a16="http://schemas.microsoft.com/office/drawing/2014/main" id="{57EF9504-2DD0-4B65-9B6A-22C90659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0175"/>
            <a:ext cx="449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B36637"/>
                </a:solidFill>
                <a:latin typeface="Malgun Gothic"/>
                <a:ea typeface="Malgun Gothic"/>
                <a:cs typeface="Malgun Gothic"/>
              </a:rPr>
              <a:t>자료가 없으면 현행 증빙 확보 후 반영</a:t>
            </a:r>
          </a:p>
        </p:txBody>
      </p:sp>
    </p:spTree>
    <p:extLst>
      <p:ext uri="{BB962C8B-B14F-4D97-AF65-F5344CB8AC3E}">
        <p14:creationId xmlns:p14="http://schemas.microsoft.com/office/powerpoint/2010/main" val="19978493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493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AF8085FC-4FD6-45E8-B60C-108237D7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수업이 끝나도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학습은 이어지도록</a:t>
            </a:r>
          </a:p>
        </p:txBody>
      </p:sp>
      <p:sp>
        <p:nvSpPr>
          <p:cNvPr id="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7A9E84E-03BA-44B4-97CD-74AB46DB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577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제안사 · 담당자 · 연락처 작성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F2F5AD0-3D25-4C92-B94D-16AB3459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743AA3C-0696-46AB-BAE0-2E867480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19884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2026-10-14T01:26:07.5300000Z</dcterms:created>
  <dcterms:modified xsi:type="dcterms:W3CDTF">2026-10-14T01:26:07.5300000Z</dcterms:modified>
</coreProperties>
</file>