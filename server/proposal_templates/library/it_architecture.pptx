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ec043a3fec4242" /><Relationship Type="http://schemas.openxmlformats.org/officeDocument/2006/relationships/extended-properties" Target="/docProps/app.xml" Id="Rf28ff354ddd04e1c" /><Relationship Type="http://schemas.openxmlformats.org/officeDocument/2006/relationships/officeDocument" Target="/ppt/presentation.xml" Id="R91d89d5db5824f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3e0fb7bf9143ff"/>
  </p:sldMasterIdLst>
  <p:notesMasterIdLst>
    <p:notesMasterId xmlns:r="http://schemas.openxmlformats.org/officeDocument/2006/relationships" r:id="Rafb402c239a94527"/>
  </p:notesMasterIdLst>
  <p:sldIdLst>
    <p:sldId xmlns:r="http://schemas.openxmlformats.org/officeDocument/2006/relationships" id="256" r:id="R7842eb3dc15141af"/>
    <p:sldId xmlns:r="http://schemas.openxmlformats.org/officeDocument/2006/relationships" id="257" r:id="Rf6bbcf680f7b4b01"/>
    <p:sldId xmlns:r="http://schemas.openxmlformats.org/officeDocument/2006/relationships" id="258" r:id="R95c83f9418564bde"/>
    <p:sldId xmlns:r="http://schemas.openxmlformats.org/officeDocument/2006/relationships" id="259" r:id="R5860c922f94e4f2c"/>
    <p:sldId xmlns:r="http://schemas.openxmlformats.org/officeDocument/2006/relationships" id="260" r:id="R608d3f4e0fdb4033"/>
    <p:sldId xmlns:r="http://schemas.openxmlformats.org/officeDocument/2006/relationships" id="261" r:id="R689c5a06c76b4e3a"/>
    <p:sldId xmlns:r="http://schemas.openxmlformats.org/officeDocument/2006/relationships" id="262" r:id="Rcd024e9993364bdb"/>
    <p:sldId xmlns:r="http://schemas.openxmlformats.org/officeDocument/2006/relationships" id="263" r:id="R50c6191c71e74f7f"/>
    <p:sldId xmlns:r="http://schemas.openxmlformats.org/officeDocument/2006/relationships" id="264" r:id="R33fea5d687b74a32"/>
    <p:sldId xmlns:r="http://schemas.openxmlformats.org/officeDocument/2006/relationships" id="265" r:id="R47b0ca1a39774807"/>
    <p:sldId xmlns:r="http://schemas.openxmlformats.org/officeDocument/2006/relationships" id="266" r:id="R8463af1fe7e04685"/>
    <p:sldId xmlns:r="http://schemas.openxmlformats.org/officeDocument/2006/relationships" id="267" r:id="Rdee0dddf079347d9"/>
    <p:sldId xmlns:r="http://schemas.openxmlformats.org/officeDocument/2006/relationships" id="268" r:id="Raeb91b10b46a44af"/>
    <p:sldId xmlns:r="http://schemas.openxmlformats.org/officeDocument/2006/relationships" id="269" r:id="Rb2b58f05802f43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88635da8974404" /><Relationship Type="http://schemas.openxmlformats.org/officeDocument/2006/relationships/slideMaster" Target="/ppt/slideMasters/slideMaster1.xml" Id="R093e0fb7bf9143ff" /><Relationship Type="http://schemas.openxmlformats.org/officeDocument/2006/relationships/notesMaster" Target="/ppt/notesMasters/notesMaster1.xml" Id="Rafb402c239a94527" /><Relationship Type="http://schemas.openxmlformats.org/officeDocument/2006/relationships/presProps" Target="/ppt/presProps.xml" Id="Rd6cdca0ac28641aa" /><Relationship Type="http://schemas.openxmlformats.org/officeDocument/2006/relationships/tableStyles" Target="/ppt/tableStyles.xml" Id="Rc672bb545c1f4464" /><Relationship Type="http://schemas.openxmlformats.org/officeDocument/2006/relationships/slide" Target="/ppt/slides/slide1.xml" Id="R7842eb3dc15141af" /><Relationship Type="http://schemas.openxmlformats.org/officeDocument/2006/relationships/slide" Target="/ppt/slides/slide2.xml" Id="Rf6bbcf680f7b4b01" /><Relationship Type="http://schemas.openxmlformats.org/officeDocument/2006/relationships/slide" Target="/ppt/slides/slide3.xml" Id="R95c83f9418564bde" /><Relationship Type="http://schemas.openxmlformats.org/officeDocument/2006/relationships/slide" Target="/ppt/slides/slide4.xml" Id="R5860c922f94e4f2c" /><Relationship Type="http://schemas.openxmlformats.org/officeDocument/2006/relationships/slide" Target="/ppt/slides/slide5.xml" Id="R608d3f4e0fdb4033" /><Relationship Type="http://schemas.openxmlformats.org/officeDocument/2006/relationships/slide" Target="/ppt/slides/slide6.xml" Id="R689c5a06c76b4e3a" /><Relationship Type="http://schemas.openxmlformats.org/officeDocument/2006/relationships/slide" Target="/ppt/slides/slide7.xml" Id="Rcd024e9993364bdb" /><Relationship Type="http://schemas.openxmlformats.org/officeDocument/2006/relationships/slide" Target="/ppt/slides/slide8.xml" Id="R50c6191c71e74f7f" /><Relationship Type="http://schemas.openxmlformats.org/officeDocument/2006/relationships/slide" Target="/ppt/slides/slide9.xml" Id="R33fea5d687b74a32" /><Relationship Type="http://schemas.openxmlformats.org/officeDocument/2006/relationships/slide" Target="/ppt/slides/slide10.xml" Id="R47b0ca1a39774807" /><Relationship Type="http://schemas.openxmlformats.org/officeDocument/2006/relationships/slide" Target="/ppt/slides/slide11.xml" Id="R8463af1fe7e04685" /><Relationship Type="http://schemas.openxmlformats.org/officeDocument/2006/relationships/slide" Target="/ppt/slides/slide12.xml" Id="Rdee0dddf079347d9" /><Relationship Type="http://schemas.openxmlformats.org/officeDocument/2006/relationships/slide" Target="/ppt/slides/slide13.xml" Id="Raeb91b10b46a44af" /><Relationship Type="http://schemas.openxmlformats.org/officeDocument/2006/relationships/slide" Target="/ppt/slides/slide14.xml" Id="Rb2b58f05802f43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ff0de65f5749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526ecbe01541c0" /><Relationship Type="http://schemas.openxmlformats.org/officeDocument/2006/relationships/notesMaster" Target="/ppt/notesMasters/notesMaster1.xml" Id="R90f5dfcc018b43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311c945a2a4186" /><Relationship Type="http://schemas.openxmlformats.org/officeDocument/2006/relationships/notesMaster" Target="/ppt/notesMasters/notesMaster1.xml" Id="R1957997b82374a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33166a4365423e" /><Relationship Type="http://schemas.openxmlformats.org/officeDocument/2006/relationships/notesMaster" Target="/ppt/notesMasters/notesMaster1.xml" Id="R27f0259854b342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1d92da889247c2" /><Relationship Type="http://schemas.openxmlformats.org/officeDocument/2006/relationships/notesMaster" Target="/ppt/notesMasters/notesMaster1.xml" Id="R53ab5cee394f45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32aba5d03c4b24" /><Relationship Type="http://schemas.openxmlformats.org/officeDocument/2006/relationships/notesMaster" Target="/ppt/notesMasters/notesMaster1.xml" Id="R9f326199435e42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753d12572b4211" /><Relationship Type="http://schemas.openxmlformats.org/officeDocument/2006/relationships/notesMaster" Target="/ppt/notesMasters/notesMaster1.xml" Id="R7d3f728f74cc42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16b24b89864d7e" /><Relationship Type="http://schemas.openxmlformats.org/officeDocument/2006/relationships/notesMaster" Target="/ppt/notesMasters/notesMaster1.xml" Id="Rc9119b68a5b541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b1e438d5f444ad" /><Relationship Type="http://schemas.openxmlformats.org/officeDocument/2006/relationships/notesMaster" Target="/ppt/notesMasters/notesMaster1.xml" Id="R57c5966677b640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c7c838c8a64c08" /><Relationship Type="http://schemas.openxmlformats.org/officeDocument/2006/relationships/notesMaster" Target="/ppt/notesMasters/notesMaster1.xml" Id="R6a14914f03ec4d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e30973b7c54bd9" /><Relationship Type="http://schemas.openxmlformats.org/officeDocument/2006/relationships/notesMaster" Target="/ppt/notesMasters/notesMaster1.xml" Id="R354b494384194e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8474b2dc704539" /><Relationship Type="http://schemas.openxmlformats.org/officeDocument/2006/relationships/notesMaster" Target="/ppt/notesMasters/notesMaster1.xml" Id="Ra1663ef87c7c41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66b3b931084c78" /><Relationship Type="http://schemas.openxmlformats.org/officeDocument/2006/relationships/notesMaster" Target="/ppt/notesMasters/notesMaster1.xml" Id="R6e4597be7ef546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524c240ff446ce" /><Relationship Type="http://schemas.openxmlformats.org/officeDocument/2006/relationships/notesMaster" Target="/ppt/notesMasters/notesMaster1.xml" Id="R4c17127d5c3147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b0bd0709f24d87" /><Relationship Type="http://schemas.openxmlformats.org/officeDocument/2006/relationships/notesMaster" Target="/ppt/notesMasters/notesMaster1.xml" Id="R90ee16fe43fd42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제안사 수행·설치·행사 사진 아님.</a:t>
            </a:r>
          </a:p>
          <a:p xmlns:a="http://schemas.openxmlformats.org/drawingml/2006/main">
            <a:r>
              <a:t>이미지 출처: https://images.pexels.com/photos/325229/pexels-photo-325229.jpeg?auto=compress&amp;cs=tinysrgb&amp;w=1800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수행 사진 아님.</a:t>
            </a:r>
          </a:p>
          <a:p xmlns:a="http://schemas.openxmlformats.org/drawingml/2006/main">
            <a:r>
              <a:t>이미지 출처: https://images.pexels.com/photos/574071/pexels-photo-574071.jpeg?auto=compress&amp;cs=tinysrgb&amp;w=1500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7df74f6f64c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727b3bf9640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2a0859eca143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ee48d5d8c4c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e7e94ef0f46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f135b567f48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EF09EC-5919-4877-B378-B5BF2A283C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7A276B-A45E-4956-BDF6-8DF404192B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6302E8-5870-4908-8C7E-9210D9320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3339D4-667D-4801-B0F8-C6F045E365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73250B-1010-4652-B92A-EF5A30B4AE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DC89C1-F48B-49C9-B4E1-9211F2B15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C3A97D-9BEC-4E6E-8708-D0F54D1A26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A73008-3EB3-414D-BB72-B32E8CD465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A80D83-42E6-465D-9B15-F6DA5BF18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78CA30-2284-4860-8A89-F1A23EC066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667d00f98b4faf" /><Relationship Type="http://schemas.openxmlformats.org/officeDocument/2006/relationships/slideLayout" Target="/ppt/slideLayouts/slideLayout1.xml" Id="Rfe5b2ebf39d1482a" /><Relationship Type="http://schemas.openxmlformats.org/officeDocument/2006/relationships/slideLayout" Target="/ppt/slideLayouts/slideLayout2.xml" Id="R58821b1beafc4bcb" /><Relationship Type="http://schemas.openxmlformats.org/officeDocument/2006/relationships/slideLayout" Target="/ppt/slideLayouts/slideLayout3.xml" Id="Rc4e014489f374c31" /><Relationship Type="http://schemas.openxmlformats.org/officeDocument/2006/relationships/slideLayout" Target="/ppt/slideLayouts/slideLayout4.xml" Id="Rc4766990aac64d11" /><Relationship Type="http://schemas.openxmlformats.org/officeDocument/2006/relationships/slideLayout" Target="/ppt/slideLayouts/slideLayout5.xml" Id="Rd417456e8dcb4254" /><Relationship Type="http://schemas.openxmlformats.org/officeDocument/2006/relationships/slideLayout" Target="/ppt/slideLayouts/slideLayout6.xml" Id="R4dc66b31463b42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5b2ebf39d1482a"/>
    <p:sldLayoutId xmlns:r="http://schemas.openxmlformats.org/officeDocument/2006/relationships" id="2147483650" r:id="R58821b1beafc4bcb"/>
    <p:sldLayoutId xmlns:r="http://schemas.openxmlformats.org/officeDocument/2006/relationships" id="2147483651" r:id="Rc4e014489f374c31"/>
    <p:sldLayoutId xmlns:r="http://schemas.openxmlformats.org/officeDocument/2006/relationships" id="2147483652" r:id="Rc4766990aac64d11"/>
    <p:sldLayoutId xmlns:r="http://schemas.openxmlformats.org/officeDocument/2006/relationships" id="2147483653" r:id="Rd417456e8dcb4254"/>
    <p:sldLayoutId xmlns:r="http://schemas.openxmlformats.org/officeDocument/2006/relationships" id="2147483654" r:id="R4dc66b31463b42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5e588f42fb4b95" /><Relationship Type="http://schemas.openxmlformats.org/officeDocument/2006/relationships/image" Target="/ppt/media/image.jpeg" Id="R8991dc520ffc428a" /><Relationship Type="http://schemas.openxmlformats.org/officeDocument/2006/relationships/notesSlide" Target="/ppt/notesSlides/notesSlide1.xml" Id="R4362bfb2fe5d49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52321d159b4713" /><Relationship Type="http://schemas.openxmlformats.org/officeDocument/2006/relationships/notesSlide" Target="/ppt/notesSlides/notesSlide2.xml" Id="Rc79c1b1774b345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86024653b146de" /><Relationship Type="http://schemas.openxmlformats.org/officeDocument/2006/relationships/notesSlide" Target="/ppt/notesSlides/notesSlide3.xml" Id="R85521c874be945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48061f6a114474" /><Relationship Type="http://schemas.openxmlformats.org/officeDocument/2006/relationships/notesSlide" Target="/ppt/notesSlides/notesSlide4.xml" Id="R54a3e9ce335e44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a7c9f8ed24b3a" /><Relationship Type="http://schemas.openxmlformats.org/officeDocument/2006/relationships/notesSlide" Target="/ppt/notesSlides/notesSlide5.xml" Id="R422df45fa8444f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3e9c4510fc4e07" /><Relationship Type="http://schemas.openxmlformats.org/officeDocument/2006/relationships/notesSlide" Target="/ppt/notesSlides/notesSlide6.xml" Id="R52e8a36d5e3c4f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f4edbc78143e5" /><Relationship Type="http://schemas.openxmlformats.org/officeDocument/2006/relationships/notesSlide" Target="/ppt/notesSlides/notesSlide7.xml" Id="Rac0014e039c34b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90c50734f542de" /><Relationship Type="http://schemas.openxmlformats.org/officeDocument/2006/relationships/notesSlide" Target="/ppt/notesSlides/notesSlide8.xml" Id="R8248834ac5ca49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c4b6d1233d44d7" /><Relationship Type="http://schemas.openxmlformats.org/officeDocument/2006/relationships/notesSlide" Target="/ppt/notesSlides/notesSlide9.xml" Id="Rb6f3c63d26a046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456ae7b1d4dca" /><Relationship Type="http://schemas.openxmlformats.org/officeDocument/2006/relationships/notesSlide" Target="/ppt/notesSlides/notesSlide10.xml" Id="Rde3c368edd4742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ef8dfd50c4fa7" /><Relationship Type="http://schemas.openxmlformats.org/officeDocument/2006/relationships/notesSlide" Target="/ppt/notesSlides/notesSlide11.xml" Id="R93372da5368f4b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0f2ad37b9e46d3" /><Relationship Type="http://schemas.openxmlformats.org/officeDocument/2006/relationships/notesSlide" Target="/ppt/notesSlides/notesSlide12.xml" Id="Rb657caa112dc4f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e680217d5445c" /><Relationship Type="http://schemas.openxmlformats.org/officeDocument/2006/relationships/notesSlide" Target="/ppt/notesSlides/notesSlide13.xml" Id="R8ac61484517444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687cf4b8af4fb6" /><Relationship Type="http://schemas.openxmlformats.org/officeDocument/2006/relationships/image" Target="/ppt/media/image2.jpeg" Id="R7264f8b659034d91" /><Relationship Type="http://schemas.openxmlformats.org/officeDocument/2006/relationships/notesSlide" Target="/ppt/notesSlides/notesSlide14.xml" Id="R8a5bff0b076342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8C5D0-22F3-41BF-BDED-2FB797D949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1dc520ffc428a"/>
          <a:srcRect xmlns:a="http://schemas.openxmlformats.org/drawingml/2006/main" l="34104" t="0" r="341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8770A16-AA56-475C-8B2B-ED4F5F00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D53B47AC-5B2A-49D6-AE70-6A4588A6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IT·시스템</a:t>
            </a:r>
          </a:p>
          <a:p xmlns:a="http://schemas.openxmlformats.org/drawingml/2006/main">
            <a:pPr algn="l">
              <a:defRPr sz="42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87BF870-458D-4E8F-AC79-9FD9A99D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667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사업명 · 발주기관 · 제안사 작성</a:t>
            </a:r>
          </a:p>
        </p:txBody>
      </p:sp>
      <p:sp>
        <p:nvSpPr>
          <p:cNvPr id="5" name="bid3-fixed-design-name">
            <a:extLst xmlns:a="http://schemas.openxmlformats.org/drawingml/2006/main">
              <a:ext uri="{FF2B5EF4-FFF2-40B4-BE49-F238E27FC236}">
                <a16:creationId xmlns:a16="http://schemas.microsoft.com/office/drawing/2014/main" id="{3303F391-0467-405A-8ED2-7936CB74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아키텍처 블루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459A2EE-5C0A-4FAC-B790-E65D74A8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372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6412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59428D1-C3AB-469A-8675-BBD2DFD9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/ 제안 구성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FE5FB07-CCFB-4A24-8BA7-40702B03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시스템 구축 제안의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691878F-3C42-4160-AC9A-22512FD4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설계·구현·검증·전환을 추적 가능한 산출물로 연결합니다.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A7C3E8F-9955-49FA-B817-7BC33749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C27D11A8-1512-4D43-8FF6-BB04E956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5C6DA9B-0428-414D-A266-323148B7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7DCD9B5-5434-4E4C-B7BB-3A6850F7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A126132-9958-4FE3-94C3-5F7B51BC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현황과 목표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B599452-56CE-4E8C-8589-ECFEDDC2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6700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30350A02-9619-44BF-BDEC-6DF7F448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7DF2186-DF9C-42E8-8805-24E45FD0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2544B1A-ACA6-4042-BC43-370B0334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서비스와 데이터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2AD5B22-2753-4622-BFA2-75441A90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5757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7711BED-545B-451A-B098-3410F402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2EB9428-DD0C-46E3-8695-369D2CA8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4A75498-38B2-49AA-94F2-043518A4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957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시험과 보안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BD7032C-74E1-4F4F-8023-D10BA67F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4815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B4001EA4-2C47-414D-880B-005D611E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3870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0">
            <a:noFill/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8C9C3D6-70FD-417A-9CF2-411907BC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556D2A8-55A6-45D4-936E-4C6088E6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오픈과 인계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9B37A98-582C-4152-B264-74C71EE2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03872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624513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69061D0-FF3D-4DA5-A449-3DCFECEA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79809083-44BD-4783-8A2E-82EA6178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현행 업무와 목표 서비스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C0562C9-864D-483D-878F-917BB95E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부서별로 나뉜 업무 기록을 공통 서비스에서 이어가는 구성안입니다.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6D5AD14-0487-4B4E-B049-CA7681FC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88D0B270-EAC0-468E-A8D4-434ECC4E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777EED8-B703-4CE4-AE57-048C89B2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3028BDF-C319-4554-AA83-7C25B06B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현행</a:t>
            </a:r>
          </a:p>
        </p:txBody>
      </p:sp>
      <p:sp>
        <p:nvSpPr>
          <p:cNvPr id="8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8B3E5951-83F4-4B04-83DA-463F6BA6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EBC"/>
          </a:solidFill>
          <a:ln xmlns:a="http://schemas.openxmlformats.org/drawingml/2006/main" w="0">
            <a:noFill/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505C0EC-9ADF-4078-9BF5-5F0CAD5B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13C7C9A-EDFF-4F64-A48E-3660F16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955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021CDC17-0726-433F-A1BA-6E145B62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76625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EBC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2B97554-D346-49D4-BB34-6BC9A2C8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4332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8216705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333424E-BC0C-4795-BE70-38211F96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978A60D-69E9-4A11-B28F-3EE648CD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목표 시스템 아키텍처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ECFE348-E5C4-473F-B58C-DE65D0D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서비스·연계·데이터 계층의 책임과 접근 경계를 분리합니다.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4F6447E-7043-4F97-9348-5E35CACF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0303DAFF-74B3-43B1-9ABC-C7EEDF54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303E2C3-90F5-4EA6-AC44-73AEDD1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6A69B6D-20FF-4296-BBDE-DA6D3959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이용 채널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F315F0A2-F78A-4CB3-A0AB-D24622EE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5747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9525">
            <a:solidFill>
              <a:srgbClr val="226EBC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77D78D3-CF82-4EF9-8E6A-EA85DCE7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2892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사용자 웹</a:t>
            </a:r>
          </a:p>
        </p:txBody>
      </p:sp>
      <p:sp>
        <p:nvSpPr>
          <p:cNvPr id="10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3AC9904D-61A5-49DF-ADF9-DDE122BD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65747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9525">
            <a:solidFill>
              <a:srgbClr val="226EBC"/>
            </a:solidFill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0808B89-97AA-4876-89C9-123ABB70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450" y="282892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관리자 화면</a:t>
            </a:r>
          </a:p>
        </p:txBody>
      </p:sp>
      <p:sp>
        <p:nvSpPr>
          <p:cNvPr id="12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D2C86F6A-7DCF-42A4-B79E-FEE4A3B8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50" y="265747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9525">
            <a:solidFill>
              <a:srgbClr val="226EBC"/>
            </a:solidFill>
          </a:ln>
        </p:spPr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85A1E6F-5B4B-4482-A7D9-7A40BBF2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282892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외부 연계</a:t>
            </a:r>
          </a:p>
        </p:txBody>
      </p:sp>
      <p:cxnSp>
        <p:nvCxnSpPr>
          <p:cNvPr id="14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73C147DD-C508-458A-A58A-FA283E0C855A}"/>
              </a:ext>
            </a:extLst>
          </p:cNvPr>
          <p:cNvCxnSpPr/>
          <p:nvPr/>
        </p:nvCxnSpPr>
        <p:spPr>
          <a:xfrm xmlns:a="http://schemas.openxmlformats.org/drawingml/2006/main">
            <a:off x="7334250" y="3448050"/>
            <a:ext cx="0" cy="3048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26EBC"/>
            </a:solidFill>
          </a:ln>
        </p:spPr>
      </p:cxn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0E7CE84-690B-480D-8E20-D1846658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서비스 계층</a:t>
            </a:r>
          </a:p>
        </p:txBody>
      </p:sp>
      <p:sp>
        <p:nvSpPr>
          <p:cNvPr id="16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2280E0E7-E7B1-4C29-AD9F-C9694F7B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52850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9525">
            <a:solidFill>
              <a:srgbClr val="226EBC"/>
            </a:solidFill>
          </a:ln>
        </p:spPr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C18BEF6-8D5E-4875-AC81-2B38FDD4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24300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업무 접수</a:t>
            </a:r>
          </a:p>
        </p:txBody>
      </p: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29736A7C-2370-4B61-8488-15825ADD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752850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9525">
            <a:solidFill>
              <a:srgbClr val="226EBC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BA30909-E6E1-4DEE-9C6F-70D4DBA7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450" y="3924300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처리·승인</a:t>
            </a:r>
          </a:p>
        </p:txBody>
      </p:sp>
      <p:sp>
        <p:nvSpPr>
          <p:cNvPr id="20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9DD10B68-069D-4547-B193-6F8976D3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50" y="3752850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9525">
            <a:solidFill>
              <a:srgbClr val="226EBC"/>
            </a:solidFill>
          </a:ln>
        </p:spPr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419C696-23FE-4BB7-BBBD-F486C493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3924300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조회·알림</a:t>
            </a:r>
          </a:p>
        </p:txBody>
      </p:sp>
      <p:cxnSp>
        <p:nvCxnSpPr>
          <p:cNvPr id="2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D2AD77B0-B0C4-4F04-9E84-AD388EE8E285}"/>
              </a:ext>
            </a:extLst>
          </p:cNvPr>
          <p:cNvCxnSpPr/>
          <p:nvPr/>
        </p:nvCxnSpPr>
        <p:spPr>
          <a:xfrm xmlns:a="http://schemas.openxmlformats.org/drawingml/2006/main">
            <a:off x="7334250" y="4543425"/>
            <a:ext cx="0" cy="3048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26EBC"/>
            </a:solidFill>
          </a:ln>
        </p:spPr>
      </p:cxn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71C739D-B1CA-462F-83F4-53DC9DB3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데이터 계층</a:t>
            </a:r>
          </a:p>
        </p:txBody>
      </p:sp>
      <p:sp>
        <p:nvSpPr>
          <p:cNvPr id="2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71FFE152-873C-47D6-AA6F-66DC1FFA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4822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9525">
            <a:solidFill>
              <a:srgbClr val="226EBC"/>
            </a:solidFill>
          </a:ln>
        </p:spPr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0E985DA-E99F-40D4-9629-A1106982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1967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업무 데이터</a:t>
            </a:r>
          </a:p>
        </p:txBody>
      </p:sp>
      <p:sp>
        <p:nvSpPr>
          <p:cNvPr id="26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5AF8DB63-6ACA-403E-8A49-C4BD7235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84822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9525">
            <a:solidFill>
              <a:srgbClr val="226EBC"/>
            </a:solidFill>
          </a:ln>
        </p:spPr>
      </p:sp>
      <p:sp>
        <p:nvSpPr>
          <p:cNvPr id="2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77E59EF-3CAA-4DCD-AF61-7439F009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450" y="501967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첨부·문서</a:t>
            </a:r>
          </a:p>
        </p:txBody>
      </p:sp>
      <p:sp>
        <p:nvSpPr>
          <p:cNvPr id="2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BE86F45B-DCB7-4362-AD42-1FB24E99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50" y="484822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9525">
            <a:solidFill>
              <a:srgbClr val="226EBC"/>
            </a:solidFill>
          </a:ln>
        </p:spPr>
      </p:sp>
      <p:sp>
        <p:nvSpPr>
          <p:cNvPr id="2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2381C3B-82C4-498A-B65F-83B660A8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501967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접근·처리 로그</a:t>
            </a:r>
          </a:p>
        </p:txBody>
      </p:sp>
    </p:spTree>
    <p:extLst>
      <p:ext uri="{BB962C8B-B14F-4D97-AF65-F5344CB8AC3E}">
        <p14:creationId xmlns:p14="http://schemas.microsoft.com/office/powerpoint/2010/main" val="2111197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A58002B-B2C4-43D9-A4BD-10082F99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6A4CFE3-F92E-4807-8B3C-7B23A8AD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요구사항과 검증의 연결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2FA7902-0102-4283-8D46-232D0A8F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아래 ID는 예시이며 실제 생성 시 공고의 요구사항 번호로 연결합니다.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2C70278-9ABD-4CC2-A47C-0B2A4C37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CA947934-5C90-4500-8464-532B35A1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E2A0FBD-7EBC-4E3D-BCC7-F7F3075B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70F05-D565-407D-A53C-6F783C0AB4F8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571750"/>
                <a:gridCol w="3781425"/>
                <a:gridCol w="2857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ID</a:t>
                      </a:r>
                    </a:p>
                  </a:txBody>
                  <a:tcPr marL="142875" marR="142875" marT="114300" marB="95250" anchor="ctr">
                    <a:solidFill>
                      <a:srgbClr val="1830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대상</a:t>
                      </a:r>
                    </a:p>
                  </a:txBody>
                  <a:tcPr marL="142875" marR="142875" marT="114300" marB="95250" anchor="ctr">
                    <a:solidFill>
                      <a:srgbClr val="1830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방법</a:t>
                      </a:r>
                    </a:p>
                  </a:txBody>
                  <a:tcPr marL="142875" marR="142875" marT="114300" marB="95250" anchor="ctr">
                    <a:solidFill>
                      <a:srgbClr val="1830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142875" marR="142875" marT="114300" marB="95250" anchor="ctr">
                    <a:solidFill>
                      <a:srgbClr val="18304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DEMO-F01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DEMO-I01</a:t>
                      </a:r>
                    </a:p>
                  </a:txBody>
                  <a:tcPr marL="142875" marR="142875" marT="114300" marB="95250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9FD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DEMO-D01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9759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712229E-B59D-4DC6-A011-BB58CE5A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3458D51-9A92-42CE-A1EB-AB61A297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사용자·서비스·관리자 흐름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1ED9240-E5E3-44F0-8AC8-5490A4E5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기능 목록을 실제 처리 흐름과 역할별 확인 지점으로 구체화합니다.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C3B1E33-701E-4412-A139-25D26042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F922B784-5373-4387-ACAD-9D214822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43197EB-EC1D-4B95-98D1-AB65B1B2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AC79CF8-4733-413E-BE5D-8FFC3028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사용자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79A27BD-5DFF-4C06-9065-EA5A5C27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B9AAF7B-D826-4C2A-B8D9-039485D8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B08860A-4272-4927-A8C9-D7D66D6E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37F7540-72A4-4AD1-9DA2-83C503EF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서비스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5AC8890-9A8C-4517-9A40-6DB9F11B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1CD6124-EF00-4BAC-8992-95F57834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6D65DDEE-9498-4900-A1E5-4C1C27F7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9A42A8C-42D9-4EB0-B900-70E712A9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관리자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E5AD4D1-DCF4-4BD6-9BC8-311313A8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6B01C34-BFCC-437F-B7C7-BCD3F023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321081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D8FF2A31-7B61-4B0A-B0D3-F1BBB939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13F535E-4BAA-4D29-8156-75EE298C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데이터 전환과 복구 기준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21359D1-1056-4992-BB1C-BD2B9B87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전환 전 대조 기준과 되돌릴 조건을 합의합니다.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280DC29-1C4E-41F0-B2DD-BB89464F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DA037EAC-CB9B-47D7-870B-F353D485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D1F66A5-8108-4468-8189-124271E6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51DA439-BF96-4E14-9F0E-94C45C92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2426D13B-73DF-4D39-B93C-6E709AF7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9525">
            <a:solidFill>
              <a:srgbClr val="226EBC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B45DFD4-643C-418D-B551-55DB51EA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정의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53DE8DD-B6E4-44C0-85DF-6FD5E8E1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37E2F17F-5DA0-47C7-AC81-F671770E2800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26EBC"/>
            </a:solidFill>
          </a:ln>
        </p:spPr>
      </p:cxn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84AA32F-7240-4FC5-B038-D261A576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844CBAEE-F370-41A2-BA59-15C45E7E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9525">
            <a:solidFill>
              <a:srgbClr val="226EBC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B80BF01-51A7-42DD-B958-0D82C52F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시험 이관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6AB9D52-2420-44E0-A14C-A8272488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6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E910BAA6-CFA2-4164-B819-619005BEE347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26EBC"/>
            </a:solidFill>
          </a:ln>
        </p:spPr>
      </p:cxn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DC00700-0D68-4CF5-98A9-837A2FD4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F475446F-960F-46CF-8277-A8879E63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9525">
            <a:solidFill>
              <a:srgbClr val="226EBC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7626579-F1EF-4B42-81A6-B16D47F9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전환 승인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1AD76BF-2486-499D-9A3D-5C29A6F7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1FCC76D9-8DF5-4351-B552-11C382036138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26EBC"/>
            </a:solidFill>
          </a:ln>
        </p:spPr>
      </p:cxn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5DA7D8E-D9AF-481F-A235-3C3982B6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1003048D-B775-4E4D-9133-5F32D0E1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9525">
            <a:solidFill>
              <a:srgbClr val="226EBC"/>
            </a:solidFill>
          </a:ln>
        </p:spPr>
      </p: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703795A-6B12-4B59-8B9A-0923EB9C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운영 전환</a:t>
            </a:r>
          </a:p>
        </p:txBody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F6D45B5-FDDE-4F45-9F58-9A7CAF90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928383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EC38BB9-6069-43E5-BFC6-D6A731BA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B8F2B90-362C-4020-B288-575AAC81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인터페이스와 오류 처리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6DFC412-67AA-45F2-A2BF-18E8CB8E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연계 항목마다 데이터 책임과 실패 시 처리 방법을 정합니다.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0614DBB-BB38-428E-85C8-F7C4BCE5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B1C0954-6B0C-4727-B51B-6DC6A890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B3FFA44-9597-4A63-91A5-1065DBA6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0A603-F5FC-4974-9275-AFBA4A3110DE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연계 구간</a:t>
                      </a:r>
                    </a:p>
                  </a:txBody>
                  <a:tcPr marL="142875" marR="142875" marT="114300" marB="95250" anchor="ctr">
                    <a:solidFill>
                      <a:srgbClr val="1830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전송할 정보</a:t>
                      </a:r>
                    </a:p>
                  </a:txBody>
                  <a:tcPr marL="142875" marR="142875" marT="114300" marB="95250" anchor="ctr">
                    <a:solidFill>
                      <a:srgbClr val="1830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기준</a:t>
                      </a:r>
                    </a:p>
                  </a:txBody>
                  <a:tcPr marL="142875" marR="142875" marT="114300" marB="95250" anchor="ctr">
                    <a:solidFill>
                      <a:srgbClr val="18304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사용자·업무 서비스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업무·외부 서비스</a:t>
                      </a:r>
                    </a:p>
                  </a:txBody>
                  <a:tcPr marL="142875" marR="142875" marT="114300" marB="95250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9FD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업무·관리 도구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8054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D9000CE9-8AF9-40C7-AD38-C988A45C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38D57D9-F2CF-44FC-816E-F9AADEB3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설계 단계와 시험 단계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53C1878-F0C2-4A96-9140-87BE2AD6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설계 산출물과 시험 결과를 같은 기준으로 대조합니다.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37821D2-5543-412F-AF0D-59204062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7A8749BC-3696-4024-A00A-BCD28591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B4D948B-BB61-4D37-9377-E94A3FA7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7D8B19B-8400-4708-9780-40EE78F1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요구사항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39650E3-8324-48E7-8448-47CE2B01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0510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83123141-45AA-4137-9A26-00B60D86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0">
            <a:noFill/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1B96267-6539-4182-BB9D-A4C224CA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업무·서비스 설계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712DE59-356E-4A90-9EA9-6A60F302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1472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2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2B358885-2513-46EF-92E4-372A811B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0">
            <a:noFill/>
          </a:ln>
        </p:spPr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29C554C-1BC6-4845-8B6C-27BD2F03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컴포넌트 설계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D6A8AAC-D62A-47AA-BD5C-C41AE103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243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D6126033-37ED-402A-92B3-91A39188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E80C459-8016-4BB6-A011-E478B5CB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구현 결과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4656A09-0D05-4CFB-A717-C099A3CA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3397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7045449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3BC2033-65B5-4466-BDA7-7538B459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D4143A2-6BF7-489B-A1BA-FB34D3D2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정보보호와 접근권한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27C558C-160B-4B61-8E74-BA64915E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구체적인 권한과 보호 조건은 원문 및 운영 정책에 따라 확정합니다.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1F7CA77-E81E-49CB-BD5E-407EFC29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0940CE3B-3EBD-4439-84B1-8987D9FC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55E914B-7374-480D-9D55-AD222DEF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F5C5F-525D-4078-A57B-5445F8C71EC5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42875" marR="142875" marT="114300" marB="95250" anchor="ctr">
                    <a:solidFill>
                      <a:srgbClr val="1830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 범위</a:t>
                      </a:r>
                    </a:p>
                  </a:txBody>
                  <a:tcPr marL="142875" marR="142875" marT="114300" marB="95250" anchor="ctr">
                    <a:solidFill>
                      <a:srgbClr val="1830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통제·기록</a:t>
                      </a:r>
                    </a:p>
                  </a:txBody>
                  <a:tcPr marL="142875" marR="142875" marT="114300" marB="95250" anchor="ctr">
                    <a:solidFill>
                      <a:srgbClr val="18304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사용자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담당자</a:t>
                      </a:r>
                    </a:p>
                  </a:txBody>
                  <a:tcPr marL="142875" marR="142875" marT="114300" marB="95250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9FD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관리자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6445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E22DD63-DDB8-4135-987A-8DCE1CD1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8186FC7-D00D-496B-9930-C960EF79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서비스 오픈과 전환 승인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01F8BE4-60D1-4176-852D-7587690F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이행 조건을 확인한 뒤 오픈하고 복구 여부를 판단할 기록을 남깁니다.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9665434-8E1B-4BB2-B85A-D78EE199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B6C4D6BC-E249-458E-B8AD-2F19CFEC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1BF93F8-8441-4140-BE37-B94E46C4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1320055-CB41-4218-AF80-1075B71D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오픈 전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2B6370F-ECCC-43F6-AB40-56B3829B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BB52430-510F-436A-86C8-B1D69D06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B25A7CB0-9053-4BBA-8368-3D900A47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2846A55-299C-4752-B6EC-43C27F9D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전환 중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76C61AF-9BC7-4AAB-8D80-AAA07E82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F1AD72A-BE7F-4290-8F8C-3D8113E5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426C0DBE-3851-475C-A18E-B8418387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8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8707715-CBBE-4970-9069-0BC8BB9E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안정화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C3320AE-8FE4-44DF-A6ED-F0C39AF7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B5F3122-5A9D-4A06-AC5A-25BC2F26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53163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D1FFA3D-297C-4849-BF5A-E3982178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99973F9-C377-468D-8993-E0FB9F7E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운영 관측과 품질 관리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65E9B2E-6FF1-4715-98E3-8911437B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목표 수치를 임의로 약속하지 않고 지표의 정의와 확인 방법을 먼저 정합니다.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BEE204A-CDEF-4FC2-A5E9-A0CF30FD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494F322-BD1B-4D47-B250-DD8164A6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A551EB5-4B34-401E-9EDC-00B63C0F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32DE6-34A2-45F4-A839-A78BBA507C23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142875" marR="142875" marT="114300" marB="95250" anchor="ctr">
                    <a:solidFill>
                      <a:srgbClr val="1830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내용</a:t>
                      </a:r>
                    </a:p>
                  </a:txBody>
                  <a:tcPr marL="142875" marR="142875" marT="114300" marB="95250" anchor="ctr">
                    <a:solidFill>
                      <a:srgbClr val="1830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기록</a:t>
                      </a:r>
                    </a:p>
                  </a:txBody>
                  <a:tcPr marL="142875" marR="142875" marT="114300" marB="95250" anchor="ctr">
                    <a:solidFill>
                      <a:srgbClr val="18304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오류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성능</a:t>
                      </a:r>
                    </a:p>
                  </a:txBody>
                  <a:tcPr marL="142875" marR="142875" marT="114300" marB="95250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7F9FD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안정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830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5EE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0469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4AD99E9-4487-48DE-A816-98EC12D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/ 수행 근거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0E6B763-3FE3-4E55-AFC9-C180C0BC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기술 산출물과 검수 근거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1ACB025-F0FC-4FCD-8872-F1D282D3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요구사항과 구현·시험 결과가 서로 추적되도록 인계합니다.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3F80EEE-DDF9-48B8-BD6E-F49603EE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68AADF56-D2AA-4DE1-B208-DD9C9622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9D706F6-3383-4584-990A-2080F533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4351242-85D5-495B-B6A2-51541F3D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설계·소스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22699B8-7FCC-4D9B-9CCB-D1B98B52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CBC3996-CC06-4DDE-8F5B-8FDBCFD3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시험·전환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3AE2B78-1A03-4D8C-966E-DE3D3E1B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12835F1-29FC-4FCC-90F1-8768B1DA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운영 인계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3375483-CB6A-4C08-9A3A-BDA634EA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bid3-material-placeholder-heading">
            <a:extLst xmlns:a="http://schemas.openxmlformats.org/drawingml/2006/main">
              <a:ext uri="{FF2B5EF4-FFF2-40B4-BE49-F238E27FC236}">
                <a16:creationId xmlns:a16="http://schemas.microsoft.com/office/drawing/2014/main" id="{99D1270F-63C4-4273-96BA-D1624E18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49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원문 자료와 제출 증빙</a:t>
            </a:r>
          </a:p>
        </p:txBody>
      </p:sp>
      <p:sp>
        <p:nvSpPr>
          <p:cNvPr id="14" name="bid3-material-placeholder-copy">
            <a:extLst xmlns:a="http://schemas.openxmlformats.org/drawingml/2006/main">
              <a:ext uri="{FF2B5EF4-FFF2-40B4-BE49-F238E27FC236}">
                <a16:creationId xmlns:a16="http://schemas.microsoft.com/office/drawing/2014/main" id="{4B8A91EC-5900-4508-9C0F-AB8FD0EA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4495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회사 소개서의 관련 이미지·도표를</a:t>
            </a:r>
          </a:p>
          <a:p xmlns:a="http://schemas.openxmlformats.org/drawingml/2006/main">
            <a:pPr algn="l">
              <a:def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049"/>
                </a:solidFill>
                <a:latin typeface="Malgun Gothic"/>
                <a:ea typeface="Malgun Gothic"/>
                <a:cs typeface="Malgun Gothic"/>
              </a:rPr>
              <a:t>현재 사업의 수행 근거와 대조합니다.</a:t>
            </a:r>
          </a:p>
        </p:txBody>
      </p:sp>
      <p:sp>
        <p:nvSpPr>
          <p:cNvPr id="15" name="bid3-material-placeholder-notice">
            <a:extLst xmlns:a="http://schemas.openxmlformats.org/drawingml/2006/main">
              <a:ext uri="{FF2B5EF4-FFF2-40B4-BE49-F238E27FC236}">
                <a16:creationId xmlns:a16="http://schemas.microsoft.com/office/drawing/2014/main" id="{C3610953-A3A4-42A4-AE4E-D024E970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0175"/>
            <a:ext cx="449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26EBC"/>
                </a:solidFill>
                <a:latin typeface="Malgun Gothic"/>
                <a:ea typeface="Malgun Gothic"/>
                <a:cs typeface="Malgun Gothic"/>
              </a:rPr>
              <a:t>자료가 없으면 현행 증빙 확보 후 반영</a:t>
            </a:r>
          </a:p>
        </p:txBody>
      </p:sp>
    </p:spTree>
    <p:extLst>
      <p:ext uri="{BB962C8B-B14F-4D97-AF65-F5344CB8AC3E}">
        <p14:creationId xmlns:p14="http://schemas.microsoft.com/office/powerpoint/2010/main" val="6418539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830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6CC14-D1F9-46D5-AEAE-BA07245C09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4f8b659034d91"/>
          <a:srcRect xmlns:a="http://schemas.openxmlformats.org/drawingml/2006/main" l="27933" t="0" r="279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7BF6E9E2-98FC-45CD-9AC1-23C885F1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66294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요구사항에서 운영까지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연결되는 시스템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0019632-47C3-4904-89D9-FE7593A9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57700"/>
            <a:ext cx="633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제안사 · 담당자 · 연락처 작성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0A0C39F-2AEC-47A3-A56E-EFC34C1D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5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6289B96-4C85-4DDA-9905-6FAB91B5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60912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2026-10-14T01:30:36.6270000Z</dcterms:created>
  <dcterms:modified xsi:type="dcterms:W3CDTF">2026-10-14T01:30:36.6270000Z</dcterms:modified>
</coreProperties>
</file>