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db45d8c0604b76" /><Relationship Type="http://schemas.openxmlformats.org/officeDocument/2006/relationships/extended-properties" Target="/docProps/app.xml" Id="Rdd0b6b55545b456f" /><Relationship Type="http://schemas.openxmlformats.org/officeDocument/2006/relationships/officeDocument" Target="/ppt/presentation.xml" Id="Ra7ef432d95744c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f6b958264b4537"/>
  </p:sldMasterIdLst>
  <p:notesMasterIdLst>
    <p:notesMasterId xmlns:r="http://schemas.openxmlformats.org/officeDocument/2006/relationships" r:id="R35b6f060899545d6"/>
  </p:notesMasterIdLst>
  <p:sldIdLst>
    <p:sldId xmlns:r="http://schemas.openxmlformats.org/officeDocument/2006/relationships" id="256" r:id="Ra80d7915e2b0415d"/>
    <p:sldId xmlns:r="http://schemas.openxmlformats.org/officeDocument/2006/relationships" id="257" r:id="R455013c5f7944161"/>
    <p:sldId xmlns:r="http://schemas.openxmlformats.org/officeDocument/2006/relationships" id="258" r:id="Rf1bc0a8026564272"/>
    <p:sldId xmlns:r="http://schemas.openxmlformats.org/officeDocument/2006/relationships" id="259" r:id="R5f87cc4c2b4c44f5"/>
    <p:sldId xmlns:r="http://schemas.openxmlformats.org/officeDocument/2006/relationships" id="260" r:id="Red213f8e0b1a44f7"/>
    <p:sldId xmlns:r="http://schemas.openxmlformats.org/officeDocument/2006/relationships" id="261" r:id="Ra38e8a5bc2f24b04"/>
    <p:sldId xmlns:r="http://schemas.openxmlformats.org/officeDocument/2006/relationships" id="262" r:id="R03cb441a74954b1c"/>
    <p:sldId xmlns:r="http://schemas.openxmlformats.org/officeDocument/2006/relationships" id="263" r:id="R66225ba1c2ad466f"/>
    <p:sldId xmlns:r="http://schemas.openxmlformats.org/officeDocument/2006/relationships" id="264" r:id="Rc101ce9b844d4007"/>
    <p:sldId xmlns:r="http://schemas.openxmlformats.org/officeDocument/2006/relationships" id="265" r:id="Rdc2fcbcaa53846fc"/>
    <p:sldId xmlns:r="http://schemas.openxmlformats.org/officeDocument/2006/relationships" id="266" r:id="R8f39de4a4b904cde"/>
    <p:sldId xmlns:r="http://schemas.openxmlformats.org/officeDocument/2006/relationships" id="267" r:id="R2e63b53e64e64809"/>
    <p:sldId xmlns:r="http://schemas.openxmlformats.org/officeDocument/2006/relationships" id="268" r:id="R4da9b9eb683943cb"/>
    <p:sldId xmlns:r="http://schemas.openxmlformats.org/officeDocument/2006/relationships" id="269" r:id="R5b35c06cf4ac49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e2fb8a5aa84b37" /><Relationship Type="http://schemas.openxmlformats.org/officeDocument/2006/relationships/slideMaster" Target="/ppt/slideMasters/slideMaster1.xml" Id="R8bf6b958264b4537" /><Relationship Type="http://schemas.openxmlformats.org/officeDocument/2006/relationships/notesMaster" Target="/ppt/notesMasters/notesMaster1.xml" Id="R35b6f060899545d6" /><Relationship Type="http://schemas.openxmlformats.org/officeDocument/2006/relationships/presProps" Target="/ppt/presProps.xml" Id="Rf3473ed88e3c4ef5" /><Relationship Type="http://schemas.openxmlformats.org/officeDocument/2006/relationships/tableStyles" Target="/ppt/tableStyles.xml" Id="R169e98897036400d" /><Relationship Type="http://schemas.openxmlformats.org/officeDocument/2006/relationships/slide" Target="/ppt/slides/slide1.xml" Id="Ra80d7915e2b0415d" /><Relationship Type="http://schemas.openxmlformats.org/officeDocument/2006/relationships/slide" Target="/ppt/slides/slide2.xml" Id="R455013c5f7944161" /><Relationship Type="http://schemas.openxmlformats.org/officeDocument/2006/relationships/slide" Target="/ppt/slides/slide3.xml" Id="Rf1bc0a8026564272" /><Relationship Type="http://schemas.openxmlformats.org/officeDocument/2006/relationships/slide" Target="/ppt/slides/slide4.xml" Id="R5f87cc4c2b4c44f5" /><Relationship Type="http://schemas.openxmlformats.org/officeDocument/2006/relationships/slide" Target="/ppt/slides/slide5.xml" Id="Red213f8e0b1a44f7" /><Relationship Type="http://schemas.openxmlformats.org/officeDocument/2006/relationships/slide" Target="/ppt/slides/slide6.xml" Id="Ra38e8a5bc2f24b04" /><Relationship Type="http://schemas.openxmlformats.org/officeDocument/2006/relationships/slide" Target="/ppt/slides/slide7.xml" Id="R03cb441a74954b1c" /><Relationship Type="http://schemas.openxmlformats.org/officeDocument/2006/relationships/slide" Target="/ppt/slides/slide8.xml" Id="R66225ba1c2ad466f" /><Relationship Type="http://schemas.openxmlformats.org/officeDocument/2006/relationships/slide" Target="/ppt/slides/slide9.xml" Id="Rc101ce9b844d4007" /><Relationship Type="http://schemas.openxmlformats.org/officeDocument/2006/relationships/slide" Target="/ppt/slides/slide10.xml" Id="Rdc2fcbcaa53846fc" /><Relationship Type="http://schemas.openxmlformats.org/officeDocument/2006/relationships/slide" Target="/ppt/slides/slide11.xml" Id="R8f39de4a4b904cde" /><Relationship Type="http://schemas.openxmlformats.org/officeDocument/2006/relationships/slide" Target="/ppt/slides/slide12.xml" Id="R2e63b53e64e64809" /><Relationship Type="http://schemas.openxmlformats.org/officeDocument/2006/relationships/slide" Target="/ppt/slides/slide13.xml" Id="R4da9b9eb683943cb" /><Relationship Type="http://schemas.openxmlformats.org/officeDocument/2006/relationships/slide" Target="/ppt/slides/slide14.xml" Id="R5b35c06cf4ac49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1ccfd4a94646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2278f9506f48c9" /><Relationship Type="http://schemas.openxmlformats.org/officeDocument/2006/relationships/notesMaster" Target="/ppt/notesMasters/notesMaster1.xml" Id="R7da093feb9914c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ee9a2780e74868" /><Relationship Type="http://schemas.openxmlformats.org/officeDocument/2006/relationships/notesMaster" Target="/ppt/notesMasters/notesMaster1.xml" Id="R71c65ff4326240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b79f955cc54ce5" /><Relationship Type="http://schemas.openxmlformats.org/officeDocument/2006/relationships/notesMaster" Target="/ppt/notesMasters/notesMaster1.xml" Id="Rf91ddfd94d9e41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7e0cd442f84069" /><Relationship Type="http://schemas.openxmlformats.org/officeDocument/2006/relationships/notesMaster" Target="/ppt/notesMasters/notesMaster1.xml" Id="Rb2f3ae3e98784d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000bf54dc84259" /><Relationship Type="http://schemas.openxmlformats.org/officeDocument/2006/relationships/notesMaster" Target="/ppt/notesMasters/notesMaster1.xml" Id="Rb9e1b3765f7f49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014f82566c47b5" /><Relationship Type="http://schemas.openxmlformats.org/officeDocument/2006/relationships/notesMaster" Target="/ppt/notesMasters/notesMaster1.xml" Id="R058145c15fe349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def06bb95040d8" /><Relationship Type="http://schemas.openxmlformats.org/officeDocument/2006/relationships/notesMaster" Target="/ppt/notesMasters/notesMaster1.xml" Id="R1dfaed8cf70843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6ebbea2f7a4db7" /><Relationship Type="http://schemas.openxmlformats.org/officeDocument/2006/relationships/notesMaster" Target="/ppt/notesMasters/notesMaster1.xml" Id="R97832ac02b6f4e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665e03ccc4471a" /><Relationship Type="http://schemas.openxmlformats.org/officeDocument/2006/relationships/notesMaster" Target="/ppt/notesMasters/notesMaster1.xml" Id="Rf94684ee831943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6b1f4ebd3a49b2" /><Relationship Type="http://schemas.openxmlformats.org/officeDocument/2006/relationships/notesMaster" Target="/ppt/notesMasters/notesMaster1.xml" Id="Rabfb7fbc07144d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493e7f9fd94b7e" /><Relationship Type="http://schemas.openxmlformats.org/officeDocument/2006/relationships/notesMaster" Target="/ppt/notesMasters/notesMaster1.xml" Id="R8f29fa33d29c42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b28439b0b74c37" /><Relationship Type="http://schemas.openxmlformats.org/officeDocument/2006/relationships/notesMaster" Target="/ppt/notesMasters/notesMaster1.xml" Id="R1179416a95fa43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afc24f82764a1d" /><Relationship Type="http://schemas.openxmlformats.org/officeDocument/2006/relationships/notesMaster" Target="/ppt/notesMasters/notesMaster1.xml" Id="R4395ddaccb2643c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966031c5a648b4" /><Relationship Type="http://schemas.openxmlformats.org/officeDocument/2006/relationships/notesMaster" Target="/ppt/notesMasters/notesMaster1.xml" Id="Refc9b37b585b4a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제안사 수행·설치·행사 사진 아님.</a:t>
            </a:r>
          </a:p>
          <a:p xmlns:a="http://schemas.openxmlformats.org/drawingml/2006/main">
            <a:r>
              <a:t>이미지 출처: https://images.pexels.com/photos/1181396/pexels-photo-1181396.jpeg?auto=compress&amp;cs=tinysrgb&amp;w=1800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재사용 분야별 작성 양식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분야 설명용 스톡 이미지. 실제 수행 사진 아님.</a:t>
            </a:r>
          </a:p>
          <a:p xmlns:a="http://schemas.openxmlformats.org/drawingml/2006/main">
            <a:r>
              <a:t>이미지 출처: https://images.pexels.com/photos/3184418/pexels-photo-3184418.jpeg?auto=compress&amp;cs=tinysrgb&amp;w=1500</a:t>
            </a:r>
          </a:p>
          <a:p xmlns:a="http://schemas.openxmlformats.org/drawingml/2006/main">
            <a:r>
              <a:t>구조 참고 원문. 과거 사례의 수치와 과업조건은 현재 사업으로 전용하지 않음.</a:t>
            </a:r>
          </a:p>
          <a:p xmlns:a="http://schemas.openxmlformats.org/drawingml/2006/main">
            <a:r>
              <a:t>발주처 제안요청서: 제안요청서(기존_건축물_구조안전확인_제도_합리화_정책연구).pdf</a:t>
            </a:r>
          </a:p>
          <a:p xmlns:a="http://schemas.openxmlformats.org/drawingml/2006/main">
            <a:r>
              <a:t>https://www.molit.go.kr/LCMS/DWN.jsp?fold=standard&amp;fileName=%EC%A0%9C%EC%95%88%EC%9A%94%EC%B2%AD%EC%84%9C%28%EA%B8%B0%EC%A1%B4_%EA%B1%B4%EC%B6%95%EB%AC%BC_%EA%B5%AC%EC%A1%B0%EC%95%88%EC%A0%84%ED%99%95%EC%9D%B8_%EC%A0%9C%EB%8F%84_%ED%95%A9%EB%A6%AC%ED%99%94_%EC%A0%95%EC%B1%85%EC%97%B0%EA%B5%AC%29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bb3bb0cf9e4d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dbd119e8d74c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7390075564d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074cca7ef4413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9dc97a444437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860aa9392241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8ECEE1-FD56-4277-B2DF-7EC2CBBE46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040F74-DFF9-43E3-BCB0-222D0DCD992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1555616-835D-4DA6-A812-55EFFFE259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7AE660-27D9-4A96-AEDF-C4238D7138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BD7CE5C-7729-417F-9084-396711B85F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B852444-B2B8-486F-A814-214E9296CB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A17FDC8-2618-4D9B-A974-CA164896A7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799BEFD-7EFF-4F80-B8A7-36D90C77BD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B96E28-E955-4B7B-97CB-F610245A5E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BD23BF-ED57-40F8-8A5C-4A476003D8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46379f80144e3b" /><Relationship Type="http://schemas.openxmlformats.org/officeDocument/2006/relationships/slideLayout" Target="/ppt/slideLayouts/slideLayout1.xml" Id="R87875b36a2e64eb4" /><Relationship Type="http://schemas.openxmlformats.org/officeDocument/2006/relationships/slideLayout" Target="/ppt/slideLayouts/slideLayout2.xml" Id="Rc9dfda310043497a" /><Relationship Type="http://schemas.openxmlformats.org/officeDocument/2006/relationships/slideLayout" Target="/ppt/slideLayouts/slideLayout3.xml" Id="R77d5e8a11790468c" /><Relationship Type="http://schemas.openxmlformats.org/officeDocument/2006/relationships/slideLayout" Target="/ppt/slideLayouts/slideLayout4.xml" Id="Rb1582a8062a24805" /><Relationship Type="http://schemas.openxmlformats.org/officeDocument/2006/relationships/slideLayout" Target="/ppt/slideLayouts/slideLayout5.xml" Id="R2199ee80b5fa438d" /><Relationship Type="http://schemas.openxmlformats.org/officeDocument/2006/relationships/slideLayout" Target="/ppt/slideLayouts/slideLayout6.xml" Id="R2a70657c9d864d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875b36a2e64eb4"/>
    <p:sldLayoutId xmlns:r="http://schemas.openxmlformats.org/officeDocument/2006/relationships" id="2147483650" r:id="Rc9dfda310043497a"/>
    <p:sldLayoutId xmlns:r="http://schemas.openxmlformats.org/officeDocument/2006/relationships" id="2147483651" r:id="R77d5e8a11790468c"/>
    <p:sldLayoutId xmlns:r="http://schemas.openxmlformats.org/officeDocument/2006/relationships" id="2147483652" r:id="Rb1582a8062a24805"/>
    <p:sldLayoutId xmlns:r="http://schemas.openxmlformats.org/officeDocument/2006/relationships" id="2147483653" r:id="R2199ee80b5fa438d"/>
    <p:sldLayoutId xmlns:r="http://schemas.openxmlformats.org/officeDocument/2006/relationships" id="2147483654" r:id="R2a70657c9d864d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91b4d9f44145ff" /><Relationship Type="http://schemas.openxmlformats.org/officeDocument/2006/relationships/image" Target="/ppt/media/image.jpeg" Id="R2940380162f24e22" /><Relationship Type="http://schemas.openxmlformats.org/officeDocument/2006/relationships/notesSlide" Target="/ppt/notesSlides/notesSlide1.xml" Id="Rf076f2e2d33f4b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c8cb735aa6448e" /><Relationship Type="http://schemas.openxmlformats.org/officeDocument/2006/relationships/notesSlide" Target="/ppt/notesSlides/notesSlide2.xml" Id="R5e1db7857a8f45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fd980034f64d44" /><Relationship Type="http://schemas.openxmlformats.org/officeDocument/2006/relationships/notesSlide" Target="/ppt/notesSlides/notesSlide3.xml" Id="R335584e2b79045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42b3e334554f1f" /><Relationship Type="http://schemas.openxmlformats.org/officeDocument/2006/relationships/notesSlide" Target="/ppt/notesSlides/notesSlide4.xml" Id="R0e0ce273134245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53a5cc97034878" /><Relationship Type="http://schemas.openxmlformats.org/officeDocument/2006/relationships/notesSlide" Target="/ppt/notesSlides/notesSlide5.xml" Id="R61d620fda2e045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44cf9b0cd54424" /><Relationship Type="http://schemas.openxmlformats.org/officeDocument/2006/relationships/notesSlide" Target="/ppt/notesSlides/notesSlide6.xml" Id="R6785c7d3734a4a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fbebe4c074e65" /><Relationship Type="http://schemas.openxmlformats.org/officeDocument/2006/relationships/notesSlide" Target="/ppt/notesSlides/notesSlide7.xml" Id="R7b16c028829849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37df9196b948cd" /><Relationship Type="http://schemas.openxmlformats.org/officeDocument/2006/relationships/notesSlide" Target="/ppt/notesSlides/notesSlide8.xml" Id="R6cddb184dd5641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c859c223c4848" /><Relationship Type="http://schemas.openxmlformats.org/officeDocument/2006/relationships/notesSlide" Target="/ppt/notesSlides/notesSlide9.xml" Id="Rb71db4f9195941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9a423e12442df" /><Relationship Type="http://schemas.openxmlformats.org/officeDocument/2006/relationships/notesSlide" Target="/ppt/notesSlides/notesSlide10.xml" Id="Ra4d4512867214f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1c807ec7aa4a2f" /><Relationship Type="http://schemas.openxmlformats.org/officeDocument/2006/relationships/notesSlide" Target="/ppt/notesSlides/notesSlide11.xml" Id="R81c8000a509847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3894691200455d" /><Relationship Type="http://schemas.openxmlformats.org/officeDocument/2006/relationships/notesSlide" Target="/ppt/notesSlides/notesSlide12.xml" Id="Rdccda9bd50a64d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828ab5e2d44e3b" /><Relationship Type="http://schemas.openxmlformats.org/officeDocument/2006/relationships/notesSlide" Target="/ppt/notesSlides/notesSlide13.xml" Id="R2bab2fe2152b46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e19590bf424ae6" /><Relationship Type="http://schemas.openxmlformats.org/officeDocument/2006/relationships/image" Target="/ppt/media/image2.jpeg" Id="R0a536f910b754ce6" /><Relationship Type="http://schemas.openxmlformats.org/officeDocument/2006/relationships/notesSlide" Target="/ppt/notesSlides/notesSlide14.xml" Id="R08b12d7a972840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232D7-65A7-4B28-ACF5-DA51322CFF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0380162f24e22"/>
          <a:srcRect xmlns:a="http://schemas.openxmlformats.org/drawingml/2006/main" l="19672" t="0" r="196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0"/>
            <a:ext cx="62293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89DFE8ED-C975-4CE2-AF7B-4CE7CC6F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E02B8FCA-9739-42AB-B1CE-3C3F3CD7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조사·연구·컨설팅</a:t>
            </a:r>
          </a:p>
          <a:p xmlns:a="http://schemas.openxmlformats.org/drawingml/2006/main">
            <a:pPr algn="l">
              <a:defRPr sz="42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CB830E5-13B0-4469-8EC8-DCABC411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667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사업명 · 발주기관 · 제안사 작성</a:t>
            </a:r>
          </a:p>
        </p:txBody>
      </p:sp>
      <p:sp>
        <p:nvSpPr>
          <p:cNvPr id="5" name="bid3-fixed-design-name">
            <a:extLst xmlns:a="http://schemas.openxmlformats.org/drawingml/2006/main">
              <a:ext uri="{FF2B5EF4-FFF2-40B4-BE49-F238E27FC236}">
                <a16:creationId xmlns:a16="http://schemas.microsoft.com/office/drawing/2014/main" id="{F2058417-BEC7-4B5D-981D-316681C7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4667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리서치 에비던스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69531DF-357C-4ADB-B719-933C1854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3722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50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50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117497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7CD0DA3E-D1A1-4B9C-A553-302645EE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/ 제안 구성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22EF771-9E2B-448B-A3EC-C475CBEC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연구 수행의 구성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F5F88CF-2FE2-420D-ACEC-F70BA539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연구 질문과 자료 수집·분석·정책 활용을 연결합니다.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97B4BBC-8186-471E-B324-6E7BFA7A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D30F2D83-FD55-4513-9A72-8D2F7376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2D9194B-CF59-450B-A974-64622750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FF82EF8-A10C-4141-9B53-B1F1AA9E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5D89930-8B4F-4F9F-8F05-3B952264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3842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문제와 질문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A17C5B5-21B6-41D0-878C-C0E23948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66700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BA0B4A54-4A13-4EB1-9AA3-7900AB19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5755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EB"/>
          </a:solidFill>
          <a:ln xmlns:a="http://schemas.openxmlformats.org/drawingml/2006/main" w="0">
            <a:noFill/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B235CBD-EAEC-4557-A336-5A45F4A3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1BA495F-CE9B-4252-9B39-6EBD88EF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2900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자료와 방법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EAA19DA-82D8-4F75-A5D7-9EBA3B84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45757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FB09AAF1-76CA-41BC-B74D-6A188118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48125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EB"/>
          </a:solidFill>
          <a:ln xmlns:a="http://schemas.openxmlformats.org/drawingml/2006/main" w="0">
            <a:noFill/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3824E08-1A14-424D-B418-6FAF0C05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EE7D61B-D3E5-4071-82FC-5DB9F884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9575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결과와 대안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807D2AB-ABEC-40BB-854D-B6DBE3FF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248150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8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C86EF3B0-E1EC-4CCE-970D-0AD840DC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38700"/>
            <a:ext cx="9829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EB"/>
          </a:solidFill>
          <a:ln xmlns:a="http://schemas.openxmlformats.org/drawingml/2006/main" w="0">
            <a:noFill/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99366FC-689B-4F03-B7F0-97F7068A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87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3030BBE-9210-4F15-AAE3-81713583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358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활용과 검증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66FD364-5A17-478A-A3D9-23857CF4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038725"/>
            <a:ext cx="6029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1682499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B159047E-7B0A-4DB8-A55C-D91CE40D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27C237FD-DBC9-4190-93B3-BE5D819F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연구 질문과 확인할 근거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8EA5FDD-8801-47D5-8BF4-F176A9E2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정책의 효과를 미리 단정하지 않고 확인할 질문을 구체화합니다.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58BEC8A-352A-40A4-A6C3-B233E621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DD148CEC-0CAC-47BE-B200-BCAA0574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3BA8A6A-C1AB-4365-9FF2-D10B813E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930CD6E-1609-49F9-90A7-A1563223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AC9BA59-499A-4B25-B7E7-A4E8BBC3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384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어떤 지원이 필요한가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FDF76AD-3C7A-4745-B178-AEF765EE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57475"/>
            <a:ext cx="5676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B81E1799-21DE-4350-A252-2687BBC7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97275"/>
            <a:ext cx="100107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EB"/>
          </a:solidFill>
          <a:ln xmlns:a="http://schemas.openxmlformats.org/drawingml/2006/main" w="0">
            <a:noFill/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F2E7492-453E-46F4-A61B-521B5BA7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96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6C86BF0-E56A-4E39-B965-E7C8AB73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496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어디에서 접근이 막히는가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2125697-D95B-41E2-879F-4843BB27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68725"/>
            <a:ext cx="5676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821F6135-062A-4B34-9AE2-DDB65A5C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08525"/>
            <a:ext cx="100107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EB"/>
          </a:solidFill>
          <a:ln xmlns:a="http://schemas.openxmlformats.org/drawingml/2006/main" w="0">
            <a:noFill/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CC5F24A-B5FF-46AC-B2A1-61DBEB98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09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A3BC1F5-838D-4358-BB11-5EC83E22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609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어떤 대안이 실행 가능한가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F59383E-E57C-4BD4-9036-6B7E1EF9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9975"/>
            <a:ext cx="5676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15925607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A38642AB-7BCA-4D48-8C62-CC4A8B26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B57BDA3-DDEB-495B-A56E-F6946F1A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자료 수집과 연구 설계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D2258AF-F564-4091-BE32-27BFAAC7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서로 다른 자료의 역할을 구분해 결과의 해석 범위를 정합니다.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EFEE107-8D2A-4997-9DAA-FF248A7E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26AF500E-E04A-4B1E-BFCC-E2E9A434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74FF83C0-E8F1-4A54-AEA7-2355DE82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1F06A63-1507-429D-996D-5B4ECE1B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04B99606-54B1-45A8-8309-7ABF366A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EB"/>
          </a:solidFill>
          <a:ln xmlns:a="http://schemas.openxmlformats.org/drawingml/2006/main" w="9525">
            <a:solidFill>
              <a:srgbClr val="77606E"/>
            </a:solidFill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996C542-BF23-4DE7-A09D-B5A462DC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문헌 검토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BAEC138-7530-48A8-A1F5-B14C5EAE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DDBB9C8C-7152-4D42-BDCC-10F4DA8087A4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606E"/>
            </a:solidFill>
          </a:ln>
        </p:spPr>
      </p:cxn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62450CA-D815-45B7-A78E-FE07CB8D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C200033A-B86C-482A-88F2-8D5D70D0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EB"/>
          </a:solidFill>
          <a:ln xmlns:a="http://schemas.openxmlformats.org/drawingml/2006/main" w="9525">
            <a:solidFill>
              <a:srgbClr val="77606E"/>
            </a:solidFill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0C8BCB61-B4B5-4F11-981B-76ACF2C3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현황 조사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A69E826-4269-4619-9E5F-FA70C783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6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3B252DDA-14A3-4B10-B1F2-A2F4DB0F3EBC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606E"/>
            </a:solidFill>
          </a:ln>
        </p:spPr>
      </p:cxn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CBA9E45-E9F1-45D0-9E3A-D88B8AF9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3114D624-4B42-4A15-B10E-8C49BE59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EB"/>
          </a:solidFill>
          <a:ln xmlns:a="http://schemas.openxmlformats.org/drawingml/2006/main" w="9525">
            <a:solidFill>
              <a:srgbClr val="77606E"/>
            </a:solidFill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CEA18A6-55B4-456F-A76F-74A8D7EB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심층 인터뷰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5AA2707-A472-484D-9858-54A350AA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0E7A8B7E-7BB9-4DDD-A973-5E3732C8C571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606E"/>
            </a:solidFill>
          </a:ln>
        </p:spPr>
      </p:cxn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6E508C8-97D5-4AD3-9E39-5FBB3A3E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E7E50E44-ADBF-41AC-8E28-23985D61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EB"/>
          </a:solidFill>
          <a:ln xmlns:a="http://schemas.openxmlformats.org/drawingml/2006/main" w="9525">
            <a:solidFill>
              <a:srgbClr val="77606E"/>
            </a:solidFill>
          </a:ln>
        </p:spPr>
      </p:sp>
      <p:sp>
        <p:nvSpPr>
          <p:cNvPr id="2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1AC2D4C-3082-4D73-A3CB-C5235AB6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종합 분석</a:t>
            </a:r>
          </a:p>
        </p:txBody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0F87864-C124-4ADC-B25E-3FE40CE8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224762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85CBEF51-D5E9-4DF2-8B11-D70576D1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0E8E517-9145-449F-8D6C-0D26E656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조사 대상과 표본 설계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C317858-3AA9-4FF9-A721-BD6CD038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대상·규모·추출 방식은 공고와 가용 자료를 확인한 뒤 확정합니다.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744BBBA-A9F8-4006-99C6-EA62E275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A1F8C0CA-DB14-466F-8A0A-97AA5329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8566688-D615-4F98-B26E-3C0FFC32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AA2FC-56C5-4612-939C-A59E0006450B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대상군</a:t>
                      </a:r>
                    </a:p>
                  </a:txBody>
                  <a:tcPr marL="142875" marR="142875" marT="114300" marB="95250" anchor="ctr">
                    <a:solidFill>
                      <a:srgbClr val="393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내용</a:t>
                      </a:r>
                    </a:p>
                  </a:txBody>
                  <a:tcPr marL="142875" marR="142875" marT="114300" marB="95250" anchor="ctr">
                    <a:solidFill>
                      <a:srgbClr val="393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 방법</a:t>
                      </a:r>
                    </a:p>
                  </a:txBody>
                  <a:tcPr marL="142875" marR="142875" marT="114300" marB="95250" anchor="ctr">
                    <a:solidFill>
                      <a:srgbClr val="393247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이용 기관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미이용 기관</a:t>
                      </a:r>
                    </a:p>
                  </a:txBody>
                  <a:tcPr marL="142875" marR="142875" marT="114300" marB="9525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AF8F5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담당자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8338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3240D68-73B3-4486-A415-39882480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0AD6B6F0-8198-477C-8F1E-FA9D40A1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질문지와 인터뷰 구성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AC620A3-B72C-4FA2-92E5-E41F6B58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각 문항을 연구 질문과 연결하고 사전 검토로 모호함을 줄입니다.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EF667CF-0614-46D5-840E-936977A1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030D7948-D08B-4E84-8445-A63C59F5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727C740-758B-425D-8594-EAC9164F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2A521AF-5C2F-4B57-BEA8-CBCC99C9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4C90AD7-4CF0-45A4-B996-8666E5B7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384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현황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BEF8984-C1B1-47F1-B962-E04FC57A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57475"/>
            <a:ext cx="5676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0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5632BC50-E31D-46F5-A244-89C2BA2F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19463"/>
            <a:ext cx="100107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EB"/>
          </a:solidFill>
          <a:ln xmlns:a="http://schemas.openxmlformats.org/drawingml/2006/main" w="0">
            <a:noFill/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F14F031-56F0-41C8-96DB-3BCB302A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1863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8CCC537-AE82-4FFC-984E-0E3E2719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1863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경험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315DC4A-0538-4982-8C8E-49BA8E20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90913"/>
            <a:ext cx="5676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4B7AF425-3EC1-4E32-B079-406C73A1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52900"/>
            <a:ext cx="100107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EB"/>
          </a:solidFill>
          <a:ln xmlns:a="http://schemas.openxmlformats.org/drawingml/2006/main" w="0">
            <a:noFill/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D2E609F-D341-4803-AB3B-8D1B3CA9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B1B94E6-1433-4925-A2E8-7C724C80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0530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수요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B771590-5319-48BD-90C2-1E985FF1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5676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8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70D3AA3D-F014-4CDA-B072-836D7355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86338"/>
            <a:ext cx="100107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EB"/>
          </a:solidFill>
          <a:ln xmlns:a="http://schemas.openxmlformats.org/drawingml/2006/main" w="0">
            <a:noFill/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D0642CD-5C58-40DE-A148-0482BBA3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8738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C1D37F2-6233-47F0-9811-0D619C53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38738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검토</a:t>
            </a:r>
          </a:p>
        </p:txBody>
      </p:sp>
      <p:sp>
        <p:nvSpPr>
          <p:cNvPr id="2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92022EF-B32B-4F3C-AAD3-59301191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57788"/>
            <a:ext cx="56769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2444961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E1C5B82F-282C-420A-8172-000BFAB0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1C7F9E6-427C-4BEA-9486-344CBD5E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수집 자료의 품질 점검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63624F2-12B0-4EF6-927D-9412699C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자료의 신뢰성과 적용 범위를 함께 기록합니다.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F34A545-78BD-4D36-A454-00428B8B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772B3D78-2F52-4282-A027-EFF685EB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26694FB-1D02-4FBC-A631-41D1A531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56B82-BD81-41F5-A6AE-7A7A8A63AF3B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점검 대상</a:t>
                      </a:r>
                    </a:p>
                  </a:txBody>
                  <a:tcPr marL="142875" marR="142875" marT="114300" marB="95250" anchor="ctr">
                    <a:solidFill>
                      <a:srgbClr val="393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사항</a:t>
                      </a:r>
                    </a:p>
                  </a:txBody>
                  <a:tcPr marL="142875" marR="142875" marT="114300" marB="95250" anchor="ctr">
                    <a:solidFill>
                      <a:srgbClr val="393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</a:t>
                      </a:r>
                    </a:p>
                  </a:txBody>
                  <a:tcPr marL="142875" marR="142875" marT="114300" marB="95250" anchor="ctr">
                    <a:solidFill>
                      <a:srgbClr val="393247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문헌·통계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조사 응답</a:t>
                      </a:r>
                    </a:p>
                  </a:txBody>
                  <a:tcPr marL="142875" marR="142875" marT="114300" marB="9525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AF8F5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인터뷰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0865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FE1594C8-1331-49B4-B4ED-AD68CDDA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218219BA-9D3E-4027-8C2B-24EA25F1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연구 질문별 분석 계획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90D8014-A937-49E1-8513-5B2F17BA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분석 방법을 자료의 성격과 연구 질문에 맞춰 선택합니다.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A6DAA7A-B2DD-4BCD-BBF1-8C6F694E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F31CE949-0DE4-4739-A035-A494B412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C558FEB-D4C6-48A8-A0CB-67CDE27D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39A09-22BD-4C37-8336-41E20D4FCE8A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142875" marR="142875" marT="114300" marB="95250" anchor="ctr">
                    <a:solidFill>
                      <a:srgbClr val="393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</a:t>
                      </a:r>
                    </a:p>
                  </a:txBody>
                  <a:tcPr marL="142875" marR="142875" marT="114300" marB="95250" anchor="ctr">
                    <a:solidFill>
                      <a:srgbClr val="393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분석·산출</a:t>
                      </a:r>
                    </a:p>
                  </a:txBody>
                  <a:tcPr marL="142875" marR="142875" marT="114300" marB="95250" anchor="ctr">
                    <a:solidFill>
                      <a:srgbClr val="393247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수요의 차이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장벽의 원인</a:t>
                      </a:r>
                    </a:p>
                  </a:txBody>
                  <a:tcPr marL="142875" marR="142875" marT="114300" marB="9525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AF8F5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대안의 실행 조건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5691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541D0F99-DCBA-446C-B626-16766269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3637D955-8D60-4354-BF9F-460AF144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근거에서 정책 제안까지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472809D-EE2A-40BA-BD91-15A6E8CF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분석 결과와 해석·제안을 구분해 읽을 수 있도록 작성합니다.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5FA0CAC-9909-4954-875C-CA70AE91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A57C49AD-F13F-452E-8D9C-6BB3A9A0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AB67BD5-1CCE-4F91-AF59-A40DD8D3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998A253-1580-459B-B2F5-4149B08C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BFBCE83D-BC50-4946-8980-1E4F945E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EB"/>
          </a:solidFill>
          <a:ln xmlns:a="http://schemas.openxmlformats.org/drawingml/2006/main" w="9525">
            <a:solidFill>
              <a:srgbClr val="77606E"/>
            </a:solidFill>
          </a:ln>
        </p:spPr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D18C129-B8A3-468A-A7F4-E1318CE6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자료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C00AC45-5FCB-417C-AD58-A7E4248E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6EBB277E-3FC0-4FA0-B5CD-A5AE48A8249C}"/>
              </a:ext>
            </a:extLst>
          </p:cNvPr>
          <p:cNvCxnSpPr/>
          <p:nvPr/>
        </p:nvCxnSpPr>
        <p:spPr>
          <a:xfrm xmlns:a="http://schemas.openxmlformats.org/drawingml/2006/main">
            <a:off x="3109913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606E"/>
            </a:solidFill>
          </a:ln>
        </p:spPr>
      </p:cxn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BFA2606-B2D6-47EB-B3C7-A0DD8347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62178987-6663-4EA0-BCDA-A8F6F1D0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EB"/>
          </a:solidFill>
          <a:ln xmlns:a="http://schemas.openxmlformats.org/drawingml/2006/main" w="9525">
            <a:solidFill>
              <a:srgbClr val="77606E"/>
            </a:solidFill>
          </a:ln>
        </p:spPr>
      </p:sp>
      <p:sp>
        <p:nvSpPr>
          <p:cNvPr id="1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F3C6321-69E3-467B-8CD8-4EA16566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</p:txBody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5BCC75F-BE1C-4B44-8A8E-264DA5C4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16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299D410C-5FD8-4AEB-A111-33462854B0DC}"/>
              </a:ext>
            </a:extLst>
          </p:cNvPr>
          <p:cNvCxnSpPr/>
          <p:nvPr/>
        </p:nvCxnSpPr>
        <p:spPr>
          <a:xfrm xmlns:a="http://schemas.openxmlformats.org/drawingml/2006/main">
            <a:off x="5934075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606E"/>
            </a:solidFill>
          </a:ln>
        </p:spPr>
      </p:cxn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3705A07-5337-472B-8EB1-4A1912AD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8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585C604F-7BD8-44AF-8C24-64DB54C2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EB"/>
          </a:solidFill>
          <a:ln xmlns:a="http://schemas.openxmlformats.org/drawingml/2006/main" w="9525">
            <a:solidFill>
              <a:srgbClr val="77606E"/>
            </a:solidFill>
          </a:ln>
        </p:spPr>
      </p:sp>
      <p:sp>
        <p:nvSpPr>
          <p:cNvPr id="1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A617073B-F065-4C47-9D4F-8485AB39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2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F45166F-EB0A-41C5-BCD5-46B3BFAC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cxnSp>
        <p:nvCxnSpPr>
          <p:cNvPr id="21" name="domain-diagram-connection">
            <a:extLst xmlns:a="http://schemas.openxmlformats.org/drawingml/2006/main">
              <a:ext uri="{FF2B5EF4-FFF2-40B4-BE49-F238E27FC236}">
                <a16:creationId xmlns:a16="http://schemas.microsoft.com/office/drawing/2014/main" id="{C7DE0880-1140-4139-824B-CDB135148A0B}"/>
              </a:ext>
            </a:extLst>
          </p:cNvPr>
          <p:cNvCxnSpPr/>
          <p:nvPr/>
        </p:nvCxnSpPr>
        <p:spPr>
          <a:xfrm xmlns:a="http://schemas.openxmlformats.org/drawingml/2006/main">
            <a:off x="8758238" y="4438650"/>
            <a:ext cx="323850" cy="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77606E"/>
            </a:solidFill>
          </a:ln>
        </p:spPr>
      </p:cxnSp>
      <p:sp>
        <p:nvSpPr>
          <p:cNvPr id="2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CF586BD-4A85-497C-9A72-7FF745EF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686050"/>
            <a:ext cx="25003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3" name="domain-diagram-node">
            <a:extLst xmlns:a="http://schemas.openxmlformats.org/drawingml/2006/main">
              <a:ext uri="{FF2B5EF4-FFF2-40B4-BE49-F238E27FC236}">
                <a16:creationId xmlns:a16="http://schemas.microsoft.com/office/drawing/2014/main" id="{F6D8E8E3-E41B-44AC-B1CD-5F5454A2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419475"/>
            <a:ext cx="2500313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EB"/>
          </a:solidFill>
          <a:ln xmlns:a="http://schemas.openxmlformats.org/drawingml/2006/main" w="9525">
            <a:solidFill>
              <a:srgbClr val="77606E"/>
            </a:solidFill>
          </a:ln>
        </p:spPr>
      </p:sp>
      <p:sp>
        <p:nvSpPr>
          <p:cNvPr id="24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A9BFBD1-4212-43BE-8BAB-DBDF7644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590925"/>
            <a:ext cx="215741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제안</a:t>
            </a:r>
          </a:p>
        </p:txBody>
      </p:sp>
      <p:sp>
        <p:nvSpPr>
          <p:cNvPr id="2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1D8A7A60-45B3-422A-9779-4B434F06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4105275"/>
            <a:ext cx="2157413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</p:spTree>
    <p:extLst>
      <p:ext uri="{BB962C8B-B14F-4D97-AF65-F5344CB8AC3E}">
        <p14:creationId xmlns:p14="http://schemas.microsoft.com/office/powerpoint/2010/main" val="9755834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06400C00-D4FE-48DE-9331-2B8C6896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0F34291-076B-43E5-8CC1-98A075D9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정책 대안의 비교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86F58FE3-1754-4448-898C-4D0AA649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아래는 설명용 대안이며 효과·채택 여부를 확정한 결과가 아닙니다.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BBA6F36-4366-4988-9E2D-8F0F89E0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F166E9D5-A0D1-4668-AB2A-4A605558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61C9A0A-8CE5-4496-A122-5E3E57A9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9E0F5-46DE-4F2E-92FC-2A372B6D577F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대안</a:t>
                      </a:r>
                    </a:p>
                  </a:txBody>
                  <a:tcPr marL="142875" marR="142875" marT="114300" marB="95250" anchor="ctr">
                    <a:solidFill>
                      <a:srgbClr val="393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기대하는 변화</a:t>
                      </a:r>
                    </a:p>
                  </a:txBody>
                  <a:tcPr marL="142875" marR="142875" marT="114300" marB="95250" anchor="ctr">
                    <a:solidFill>
                      <a:srgbClr val="393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조건·검토점</a:t>
                      </a:r>
                    </a:p>
                  </a:txBody>
                  <a:tcPr marL="142875" marR="142875" marT="114300" marB="95250" anchor="ctr">
                    <a:solidFill>
                      <a:srgbClr val="393247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지원 개선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시범 사업 운영</a:t>
                      </a:r>
                    </a:p>
                  </a:txBody>
                  <a:tcPr marL="142875" marR="142875" marT="114300" marB="9525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AF8F5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간 연계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6109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F89695B9-DF84-42A9-84BC-1EE5C54F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410AF4D-8E95-43D8-AD9C-30F2DA98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실행 로드맵과 검토 시점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5CFE4BD2-DF62-4B0C-8DF5-E13CBF5C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실행 단계마다 확인할 자료와 다음 단계의 판단 조건을 정합니다.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4440ED4-887A-4179-BAFD-3DDF3A4E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26E75860-C601-43F5-875D-FBFA9DE9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7E5FFEB-358B-477B-9DD8-92611833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E9D2148-6C13-4503-9AF1-33AB9158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기반 정리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324D5C2-7546-4709-9B4F-39FD5359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4483649-0A3A-4A5A-85DB-7531A6C9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146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0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12C4516C-F956-4E23-8030-126F860A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EB"/>
          </a:solidFill>
          <a:ln xmlns:a="http://schemas.openxmlformats.org/drawingml/2006/main" w="0">
            <a:noFill/>
          </a:ln>
        </p:spPr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BD7F621-96C5-4D60-89F0-9E797BB0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시범 적용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6B0E82CC-4401-40B0-BD55-EF6E2231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814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795F812-86A4-49F0-90CA-AE6BDA53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814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  <p:sp>
        <p:nvSpPr>
          <p:cNvPr id="14" name="bid3-fixed-rule">
            <a:extLst xmlns:a="http://schemas.openxmlformats.org/drawingml/2006/main">
              <a:ext uri="{FF2B5EF4-FFF2-40B4-BE49-F238E27FC236}">
                <a16:creationId xmlns:a16="http://schemas.microsoft.com/office/drawing/2014/main" id="{9FF3D1E1-BD7B-4ADB-AF92-5495DB52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EB"/>
          </a:solidFill>
          <a:ln xmlns:a="http://schemas.openxmlformats.org/drawingml/2006/main" w="0">
            <a:noFill/>
          </a:ln>
        </p:spPr>
      </p:sp>
      <p:sp>
        <p:nvSpPr>
          <p:cNvPr id="15" name="domain-copy">
            <a:extLst xmlns:a="http://schemas.openxmlformats.org/drawingml/2006/main">
              <a:ext uri="{FF2B5EF4-FFF2-40B4-BE49-F238E27FC236}">
                <a16:creationId xmlns:a16="http://schemas.microsoft.com/office/drawing/2014/main" id="{BDF241E3-5A64-4C64-9C62-57233302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보완·확산</a:t>
            </a:r>
          </a:p>
        </p:txBody>
      </p:sp>
      <p:sp>
        <p:nvSpPr>
          <p:cNvPr id="16" name="domain-copy">
            <a:extLst xmlns:a="http://schemas.openxmlformats.org/drawingml/2006/main">
              <a:ext uri="{FF2B5EF4-FFF2-40B4-BE49-F238E27FC236}">
                <a16:creationId xmlns:a16="http://schemas.microsoft.com/office/drawing/2014/main" id="{DA6B4F01-DFE1-46B4-81C1-39A1D59C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48225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DE95D75-3674-4B57-83A0-7522F80B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48225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조건·기준·근거 확인 필요</a:t>
            </a:r>
          </a:p>
        </p:txBody>
      </p:sp>
    </p:spTree>
    <p:extLst>
      <p:ext uri="{BB962C8B-B14F-4D97-AF65-F5344CB8AC3E}">
        <p14:creationId xmlns:p14="http://schemas.microsoft.com/office/powerpoint/2010/main" val="8952133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8BA1489-C7F6-4DAB-83DC-D8087E49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/ 수행 계획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BE1F040-2F19-44F9-923C-2B55F64F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연구 역할과 보고 체계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E13AD8EE-7B6A-4AD5-B018-99DA5EE7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각 역할의 산출물을 연구 질문과 품질 점검에 연결합니다.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4D8CF0B-8080-4406-A1B5-7B63C378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A7735F6C-2770-49F8-98B9-6781A30E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028D150-ACD8-4A06-96DA-74527A6C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F69A5-F712-452C-B88E-37396F917302}"/>
              </a:ext>
            </a:extLst>
          </p:cNvPr>
          <p:cNvGraphicFramePr/>
          <p:nvPr/>
        </p:nvGraphicFramePr>
        <p:xfrm>
          <a:off xmlns:a="http://schemas.openxmlformats.org/drawingml/2006/main" x="609600" y="2657475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43400"/>
                <a:gridCol w="4343400"/>
              </a:tblGrid>
              <a:tr h="5905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42875" marR="142875" marT="114300" marB="95250" anchor="ctr">
                    <a:solidFill>
                      <a:srgbClr val="393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업무</a:t>
                      </a:r>
                    </a:p>
                  </a:txBody>
                  <a:tcPr marL="142875" marR="142875" marT="114300" marB="95250" anchor="ctr">
                    <a:solidFill>
                      <a:srgbClr val="3932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산출물</a:t>
                      </a:r>
                    </a:p>
                  </a:txBody>
                  <a:tcPr marL="142875" marR="142875" marT="114300" marB="95250" anchor="ctr">
                    <a:solidFill>
                      <a:srgbClr val="393247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연구 총괄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조사·분석</a:t>
                      </a:r>
                    </a:p>
                  </a:txBody>
                  <a:tcPr marL="142875" marR="142875" marT="114300" marB="9525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FAF8F5"/>
                    </a:solidFill>
                  </a:tcPr>
                </a:tc>
              </a:tr>
              <a:tr h="8731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품질 검토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사업에 맞는 세부 내용 작성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393247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조건·기준·근거 확인 필요</a:t>
                      </a:r>
                    </a:p>
                  </a:txBody>
                  <a:tcPr marL="142875" marR="142875" marT="114300" marB="95250" anchor="ctr">
                    <a:solidFill>
                      <a:srgbClr val="ECE6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4662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82EFADB6-8132-41D8-BEDE-1E5F5295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/ 수행 근거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1F16E25F-96F8-4017-84CF-4B80270A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보고서와 재현 가능한 근거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F64805BC-6472-4758-8244-779DC653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분석에 사용한 자료와 판단 과정을 확인할 수 있도록 전달합니다.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5826639-DEF6-49F0-AA17-DB9A91C7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5" name="bid3-fixed-status">
            <a:extLst xmlns:a="http://schemas.openxmlformats.org/drawingml/2006/main">
              <a:ext uri="{FF2B5EF4-FFF2-40B4-BE49-F238E27FC236}">
                <a16:creationId xmlns:a16="http://schemas.microsoft.com/office/drawing/2014/main" id="{6C221220-44E8-489D-ADD5-04F7ABB4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722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분야별 작성 양식</a:t>
            </a:r>
          </a:p>
        </p:txBody>
      </p:sp>
      <p:sp>
        <p:nvSpPr>
          <p:cNvPr id="6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15B8B52-13D3-4076-83D8-60C63AFF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7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A0B8C32-5465-451C-A258-EB8415CC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출처 목록</a:t>
            </a:r>
          </a:p>
        </p:txBody>
      </p:sp>
      <p:sp>
        <p:nvSpPr>
          <p:cNvPr id="8" name="domain-copy">
            <a:extLst xmlns:a="http://schemas.openxmlformats.org/drawingml/2006/main">
              <a:ext uri="{FF2B5EF4-FFF2-40B4-BE49-F238E27FC236}">
                <a16:creationId xmlns:a16="http://schemas.microsoft.com/office/drawing/2014/main" id="{35979EFB-80D3-495B-8C7F-92FAC5F9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9" name="domain-copy">
            <a:extLst xmlns:a="http://schemas.openxmlformats.org/drawingml/2006/main">
              <a:ext uri="{FF2B5EF4-FFF2-40B4-BE49-F238E27FC236}">
                <a16:creationId xmlns:a16="http://schemas.microsoft.com/office/drawing/2014/main" id="{4EDA2032-0E15-4531-BE7E-CD4DF798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분석 기록</a:t>
            </a:r>
          </a:p>
        </p:txBody>
      </p:sp>
      <p:sp>
        <p:nvSpPr>
          <p:cNvPr id="10" name="domain-copy">
            <a:extLst xmlns:a="http://schemas.openxmlformats.org/drawingml/2006/main">
              <a:ext uri="{FF2B5EF4-FFF2-40B4-BE49-F238E27FC236}">
                <a16:creationId xmlns:a16="http://schemas.microsoft.com/office/drawing/2014/main" id="{78967001-652E-4089-9D87-44199AED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1" name="domain-copy">
            <a:extLst xmlns:a="http://schemas.openxmlformats.org/drawingml/2006/main">
              <a:ext uri="{FF2B5EF4-FFF2-40B4-BE49-F238E27FC236}">
                <a16:creationId xmlns:a16="http://schemas.microsoft.com/office/drawing/2014/main" id="{974E4C91-ACBF-4918-8FE8-647466E7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활용 자료</a:t>
            </a:r>
          </a:p>
        </p:txBody>
      </p:sp>
      <p:sp>
        <p:nvSpPr>
          <p:cNvPr id="12" name="domain-copy">
            <a:extLst xmlns:a="http://schemas.openxmlformats.org/drawingml/2006/main">
              <a:ext uri="{FF2B5EF4-FFF2-40B4-BE49-F238E27FC236}">
                <a16:creationId xmlns:a16="http://schemas.microsoft.com/office/drawing/2014/main" id="{C66C016B-A98D-4357-AD58-F6454E82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029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사업에 맞는 세부 내용 작성</a:t>
            </a:r>
          </a:p>
        </p:txBody>
      </p:sp>
      <p:sp>
        <p:nvSpPr>
          <p:cNvPr id="13" name="bid3-material-placeholder-heading">
            <a:extLst xmlns:a="http://schemas.openxmlformats.org/drawingml/2006/main">
              <a:ext uri="{FF2B5EF4-FFF2-40B4-BE49-F238E27FC236}">
                <a16:creationId xmlns:a16="http://schemas.microsoft.com/office/drawing/2014/main" id="{03D77819-75B3-4BBC-BFC1-4470BA94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495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원문 자료와 제출 증빙</a:t>
            </a:r>
          </a:p>
        </p:txBody>
      </p:sp>
      <p:sp>
        <p:nvSpPr>
          <p:cNvPr id="14" name="bid3-material-placeholder-copy">
            <a:extLst xmlns:a="http://schemas.openxmlformats.org/drawingml/2006/main">
              <a:ext uri="{FF2B5EF4-FFF2-40B4-BE49-F238E27FC236}">
                <a16:creationId xmlns:a16="http://schemas.microsoft.com/office/drawing/2014/main" id="{21710B85-9B33-4A88-AD1A-558E76CA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67125"/>
            <a:ext cx="44958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회사 소개서의 관련 이미지·도표를</a:t>
            </a:r>
          </a:p>
          <a:p xmlns:a="http://schemas.openxmlformats.org/drawingml/2006/main">
            <a:pPr algn="l">
              <a:def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393247"/>
                </a:solidFill>
                <a:latin typeface="Malgun Gothic"/>
                <a:ea typeface="Malgun Gothic"/>
                <a:cs typeface="Malgun Gothic"/>
              </a:rPr>
              <a:t>현재 사업의 수행 근거와 대조합니다.</a:t>
            </a:r>
          </a:p>
        </p:txBody>
      </p:sp>
      <p:sp>
        <p:nvSpPr>
          <p:cNvPr id="15" name="bid3-material-placeholder-notice">
            <a:extLst xmlns:a="http://schemas.openxmlformats.org/drawingml/2006/main">
              <a:ext uri="{FF2B5EF4-FFF2-40B4-BE49-F238E27FC236}">
                <a16:creationId xmlns:a16="http://schemas.microsoft.com/office/drawing/2014/main" id="{B26657DC-FD71-4349-814C-F7EB11B8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0175"/>
            <a:ext cx="4495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77606E"/>
                </a:solidFill>
                <a:latin typeface="Malgun Gothic"/>
                <a:ea typeface="Malgun Gothic"/>
                <a:cs typeface="Malgun Gothic"/>
              </a:rPr>
              <a:t>자료가 없으면 현행 증빙 확보 후 반영</a:t>
            </a:r>
          </a:p>
        </p:txBody>
      </p:sp>
    </p:spTree>
    <p:extLst>
      <p:ext uri="{BB962C8B-B14F-4D97-AF65-F5344CB8AC3E}">
        <p14:creationId xmlns:p14="http://schemas.microsoft.com/office/powerpoint/2010/main" val="15943326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3932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21B27-49F7-4044-B8FB-B0BE297E79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36f910b754ce6"/>
          <a:srcRect xmlns:a="http://schemas.openxmlformats.org/drawingml/2006/main" l="27778" t="0" r="27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595D8C8-5C50-4BE0-9E61-E0F54179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66294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자료와 해석을 구분하고</a:t>
            </a:r>
          </a:p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실행 가능한 대안으로</a:t>
            </a:r>
          </a:p>
        </p:txBody>
      </p:sp>
      <p:sp>
        <p:nvSpPr>
          <p:cNvPr id="3" name="domain-copy">
            <a:extLst xmlns:a="http://schemas.openxmlformats.org/drawingml/2006/main">
              <a:ext uri="{FF2B5EF4-FFF2-40B4-BE49-F238E27FC236}">
                <a16:creationId xmlns:a16="http://schemas.microsoft.com/office/drawing/2014/main" id="{26742439-0800-4DA8-A1B0-91C15E18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57700"/>
            <a:ext cx="633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제안사 · 담당자 · 연락처 작성</a:t>
            </a:r>
          </a:p>
        </p:txBody>
      </p:sp>
      <p:sp>
        <p:nvSpPr>
          <p:cNvPr id="4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0A7E84B-4361-4D95-A2E0-C071CDE2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조사·연구·컨설팅 제안서</a:t>
            </a:r>
          </a:p>
        </p:txBody>
      </p:sp>
      <p:sp>
        <p:nvSpPr>
          <p:cNvPr id="5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0928932-CD00-433E-839E-005E70AE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6334125"/>
            <a:ext cx="46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69415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2026-10-14T01:26:31.8130000Z</dcterms:created>
  <dcterms:modified xsi:type="dcterms:W3CDTF">2026-10-14T01:26:31.8130000Z</dcterms:modified>
</coreProperties>
</file>