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51d52944d6a48fe" /><Relationship Type="http://schemas.openxmlformats.org/officeDocument/2006/relationships/extended-properties" Target="/docProps/app.xml" Id="Rc06828d4dbab4abf" /><Relationship Type="http://schemas.openxmlformats.org/officeDocument/2006/relationships/officeDocument" Target="/ppt/presentation.xml" Id="Rfa7388efc50845b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e390f7f6a66455e"/>
  </p:sldMasterIdLst>
  <p:notesMasterIdLst>
    <p:notesMasterId xmlns:r="http://schemas.openxmlformats.org/officeDocument/2006/relationships" r:id="R6545270777b8418f"/>
  </p:notesMasterIdLst>
  <p:sldIdLst>
    <p:sldId xmlns:r="http://schemas.openxmlformats.org/officeDocument/2006/relationships" id="256" r:id="Rfca560e3dcdd498f"/>
    <p:sldId xmlns:r="http://schemas.openxmlformats.org/officeDocument/2006/relationships" id="257" r:id="R4783bd61572f42b6"/>
    <p:sldId xmlns:r="http://schemas.openxmlformats.org/officeDocument/2006/relationships" id="258" r:id="R4d056a7004314626"/>
    <p:sldId xmlns:r="http://schemas.openxmlformats.org/officeDocument/2006/relationships" id="259" r:id="R232abd34b6a34bdf"/>
    <p:sldId xmlns:r="http://schemas.openxmlformats.org/officeDocument/2006/relationships" id="260" r:id="R0b5860d2bf394343"/>
    <p:sldId xmlns:r="http://schemas.openxmlformats.org/officeDocument/2006/relationships" id="261" r:id="R9044f7647dc34170"/>
    <p:sldId xmlns:r="http://schemas.openxmlformats.org/officeDocument/2006/relationships" id="262" r:id="Rfd3e0a274edc4190"/>
    <p:sldId xmlns:r="http://schemas.openxmlformats.org/officeDocument/2006/relationships" id="263" r:id="R85aa1ade26124e88"/>
    <p:sldId xmlns:r="http://schemas.openxmlformats.org/officeDocument/2006/relationships" id="264" r:id="R7dad4949ed0447cf"/>
    <p:sldId xmlns:r="http://schemas.openxmlformats.org/officeDocument/2006/relationships" id="265" r:id="R92d3aece7a8a4094"/>
    <p:sldId xmlns:r="http://schemas.openxmlformats.org/officeDocument/2006/relationships" id="266" r:id="R8b057c522274476e"/>
    <p:sldId xmlns:r="http://schemas.openxmlformats.org/officeDocument/2006/relationships" id="267" r:id="R3e71c4b7d2d44828"/>
    <p:sldId xmlns:r="http://schemas.openxmlformats.org/officeDocument/2006/relationships" id="268" r:id="Rff02ce81e0c24347"/>
    <p:sldId xmlns:r="http://schemas.openxmlformats.org/officeDocument/2006/relationships" id="269" r:id="R961b2baa5f85461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5816748abe047bf" /><Relationship Type="http://schemas.openxmlformats.org/officeDocument/2006/relationships/slideMaster" Target="/ppt/slideMasters/slideMaster1.xml" Id="Ree390f7f6a66455e" /><Relationship Type="http://schemas.openxmlformats.org/officeDocument/2006/relationships/notesMaster" Target="/ppt/notesMasters/notesMaster1.xml" Id="R6545270777b8418f" /><Relationship Type="http://schemas.openxmlformats.org/officeDocument/2006/relationships/presProps" Target="/ppt/presProps.xml" Id="R085c76e8998744ed" /><Relationship Type="http://schemas.openxmlformats.org/officeDocument/2006/relationships/tableStyles" Target="/ppt/tableStyles.xml" Id="Rbd23f93ec3814795" /><Relationship Type="http://schemas.openxmlformats.org/officeDocument/2006/relationships/slide" Target="/ppt/slides/slide1.xml" Id="Rfca560e3dcdd498f" /><Relationship Type="http://schemas.openxmlformats.org/officeDocument/2006/relationships/slide" Target="/ppt/slides/slide2.xml" Id="R4783bd61572f42b6" /><Relationship Type="http://schemas.openxmlformats.org/officeDocument/2006/relationships/slide" Target="/ppt/slides/slide3.xml" Id="R4d056a7004314626" /><Relationship Type="http://schemas.openxmlformats.org/officeDocument/2006/relationships/slide" Target="/ppt/slides/slide4.xml" Id="R232abd34b6a34bdf" /><Relationship Type="http://schemas.openxmlformats.org/officeDocument/2006/relationships/slide" Target="/ppt/slides/slide5.xml" Id="R0b5860d2bf394343" /><Relationship Type="http://schemas.openxmlformats.org/officeDocument/2006/relationships/slide" Target="/ppt/slides/slide6.xml" Id="R9044f7647dc34170" /><Relationship Type="http://schemas.openxmlformats.org/officeDocument/2006/relationships/slide" Target="/ppt/slides/slide7.xml" Id="Rfd3e0a274edc4190" /><Relationship Type="http://schemas.openxmlformats.org/officeDocument/2006/relationships/slide" Target="/ppt/slides/slide8.xml" Id="R85aa1ade26124e88" /><Relationship Type="http://schemas.openxmlformats.org/officeDocument/2006/relationships/slide" Target="/ppt/slides/slide9.xml" Id="R7dad4949ed0447cf" /><Relationship Type="http://schemas.openxmlformats.org/officeDocument/2006/relationships/slide" Target="/ppt/slides/slide10.xml" Id="R92d3aece7a8a4094" /><Relationship Type="http://schemas.openxmlformats.org/officeDocument/2006/relationships/slide" Target="/ppt/slides/slide11.xml" Id="R8b057c522274476e" /><Relationship Type="http://schemas.openxmlformats.org/officeDocument/2006/relationships/slide" Target="/ppt/slides/slide12.xml" Id="R3e71c4b7d2d44828" /><Relationship Type="http://schemas.openxmlformats.org/officeDocument/2006/relationships/slide" Target="/ppt/slides/slide13.xml" Id="Rff02ce81e0c24347" /><Relationship Type="http://schemas.openxmlformats.org/officeDocument/2006/relationships/slide" Target="/ppt/slides/slide14.xml" Id="R961b2baa5f85461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a73ded34aee416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2b62e5c7cf34bdb" /><Relationship Type="http://schemas.openxmlformats.org/officeDocument/2006/relationships/notesMaster" Target="/ppt/notesMasters/notesMaster1.xml" Id="R63eeae0e603a409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08357c9af954c16" /><Relationship Type="http://schemas.openxmlformats.org/officeDocument/2006/relationships/notesMaster" Target="/ppt/notesMasters/notesMaster1.xml" Id="R468fa8b64d77483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23b2342eb30437b" /><Relationship Type="http://schemas.openxmlformats.org/officeDocument/2006/relationships/notesMaster" Target="/ppt/notesMasters/notesMaster1.xml" Id="R551b2b64cbf842c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af605b31b054aa2" /><Relationship Type="http://schemas.openxmlformats.org/officeDocument/2006/relationships/notesMaster" Target="/ppt/notesMasters/notesMaster1.xml" Id="R50e5995a36f74e2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361298647304272" /><Relationship Type="http://schemas.openxmlformats.org/officeDocument/2006/relationships/notesMaster" Target="/ppt/notesMasters/notesMaster1.xml" Id="R114bdf28e2d34ea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67083a783f54bae" /><Relationship Type="http://schemas.openxmlformats.org/officeDocument/2006/relationships/notesMaster" Target="/ppt/notesMasters/notesMaster1.xml" Id="R871aa266141b4e5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7ddd63176f24751" /><Relationship Type="http://schemas.openxmlformats.org/officeDocument/2006/relationships/notesMaster" Target="/ppt/notesMasters/notesMaster1.xml" Id="R56bc757f33e14a5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23874adb1974966" /><Relationship Type="http://schemas.openxmlformats.org/officeDocument/2006/relationships/notesMaster" Target="/ppt/notesMasters/notesMaster1.xml" Id="Rf9ec78fdaa3148a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28014b4bb894a90" /><Relationship Type="http://schemas.openxmlformats.org/officeDocument/2006/relationships/notesMaster" Target="/ppt/notesMasters/notesMaster1.xml" Id="Rdbacb414039e424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52c1bebcba54101" /><Relationship Type="http://schemas.openxmlformats.org/officeDocument/2006/relationships/notesMaster" Target="/ppt/notesMasters/notesMaster1.xml" Id="R752776786149404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0dce6ced59d4281" /><Relationship Type="http://schemas.openxmlformats.org/officeDocument/2006/relationships/notesMaster" Target="/ppt/notesMasters/notesMaster1.xml" Id="R25e6f76827e04e4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c972bc72a1c47e4" /><Relationship Type="http://schemas.openxmlformats.org/officeDocument/2006/relationships/notesMaster" Target="/ppt/notesMasters/notesMaster1.xml" Id="R77352527f50c468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e575852490b4950" /><Relationship Type="http://schemas.openxmlformats.org/officeDocument/2006/relationships/notesMaster" Target="/ppt/notesMasters/notesMaster1.xml" Id="R7f1df7f5150347d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c07bf679dba47cc" /><Relationship Type="http://schemas.openxmlformats.org/officeDocument/2006/relationships/notesMaster" Target="/ppt/notesMasters/notesMaster1.xml" Id="R2ccad081eac146d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재사용 분야별 작성 양식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분야 설명용 스톡 이미지. 실제 제안사 수행·설치·행사 사진 아님.</a:t>
            </a:r>
          </a:p>
          <a:p xmlns:a="http://schemas.openxmlformats.org/drawingml/2006/main">
            <a:r>
              <a:t>이미지 출처: https://images.unsplash.com/photo-1504307651254-35680f356dfd?w=1800&amp;q=85</a:t>
            </a:r>
          </a:p>
          <a:p xmlns:a="http://schemas.openxmlformats.org/drawingml/2006/main">
            <a:r>
              <a:t>구조 참고 원문. 과거 사례의 수치와 과업조건은 현재 사업으로 전용하지 않음.</a:t>
            </a:r>
          </a:p>
          <a:p xmlns:a="http://schemas.openxmlformats.org/drawingml/2006/main">
            <a:r>
              <a:t>기술제안 입찰지침서: KOTITI 과천 신사옥 기술제안 입찰지침서</a:t>
            </a:r>
          </a:p>
          <a:p xmlns:a="http://schemas.openxmlformats.org/drawingml/2006/main">
            <a:r>
              <a:t>https://www.kotiti-global.com/ko/newninfo/announce.do?articleNo=356633&amp;attachNo=25491&amp;mode=download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재사용 분야별 작성 양식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구조 참고 원문. 과거 사례의 수치와 과업조건은 현재 사업으로 전용하지 않음.</a:t>
            </a:r>
          </a:p>
          <a:p xmlns:a="http://schemas.openxmlformats.org/drawingml/2006/main">
            <a:r>
              <a:t>기술제안 입찰지침서: KOTITI 과천 신사옥 기술제안 입찰지침서</a:t>
            </a:r>
          </a:p>
          <a:p xmlns:a="http://schemas.openxmlformats.org/drawingml/2006/main">
            <a:r>
              <a:t>https://www.kotiti-global.com/ko/newninfo/announce.do?articleNo=356633&amp;attachNo=25491&amp;mode=download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재사용 분야별 작성 양식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분야 설명용 스톡 이미지. 실제 수행 사진 아님.</a:t>
            </a:r>
          </a:p>
          <a:p xmlns:a="http://schemas.openxmlformats.org/drawingml/2006/main">
            <a:r>
              <a:t>이미지 출처: https://images.pexels.com/photos/8961065/pexels-photo-8961065.jpeg?auto=compress&amp;cs=tinysrgb&amp;w=1500</a:t>
            </a:r>
          </a:p>
          <a:p xmlns:a="http://schemas.openxmlformats.org/drawingml/2006/main">
            <a:r>
              <a:t>구조 참고 원문. 과거 사례의 수치와 과업조건은 현재 사업으로 전용하지 않음.</a:t>
            </a:r>
          </a:p>
          <a:p xmlns:a="http://schemas.openxmlformats.org/drawingml/2006/main">
            <a:r>
              <a:t>기술제안 입찰지침서: KOTITI 과천 신사옥 기술제안 입찰지침서</a:t>
            </a:r>
          </a:p>
          <a:p xmlns:a="http://schemas.openxmlformats.org/drawingml/2006/main">
            <a:r>
              <a:t>https://www.kotiti-global.com/ko/newninfo/announce.do?articleNo=356633&amp;attachNo=25491&amp;mode=download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재사용 분야별 작성 양식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구조 참고 원문. 과거 사례의 수치와 과업조건은 현재 사업으로 전용하지 않음.</a:t>
            </a:r>
          </a:p>
          <a:p xmlns:a="http://schemas.openxmlformats.org/drawingml/2006/main">
            <a:r>
              <a:t>기술제안 입찰지침서: KOTITI 과천 신사옥 기술제안 입찰지침서</a:t>
            </a:r>
          </a:p>
          <a:p xmlns:a="http://schemas.openxmlformats.org/drawingml/2006/main">
            <a:r>
              <a:t>https://www.kotiti-global.com/ko/newninfo/announce.do?articleNo=356633&amp;attachNo=25491&amp;mode=download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재사용 분야별 작성 양식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구조 참고 원문. 과거 사례의 수치와 과업조건은 현재 사업으로 전용하지 않음.</a:t>
            </a:r>
          </a:p>
          <a:p xmlns:a="http://schemas.openxmlformats.org/drawingml/2006/main">
            <a:r>
              <a:t>기술제안 입찰지침서: KOTITI 과천 신사옥 기술제안 입찰지침서</a:t>
            </a:r>
          </a:p>
          <a:p xmlns:a="http://schemas.openxmlformats.org/drawingml/2006/main">
            <a:r>
              <a:t>https://www.kotiti-global.com/ko/newninfo/announce.do?articleNo=356633&amp;attachNo=25491&amp;mode=download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재사용 분야별 작성 양식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구조 참고 원문. 과거 사례의 수치와 과업조건은 현재 사업으로 전용하지 않음.</a:t>
            </a:r>
          </a:p>
          <a:p xmlns:a="http://schemas.openxmlformats.org/drawingml/2006/main">
            <a:r>
              <a:t>기술제안 입찰지침서: KOTITI 과천 신사옥 기술제안 입찰지침서</a:t>
            </a:r>
          </a:p>
          <a:p xmlns:a="http://schemas.openxmlformats.org/drawingml/2006/main">
            <a:r>
              <a:t>https://www.kotiti-global.com/ko/newninfo/announce.do?articleNo=356633&amp;attachNo=25491&amp;mode=download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재사용 분야별 작성 양식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구조 참고 원문. 과거 사례의 수치와 과업조건은 현재 사업으로 전용하지 않음.</a:t>
            </a:r>
          </a:p>
          <a:p xmlns:a="http://schemas.openxmlformats.org/drawingml/2006/main">
            <a:r>
              <a:t>기술제안 입찰지침서: KOTITI 과천 신사옥 기술제안 입찰지침서</a:t>
            </a:r>
          </a:p>
          <a:p xmlns:a="http://schemas.openxmlformats.org/drawingml/2006/main">
            <a:r>
              <a:t>https://www.kotiti-global.com/ko/newninfo/announce.do?articleNo=356633&amp;attachNo=25491&amp;mode=download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재사용 분야별 작성 양식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구조 참고 원문. 과거 사례의 수치와 과업조건은 현재 사업으로 전용하지 않음.</a:t>
            </a:r>
          </a:p>
          <a:p xmlns:a="http://schemas.openxmlformats.org/drawingml/2006/main">
            <a:r>
              <a:t>기술제안 입찰지침서: KOTITI 과천 신사옥 기술제안 입찰지침서</a:t>
            </a:r>
          </a:p>
          <a:p xmlns:a="http://schemas.openxmlformats.org/drawingml/2006/main">
            <a:r>
              <a:t>https://www.kotiti-global.com/ko/newninfo/announce.do?articleNo=356633&amp;attachNo=25491&amp;mode=download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재사용 분야별 작성 양식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구조 참고 원문. 과거 사례의 수치와 과업조건은 현재 사업으로 전용하지 않음.</a:t>
            </a:r>
          </a:p>
          <a:p xmlns:a="http://schemas.openxmlformats.org/drawingml/2006/main">
            <a:r>
              <a:t>기술제안 입찰지침서: KOTITI 과천 신사옥 기술제안 입찰지침서</a:t>
            </a:r>
          </a:p>
          <a:p xmlns:a="http://schemas.openxmlformats.org/drawingml/2006/main">
            <a:r>
              <a:t>https://www.kotiti-global.com/ko/newninfo/announce.do?articleNo=356633&amp;attachNo=25491&amp;mode=download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재사용 분야별 작성 양식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구조 참고 원문. 과거 사례의 수치와 과업조건은 현재 사업으로 전용하지 않음.</a:t>
            </a:r>
          </a:p>
          <a:p xmlns:a="http://schemas.openxmlformats.org/drawingml/2006/main">
            <a:r>
              <a:t>기술제안 입찰지침서: KOTITI 과천 신사옥 기술제안 입찰지침서</a:t>
            </a:r>
          </a:p>
          <a:p xmlns:a="http://schemas.openxmlformats.org/drawingml/2006/main">
            <a:r>
              <a:t>https://www.kotiti-global.com/ko/newninfo/announce.do?articleNo=356633&amp;attachNo=25491&amp;mode=download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재사용 분야별 작성 양식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구조 참고 원문. 과거 사례의 수치와 과업조건은 현재 사업으로 전용하지 않음.</a:t>
            </a:r>
          </a:p>
          <a:p xmlns:a="http://schemas.openxmlformats.org/drawingml/2006/main">
            <a:r>
              <a:t>기술제안 입찰지침서: KOTITI 과천 신사옥 기술제안 입찰지침서</a:t>
            </a:r>
          </a:p>
          <a:p xmlns:a="http://schemas.openxmlformats.org/drawingml/2006/main">
            <a:r>
              <a:t>https://www.kotiti-global.com/ko/newninfo/announce.do?articleNo=356633&amp;attachNo=25491&amp;mode=download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재사용 분야별 작성 양식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구조 참고 원문. 과거 사례의 수치와 과업조건은 현재 사업으로 전용하지 않음.</a:t>
            </a:r>
          </a:p>
          <a:p xmlns:a="http://schemas.openxmlformats.org/drawingml/2006/main">
            <a:r>
              <a:t>기술제안 입찰지침서: KOTITI 과천 신사옥 기술제안 입찰지침서</a:t>
            </a:r>
          </a:p>
          <a:p xmlns:a="http://schemas.openxmlformats.org/drawingml/2006/main">
            <a:r>
              <a:t>https://www.kotiti-global.com/ko/newninfo/announce.do?articleNo=356633&amp;attachNo=25491&amp;mode=download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재사용 분야별 작성 양식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구조 참고 원문. 과거 사례의 수치와 과업조건은 현재 사업으로 전용하지 않음.</a:t>
            </a:r>
          </a:p>
          <a:p xmlns:a="http://schemas.openxmlformats.org/drawingml/2006/main">
            <a:r>
              <a:t>기술제안 입찰지침서: KOTITI 과천 신사옥 기술제안 입찰지침서</a:t>
            </a:r>
          </a:p>
          <a:p xmlns:a="http://schemas.openxmlformats.org/drawingml/2006/main">
            <a:r>
              <a:t>https://www.kotiti-global.com/ko/newninfo/announce.do?articleNo=356633&amp;attachNo=25491&amp;mode=download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재사용 분야별 작성 양식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구조 참고 원문. 과거 사례의 수치와 과업조건은 현재 사업으로 전용하지 않음.</a:t>
            </a:r>
          </a:p>
          <a:p xmlns:a="http://schemas.openxmlformats.org/drawingml/2006/main">
            <a:r>
              <a:t>기술제안 입찰지침서: KOTITI 과천 신사옥 기술제안 입찰지침서</a:t>
            </a:r>
          </a:p>
          <a:p xmlns:a="http://schemas.openxmlformats.org/drawingml/2006/main">
            <a:r>
              <a:t>https://www.kotiti-global.com/ko/newninfo/announce.do?articleNo=356633&amp;attachNo=25491&amp;mode=download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966b42188647f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92eb75f7d94db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3c27f66ba4410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b4af89978d46e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275d1d219a40d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0616cfd1aa42f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864B7BF-EB98-4ABC-B97E-80F280E32A7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EAE4A32-0BBB-464F-822C-60B9FE9909B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86CE117-4290-401A-BF90-32C64A22FCE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4A982E9-87F4-4AFA-B13C-C1BA1E0276B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BE78751-9069-4C2A-A5CC-B5BDC5AD326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A99AC56-3818-47C5-99D7-78F9387D95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B7CEA6E-24F1-40A1-BA2D-EF954A022FB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43A8DEB-7D72-4AA3-A073-4746B973F12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71DAE42-8338-4031-8448-EA13DDE93C2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1AD9644-EEC4-4227-81EC-85ED223304C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380391dec224b90" /><Relationship Type="http://schemas.openxmlformats.org/officeDocument/2006/relationships/slideLayout" Target="/ppt/slideLayouts/slideLayout1.xml" Id="R985f646179794453" /><Relationship Type="http://schemas.openxmlformats.org/officeDocument/2006/relationships/slideLayout" Target="/ppt/slideLayouts/slideLayout2.xml" Id="Rb9d812c524a74412" /><Relationship Type="http://schemas.openxmlformats.org/officeDocument/2006/relationships/slideLayout" Target="/ppt/slideLayouts/slideLayout3.xml" Id="R0cbf58b34c09434c" /><Relationship Type="http://schemas.openxmlformats.org/officeDocument/2006/relationships/slideLayout" Target="/ppt/slideLayouts/slideLayout4.xml" Id="Rb72f1bd63abc4b23" /><Relationship Type="http://schemas.openxmlformats.org/officeDocument/2006/relationships/slideLayout" Target="/ppt/slideLayouts/slideLayout5.xml" Id="Rdc4d46565b7f4a0e" /><Relationship Type="http://schemas.openxmlformats.org/officeDocument/2006/relationships/slideLayout" Target="/ppt/slideLayouts/slideLayout6.xml" Id="Rcdef0a245d5440e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85f646179794453"/>
    <p:sldLayoutId xmlns:r="http://schemas.openxmlformats.org/officeDocument/2006/relationships" id="2147483650" r:id="Rb9d812c524a74412"/>
    <p:sldLayoutId xmlns:r="http://schemas.openxmlformats.org/officeDocument/2006/relationships" id="2147483651" r:id="R0cbf58b34c09434c"/>
    <p:sldLayoutId xmlns:r="http://schemas.openxmlformats.org/officeDocument/2006/relationships" id="2147483652" r:id="Rb72f1bd63abc4b23"/>
    <p:sldLayoutId xmlns:r="http://schemas.openxmlformats.org/officeDocument/2006/relationships" id="2147483653" r:id="Rdc4d46565b7f4a0e"/>
    <p:sldLayoutId xmlns:r="http://schemas.openxmlformats.org/officeDocument/2006/relationships" id="2147483654" r:id="Rcdef0a245d5440e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8b69e9ee2124ace" /><Relationship Type="http://schemas.openxmlformats.org/officeDocument/2006/relationships/image" Target="/ppt/media/image.jpeg" Id="R8ba4057819764bce" /><Relationship Type="http://schemas.openxmlformats.org/officeDocument/2006/relationships/notesSlide" Target="/ppt/notesSlides/notesSlide1.xml" Id="R90838f7bc3f246b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c4c288e881e48e1" /><Relationship Type="http://schemas.openxmlformats.org/officeDocument/2006/relationships/notesSlide" Target="/ppt/notesSlides/notesSlide2.xml" Id="Re2ec7d345002404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67cfb5c15b443cd" /><Relationship Type="http://schemas.openxmlformats.org/officeDocument/2006/relationships/image" Target="/ppt/media/image2.jpeg" Id="Rb92229be4a7c47d5" /><Relationship Type="http://schemas.openxmlformats.org/officeDocument/2006/relationships/notesSlide" Target="/ppt/notesSlides/notesSlide3.xml" Id="R006386ff396e4ee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a1a2c536eb74ba0" /><Relationship Type="http://schemas.openxmlformats.org/officeDocument/2006/relationships/notesSlide" Target="/ppt/notesSlides/notesSlide4.xml" Id="R353545e0e3b4430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c601e22261c4bc3" /><Relationship Type="http://schemas.openxmlformats.org/officeDocument/2006/relationships/notesSlide" Target="/ppt/notesSlides/notesSlide5.xml" Id="R534da18ef71d4b3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73a1eea52ad402b" /><Relationship Type="http://schemas.openxmlformats.org/officeDocument/2006/relationships/notesSlide" Target="/ppt/notesSlides/notesSlide6.xml" Id="Re317cba53b574a1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5ee614072d24472" /><Relationship Type="http://schemas.openxmlformats.org/officeDocument/2006/relationships/notesSlide" Target="/ppt/notesSlides/notesSlide7.xml" Id="R57ccdf55109342d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c6959441a1b4f90" /><Relationship Type="http://schemas.openxmlformats.org/officeDocument/2006/relationships/notesSlide" Target="/ppt/notesSlides/notesSlide8.xml" Id="R1bf2197a6b604a9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dc95048b0de4e98" /><Relationship Type="http://schemas.openxmlformats.org/officeDocument/2006/relationships/notesSlide" Target="/ppt/notesSlides/notesSlide9.xml" Id="R4fc2fb8be3a04fd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79c0ea0d8854bcb" /><Relationship Type="http://schemas.openxmlformats.org/officeDocument/2006/relationships/notesSlide" Target="/ppt/notesSlides/notesSlide10.xml" Id="R48039e803209431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1f75bf393cf4819" /><Relationship Type="http://schemas.openxmlformats.org/officeDocument/2006/relationships/notesSlide" Target="/ppt/notesSlides/notesSlide11.xml" Id="R50b492dc5218461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292e53d8eb748f5" /><Relationship Type="http://schemas.openxmlformats.org/officeDocument/2006/relationships/notesSlide" Target="/ppt/notesSlides/notesSlide12.xml" Id="Ree83b807f02848a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ad2d8c90a6e4beb" /><Relationship Type="http://schemas.openxmlformats.org/officeDocument/2006/relationships/notesSlide" Target="/ppt/notesSlides/notesSlide13.xml" Id="R9c61d41539b8427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5cc7bdcbdd84af6" /><Relationship Type="http://schemas.openxmlformats.org/officeDocument/2006/relationships/notesSlide" Target="/ppt/notesSlides/notesSlide14.xml" Id="Ree8ef5c82ee04dd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5C806B-898C-4754-8F94-8533A61EA66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a4057819764bce"/>
          <a:srcRect xmlns:a="http://schemas.openxmlformats.org/drawingml/2006/main" l="19924" t="0" r="1992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62293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75E9CF83-43CD-46EC-AE36-227FFE873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619125"/>
            <a:ext cx="466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39817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398177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398177"/>
                </a:solidFill>
                <a:latin typeface="Malgun Gothic"/>
                <a:ea typeface="Malgun Gothic"/>
                <a:cs typeface="Malgun Gothic"/>
              </a:rPr>
              <a:t>공사·시설 제안서</a:t>
            </a:r>
          </a:p>
        </p:txBody>
      </p:sp>
      <p:sp>
        <p:nvSpPr>
          <p:cNvPr id="3" name="bid3-title">
            <a:extLst xmlns:a="http://schemas.openxmlformats.org/drawingml/2006/main">
              <a:ext uri="{FF2B5EF4-FFF2-40B4-BE49-F238E27FC236}">
                <a16:creationId xmlns:a16="http://schemas.microsoft.com/office/drawing/2014/main" id="{E4A436A4-F213-4473-9245-1ED3BD37D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876425"/>
            <a:ext cx="4667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4200" b="1">
                <a:solidFill>
                  <a:srgbClr val="1C3C3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4200" b="1">
                <a:solidFill>
                  <a:srgbClr val="1C3C39"/>
                </a:solidFill>
                <a:latin typeface="Malgun Gothic"/>
                <a:ea typeface="Malgun Gothic"/>
                <a:cs typeface="Malgun Gothic"/>
              </a:defRPr>
            </a:pPr>
            <a:r>
              <a:rPr sz="4200" b="1">
                <a:solidFill>
                  <a:srgbClr val="1C3C39"/>
                </a:solidFill>
                <a:latin typeface="Malgun Gothic"/>
                <a:ea typeface="Malgun Gothic"/>
                <a:cs typeface="Malgun Gothic"/>
              </a:rPr>
              <a:t>공사·시설</a:t>
            </a:r>
          </a:p>
          <a:p xmlns:a="http://schemas.openxmlformats.org/drawingml/2006/main">
            <a:pPr algn="l">
              <a:defRPr sz="4200" b="1">
                <a:solidFill>
                  <a:srgbClr val="1C3C39"/>
                </a:solidFill>
                <a:latin typeface="Malgun Gothic"/>
                <a:ea typeface="Malgun Gothic"/>
                <a:cs typeface="Malgun Gothic"/>
              </a:defRPr>
            </a:pPr>
            <a:r>
              <a:rPr sz="4200" b="1">
                <a:solidFill>
                  <a:srgbClr val="1C3C39"/>
                </a:solidFill>
                <a:latin typeface="Malgun Gothic"/>
                <a:ea typeface="Malgun Gothic"/>
                <a:cs typeface="Malgun Gothic"/>
              </a:rPr>
              <a:t>사업 제안서</a:t>
            </a:r>
          </a:p>
        </p:txBody>
      </p:sp>
      <p:sp>
        <p:nvSpPr>
          <p:cNvPr id="4" name="domain-copy">
            <a:extLst xmlns:a="http://schemas.openxmlformats.org/drawingml/2006/main">
              <a:ext uri="{FF2B5EF4-FFF2-40B4-BE49-F238E27FC236}">
                <a16:creationId xmlns:a16="http://schemas.microsoft.com/office/drawing/2014/main" id="{8B0ED1EF-9989-45B1-884A-DAD4572AC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419600"/>
            <a:ext cx="46672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C3C3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C3C39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C3C39"/>
                </a:solidFill>
                <a:latin typeface="Malgun Gothic"/>
                <a:ea typeface="Malgun Gothic"/>
                <a:cs typeface="Malgun Gothic"/>
              </a:rPr>
              <a:t>사업명 · 발주기관 · 제안사 작성</a:t>
            </a:r>
          </a:p>
        </p:txBody>
      </p:sp>
      <p:sp>
        <p:nvSpPr>
          <p:cNvPr id="5" name="bid3-fixed-design-name">
            <a:extLst xmlns:a="http://schemas.openxmlformats.org/drawingml/2006/main">
              <a:ext uri="{FF2B5EF4-FFF2-40B4-BE49-F238E27FC236}">
                <a16:creationId xmlns:a16="http://schemas.microsoft.com/office/drawing/2014/main" id="{3109AB3A-0757-47E9-B300-6B3B833D0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5838825"/>
            <a:ext cx="4667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39817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39817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398177"/>
                </a:solidFill>
                <a:latin typeface="Malgun Gothic"/>
                <a:ea typeface="Malgun Gothic"/>
                <a:cs typeface="Malgun Gothic"/>
              </a:rPr>
              <a:t>필드 브리핑</a:t>
            </a:r>
          </a:p>
        </p:txBody>
      </p:sp>
      <p:sp>
        <p:nvSpPr>
          <p:cNvPr id="6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8E07706B-3011-480A-A5FD-F4D62D040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7222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500" b="1">
                <a:solidFill>
                  <a:srgbClr val="39817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500" b="1">
                <a:solidFill>
                  <a:srgbClr val="398177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398177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48767376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4120311C-40EB-4B98-9AA4-D27622CE6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47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39817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39817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398177"/>
                </a:solidFill>
                <a:latin typeface="Malgun Gothic"/>
                <a:ea typeface="Malgun Gothic"/>
                <a:cs typeface="Malgun Gothic"/>
              </a:rPr>
              <a:t>공사·시설 / 제안 구성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2F3FCDAE-64C4-4108-B6FB-650BCD68C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C3C3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1C3C39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1C3C39"/>
                </a:solidFill>
                <a:latin typeface="Malgun Gothic"/>
                <a:ea typeface="Malgun Gothic"/>
                <a:cs typeface="Malgun Gothic"/>
              </a:rPr>
              <a:t>현장 실행 계획의 구성</a:t>
            </a:r>
          </a:p>
        </p:txBody>
      </p:sp>
      <p:sp>
        <p:nvSpPr>
          <p:cNvPr id="3" name="domain-copy">
            <a:extLst xmlns:a="http://schemas.openxmlformats.org/drawingml/2006/main">
              <a:ext uri="{FF2B5EF4-FFF2-40B4-BE49-F238E27FC236}">
                <a16:creationId xmlns:a16="http://schemas.microsoft.com/office/drawing/2014/main" id="{52F9D485-7F99-430F-8D9E-7F3C32210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C3C3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C3C39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C3C39"/>
                </a:solidFill>
                <a:latin typeface="Malgun Gothic"/>
                <a:ea typeface="Malgun Gothic"/>
                <a:cs typeface="Malgun Gothic"/>
              </a:rPr>
              <a:t>작업 범위에서 준공 인계까지 승인과 점검 기준을 연결합니다.</a:t>
            </a:r>
          </a:p>
        </p:txBody>
      </p:sp>
      <p:sp>
        <p:nvSpPr>
          <p:cNvPr id="4" name="bid3-fixed-rule">
            <a:extLst xmlns:a="http://schemas.openxmlformats.org/drawingml/2006/main">
              <a:ext uri="{FF2B5EF4-FFF2-40B4-BE49-F238E27FC236}">
                <a16:creationId xmlns:a16="http://schemas.microsoft.com/office/drawing/2014/main" id="{29057A97-6785-4862-B5E3-61D1914B9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19350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8177"/>
          </a:solidFill>
          <a:ln xmlns:a="http://schemas.openxmlformats.org/drawingml/2006/main" w="0">
            <a:noFill/>
          </a:ln>
        </p:spPr>
      </p:sp>
      <p:sp>
        <p:nvSpPr>
          <p:cNvPr id="5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127DABC4-9180-4FC5-A2A6-FDFFB67BF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39817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39817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398177"/>
                </a:solidFill>
                <a:latin typeface="Malgun Gothic"/>
                <a:ea typeface="Malgun Gothic"/>
                <a:cs typeface="Malgun Gothic"/>
              </a:rPr>
              <a:t>공사·시설 제안서</a:t>
            </a:r>
          </a:p>
        </p:txBody>
      </p:sp>
      <p:sp>
        <p:nvSpPr>
          <p:cNvPr id="6" name="bid3-fixed-status">
            <a:extLst xmlns:a="http://schemas.openxmlformats.org/drawingml/2006/main">
              <a:ext uri="{FF2B5EF4-FFF2-40B4-BE49-F238E27FC236}">
                <a16:creationId xmlns:a16="http://schemas.microsoft.com/office/drawing/2014/main" id="{98DD29BC-8932-4974-8815-AAD828E50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372225"/>
            <a:ext cx="442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39817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3981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398177"/>
                </a:solidFill>
                <a:latin typeface="Malgun Gothic"/>
                <a:ea typeface="Malgun Gothic"/>
                <a:cs typeface="Malgun Gothic"/>
              </a:rPr>
              <a:t>분야별 작성 양식</a:t>
            </a:r>
          </a:p>
        </p:txBody>
      </p:sp>
      <p:sp>
        <p:nvSpPr>
          <p:cNvPr id="7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7837E6DA-970A-43E6-A45D-4F2EBA786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6334125"/>
            <a:ext cx="4667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650" b="1">
                <a:solidFill>
                  <a:srgbClr val="39817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650" b="1">
                <a:solidFill>
                  <a:srgbClr val="398177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398177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8" name="domain-copy">
            <a:extLst xmlns:a="http://schemas.openxmlformats.org/drawingml/2006/main">
              <a:ext uri="{FF2B5EF4-FFF2-40B4-BE49-F238E27FC236}">
                <a16:creationId xmlns:a16="http://schemas.microsoft.com/office/drawing/2014/main" id="{3B6A3EA4-AF08-400D-9675-C2D7768F8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876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39817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398177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398177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9" name="domain-copy">
            <a:extLst xmlns:a="http://schemas.openxmlformats.org/drawingml/2006/main">
              <a:ext uri="{FF2B5EF4-FFF2-40B4-BE49-F238E27FC236}">
                <a16:creationId xmlns:a16="http://schemas.microsoft.com/office/drawing/2014/main" id="{FF12498A-52C8-4F3D-9E98-E6FE6735D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638425"/>
            <a:ext cx="3581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C3C3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C3C39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C3C39"/>
                </a:solidFill>
                <a:latin typeface="Malgun Gothic"/>
                <a:ea typeface="Malgun Gothic"/>
                <a:cs typeface="Malgun Gothic"/>
              </a:rPr>
              <a:t>현장과 공종</a:t>
            </a:r>
          </a:p>
        </p:txBody>
      </p:sp>
      <p:sp>
        <p:nvSpPr>
          <p:cNvPr id="10" name="domain-copy">
            <a:extLst xmlns:a="http://schemas.openxmlformats.org/drawingml/2006/main">
              <a:ext uri="{FF2B5EF4-FFF2-40B4-BE49-F238E27FC236}">
                <a16:creationId xmlns:a16="http://schemas.microsoft.com/office/drawing/2014/main" id="{FBE7AE28-5286-4C60-9AC9-C25467660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2667000"/>
            <a:ext cx="60293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C3C3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C3C39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C3C39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  <p:sp>
        <p:nvSpPr>
          <p:cNvPr id="11" name="bid3-fixed-rule">
            <a:extLst xmlns:a="http://schemas.openxmlformats.org/drawingml/2006/main">
              <a:ext uri="{FF2B5EF4-FFF2-40B4-BE49-F238E27FC236}">
                <a16:creationId xmlns:a16="http://schemas.microsoft.com/office/drawing/2014/main" id="{0D6F873B-B176-41D8-BFF8-428698ABD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257550"/>
            <a:ext cx="9829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FEB"/>
          </a:solidFill>
          <a:ln xmlns:a="http://schemas.openxmlformats.org/drawingml/2006/main" w="0">
            <a:noFill/>
          </a:ln>
        </p:spPr>
      </p:sp>
      <p:sp>
        <p:nvSpPr>
          <p:cNvPr id="12" name="domain-copy">
            <a:extLst xmlns:a="http://schemas.openxmlformats.org/drawingml/2006/main">
              <a:ext uri="{FF2B5EF4-FFF2-40B4-BE49-F238E27FC236}">
                <a16:creationId xmlns:a16="http://schemas.microsoft.com/office/drawing/2014/main" id="{E7D47943-B752-483F-AC32-8FBA2B039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9950"/>
            <a:ext cx="876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39817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398177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398177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3" name="domain-copy">
            <a:extLst xmlns:a="http://schemas.openxmlformats.org/drawingml/2006/main">
              <a:ext uri="{FF2B5EF4-FFF2-40B4-BE49-F238E27FC236}">
                <a16:creationId xmlns:a16="http://schemas.microsoft.com/office/drawing/2014/main" id="{1CD7CA2D-B157-42BB-BBC8-A1190EBA4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429000"/>
            <a:ext cx="3581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C3C3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C3C39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C3C39"/>
                </a:solidFill>
                <a:latin typeface="Malgun Gothic"/>
                <a:ea typeface="Malgun Gothic"/>
                <a:cs typeface="Malgun Gothic"/>
              </a:rPr>
              <a:t>시공과 공정</a:t>
            </a:r>
          </a:p>
        </p:txBody>
      </p:sp>
      <p:sp>
        <p:nvSpPr>
          <p:cNvPr id="14" name="domain-copy">
            <a:extLst xmlns:a="http://schemas.openxmlformats.org/drawingml/2006/main">
              <a:ext uri="{FF2B5EF4-FFF2-40B4-BE49-F238E27FC236}">
                <a16:creationId xmlns:a16="http://schemas.microsoft.com/office/drawing/2014/main" id="{8B2A7534-A084-4E94-8CB5-2C9CF7822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3457575"/>
            <a:ext cx="60293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C3C3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C3C39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C3C39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  <p:sp>
        <p:nvSpPr>
          <p:cNvPr id="15" name="bid3-fixed-rule">
            <a:extLst xmlns:a="http://schemas.openxmlformats.org/drawingml/2006/main">
              <a:ext uri="{FF2B5EF4-FFF2-40B4-BE49-F238E27FC236}">
                <a16:creationId xmlns:a16="http://schemas.microsoft.com/office/drawing/2014/main" id="{C9DCE3ED-CEC3-4672-A420-6654BA69F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048125"/>
            <a:ext cx="9829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FEB"/>
          </a:solidFill>
          <a:ln xmlns:a="http://schemas.openxmlformats.org/drawingml/2006/main" w="0">
            <a:noFill/>
          </a:ln>
        </p:spPr>
      </p:sp>
      <p:sp>
        <p:nvSpPr>
          <p:cNvPr id="16" name="domain-copy">
            <a:extLst xmlns:a="http://schemas.openxmlformats.org/drawingml/2006/main">
              <a:ext uri="{FF2B5EF4-FFF2-40B4-BE49-F238E27FC236}">
                <a16:creationId xmlns:a16="http://schemas.microsoft.com/office/drawing/2014/main" id="{62AE0B97-3127-49AE-83D2-1996969BB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00525"/>
            <a:ext cx="876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39817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398177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398177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7" name="domain-copy">
            <a:extLst xmlns:a="http://schemas.openxmlformats.org/drawingml/2006/main">
              <a:ext uri="{FF2B5EF4-FFF2-40B4-BE49-F238E27FC236}">
                <a16:creationId xmlns:a16="http://schemas.microsoft.com/office/drawing/2014/main" id="{32CCEFFB-5E8F-416C-A665-4EE90D517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219575"/>
            <a:ext cx="3581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C3C3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C3C39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C3C39"/>
                </a:solidFill>
                <a:latin typeface="Malgun Gothic"/>
                <a:ea typeface="Malgun Gothic"/>
                <a:cs typeface="Malgun Gothic"/>
              </a:rPr>
              <a:t>품질과 안전</a:t>
            </a:r>
          </a:p>
        </p:txBody>
      </p:sp>
      <p:sp>
        <p:nvSpPr>
          <p:cNvPr id="18" name="domain-copy">
            <a:extLst xmlns:a="http://schemas.openxmlformats.org/drawingml/2006/main">
              <a:ext uri="{FF2B5EF4-FFF2-40B4-BE49-F238E27FC236}">
                <a16:creationId xmlns:a16="http://schemas.microsoft.com/office/drawing/2014/main" id="{8F8D8E85-EC75-4B56-877C-40BCC864D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4248150"/>
            <a:ext cx="60293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C3C3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C3C39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C3C39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  <p:sp>
        <p:nvSpPr>
          <p:cNvPr id="19" name="bid3-fixed-rule">
            <a:extLst xmlns:a="http://schemas.openxmlformats.org/drawingml/2006/main">
              <a:ext uri="{FF2B5EF4-FFF2-40B4-BE49-F238E27FC236}">
                <a16:creationId xmlns:a16="http://schemas.microsoft.com/office/drawing/2014/main" id="{B7BC6FC0-9D70-4C0D-BDE6-592DBAFA3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838700"/>
            <a:ext cx="9829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FEB"/>
          </a:solidFill>
          <a:ln xmlns:a="http://schemas.openxmlformats.org/drawingml/2006/main" w="0">
            <a:noFill/>
          </a:ln>
        </p:spPr>
      </p:sp>
      <p:sp>
        <p:nvSpPr>
          <p:cNvPr id="20" name="domain-copy">
            <a:extLst xmlns:a="http://schemas.openxmlformats.org/drawingml/2006/main">
              <a:ext uri="{FF2B5EF4-FFF2-40B4-BE49-F238E27FC236}">
                <a16:creationId xmlns:a16="http://schemas.microsoft.com/office/drawing/2014/main" id="{A9DE2320-6664-43E0-9752-AAFD81764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91100"/>
            <a:ext cx="876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39817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398177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398177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21" name="domain-copy">
            <a:extLst xmlns:a="http://schemas.openxmlformats.org/drawingml/2006/main">
              <a:ext uri="{FF2B5EF4-FFF2-40B4-BE49-F238E27FC236}">
                <a16:creationId xmlns:a16="http://schemas.microsoft.com/office/drawing/2014/main" id="{79CB3177-38C3-429E-B9F3-90966B425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010150"/>
            <a:ext cx="3581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C3C3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C3C39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C3C39"/>
                </a:solidFill>
                <a:latin typeface="Malgun Gothic"/>
                <a:ea typeface="Malgun Gothic"/>
                <a:cs typeface="Malgun Gothic"/>
              </a:rPr>
              <a:t>변경과 인계</a:t>
            </a:r>
          </a:p>
        </p:txBody>
      </p:sp>
      <p:sp>
        <p:nvSpPr>
          <p:cNvPr id="22" name="domain-copy">
            <a:extLst xmlns:a="http://schemas.openxmlformats.org/drawingml/2006/main">
              <a:ext uri="{FF2B5EF4-FFF2-40B4-BE49-F238E27FC236}">
                <a16:creationId xmlns:a16="http://schemas.microsoft.com/office/drawing/2014/main" id="{7CA64772-908C-4CD6-B9FE-3DEE6FB41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5038725"/>
            <a:ext cx="60293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C3C3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C3C39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C3C39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</p:spTree>
    <p:extLst>
      <p:ext uri="{BB962C8B-B14F-4D97-AF65-F5344CB8AC3E}">
        <p14:creationId xmlns:p14="http://schemas.microsoft.com/office/powerpoint/2010/main" val="164170755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FBE28496-3EC0-4ABF-B4AF-9AEECD28D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47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39817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39817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398177"/>
                </a:solidFill>
                <a:latin typeface="Malgun Gothic"/>
                <a:ea typeface="Malgun Gothic"/>
                <a:cs typeface="Malgun Gothic"/>
              </a:rPr>
              <a:t>공사·시설 / 수행 계획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6227E01B-8D2D-456B-BAC1-17333F709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C3C3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1C3C39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1C3C39"/>
                </a:solidFill>
                <a:latin typeface="Malgun Gothic"/>
                <a:ea typeface="Malgun Gothic"/>
                <a:cs typeface="Malgun Gothic"/>
              </a:rPr>
              <a:t>현장 제약과 시공 조건</a:t>
            </a:r>
          </a:p>
        </p:txBody>
      </p:sp>
      <p:sp>
        <p:nvSpPr>
          <p:cNvPr id="3" name="domain-copy">
            <a:extLst xmlns:a="http://schemas.openxmlformats.org/drawingml/2006/main">
              <a:ext uri="{FF2B5EF4-FFF2-40B4-BE49-F238E27FC236}">
                <a16:creationId xmlns:a16="http://schemas.microsoft.com/office/drawing/2014/main" id="{C80AA8DD-FB69-4ED5-9271-8316617C5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C3C3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C3C39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C3C39"/>
                </a:solidFill>
                <a:latin typeface="Malgun Gothic"/>
                <a:ea typeface="Malgun Gothic"/>
                <a:cs typeface="Malgun Gothic"/>
              </a:rPr>
              <a:t>사용 중인 업무시설을 가정한 리모델링 수행안입니다.</a:t>
            </a:r>
          </a:p>
        </p:txBody>
      </p:sp>
      <p:sp>
        <p:nvSpPr>
          <p:cNvPr id="4" name="bid3-fixed-rule">
            <a:extLst xmlns:a="http://schemas.openxmlformats.org/drawingml/2006/main">
              <a:ext uri="{FF2B5EF4-FFF2-40B4-BE49-F238E27FC236}">
                <a16:creationId xmlns:a16="http://schemas.microsoft.com/office/drawing/2014/main" id="{256FCD68-0A31-4F02-AA0E-267860951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19350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8177"/>
          </a:solidFill>
          <a:ln xmlns:a="http://schemas.openxmlformats.org/drawingml/2006/main" w="0">
            <a:noFill/>
          </a:ln>
        </p:spPr>
      </p:sp>
      <p:sp>
        <p:nvSpPr>
          <p:cNvPr id="5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7E1FF60A-0B3F-4BFF-BCAC-9FC757178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39817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39817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398177"/>
                </a:solidFill>
                <a:latin typeface="Malgun Gothic"/>
                <a:ea typeface="Malgun Gothic"/>
                <a:cs typeface="Malgun Gothic"/>
              </a:rPr>
              <a:t>공사·시설 제안서</a:t>
            </a:r>
          </a:p>
        </p:txBody>
      </p:sp>
      <p:sp>
        <p:nvSpPr>
          <p:cNvPr id="6" name="bid3-fixed-status">
            <a:extLst xmlns:a="http://schemas.openxmlformats.org/drawingml/2006/main">
              <a:ext uri="{FF2B5EF4-FFF2-40B4-BE49-F238E27FC236}">
                <a16:creationId xmlns:a16="http://schemas.microsoft.com/office/drawing/2014/main" id="{6F3D6A74-BD6E-4A6C-998B-1404489DC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372225"/>
            <a:ext cx="442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39817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3981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398177"/>
                </a:solidFill>
                <a:latin typeface="Malgun Gothic"/>
                <a:ea typeface="Malgun Gothic"/>
                <a:cs typeface="Malgun Gothic"/>
              </a:rPr>
              <a:t>분야별 작성 양식</a:t>
            </a:r>
          </a:p>
        </p:txBody>
      </p:sp>
      <p:sp>
        <p:nvSpPr>
          <p:cNvPr id="7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C5604E65-7436-4A07-8618-B8B08AC2C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6334125"/>
            <a:ext cx="4667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650" b="1">
                <a:solidFill>
                  <a:srgbClr val="39817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650" b="1">
                <a:solidFill>
                  <a:srgbClr val="398177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398177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226D18-0CF9-4B85-B83B-E30F8F8195A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2229be4a7c47d5"/>
          <a:srcRect xmlns:a="http://schemas.openxmlformats.org/drawingml/2006/main" l="0" t="4318" r="0" b="43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43650" y="2667000"/>
            <a:ext cx="5238750" cy="3190875"/>
          </a:xfrm>
          <a:prstGeom xmlns:a="http://schemas.openxmlformats.org/drawingml/2006/main" prst="rect">
            <a:avLst/>
          </a:prstGeom>
        </p:spPr>
      </p:pic>
      <p:sp>
        <p:nvSpPr>
          <p:cNvPr id="9" name="domain-copy">
            <a:extLst xmlns:a="http://schemas.openxmlformats.org/drawingml/2006/main">
              <a:ext uri="{FF2B5EF4-FFF2-40B4-BE49-F238E27FC236}">
                <a16:creationId xmlns:a16="http://schemas.microsoft.com/office/drawing/2014/main" id="{6DB5DDD5-8181-48B3-9EFD-8017DFF5C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76525"/>
            <a:ext cx="5162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39817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398177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398177"/>
                </a:solidFill>
                <a:latin typeface="Malgun Gothic"/>
                <a:ea typeface="Malgun Gothic"/>
                <a:cs typeface="Malgun Gothic"/>
              </a:rPr>
              <a:t>시설 이용 유지</a:t>
            </a:r>
          </a:p>
        </p:txBody>
      </p:sp>
      <p:sp>
        <p:nvSpPr>
          <p:cNvPr id="10" name="domain-copy">
            <a:extLst xmlns:a="http://schemas.openxmlformats.org/drawingml/2006/main">
              <a:ext uri="{FF2B5EF4-FFF2-40B4-BE49-F238E27FC236}">
                <a16:creationId xmlns:a16="http://schemas.microsoft.com/office/drawing/2014/main" id="{97F0C180-028B-4AD7-9329-BB38CFF81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51625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C3C3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C3C39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C3C39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  <p:sp>
        <p:nvSpPr>
          <p:cNvPr id="11" name="domain-copy">
            <a:extLst xmlns:a="http://schemas.openxmlformats.org/drawingml/2006/main">
              <a:ext uri="{FF2B5EF4-FFF2-40B4-BE49-F238E27FC236}">
                <a16:creationId xmlns:a16="http://schemas.microsoft.com/office/drawing/2014/main" id="{D706D158-EC16-4F76-BC36-6FA8DA45C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43325"/>
            <a:ext cx="5162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39817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398177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398177"/>
                </a:solidFill>
                <a:latin typeface="Malgun Gothic"/>
                <a:ea typeface="Malgun Gothic"/>
                <a:cs typeface="Malgun Gothic"/>
              </a:rPr>
              <a:t>작업 간섭 관리</a:t>
            </a:r>
          </a:p>
        </p:txBody>
      </p:sp>
      <p:sp>
        <p:nvSpPr>
          <p:cNvPr id="12" name="domain-copy">
            <a:extLst xmlns:a="http://schemas.openxmlformats.org/drawingml/2006/main">
              <a:ext uri="{FF2B5EF4-FFF2-40B4-BE49-F238E27FC236}">
                <a16:creationId xmlns:a16="http://schemas.microsoft.com/office/drawing/2014/main" id="{B9BF6233-DA91-40C9-A0D3-F725FB60F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51625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C3C3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C3C39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C3C39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  <p:sp>
        <p:nvSpPr>
          <p:cNvPr id="13" name="domain-copy">
            <a:extLst xmlns:a="http://schemas.openxmlformats.org/drawingml/2006/main">
              <a:ext uri="{FF2B5EF4-FFF2-40B4-BE49-F238E27FC236}">
                <a16:creationId xmlns:a16="http://schemas.microsoft.com/office/drawing/2014/main" id="{51882613-C02B-4944-AF50-876076B59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5162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39817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398177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398177"/>
                </a:solidFill>
                <a:latin typeface="Malgun Gothic"/>
                <a:ea typeface="Malgun Gothic"/>
                <a:cs typeface="Malgun Gothic"/>
              </a:rPr>
              <a:t>현장 확인 우선</a:t>
            </a:r>
          </a:p>
        </p:txBody>
      </p:sp>
      <p:sp>
        <p:nvSpPr>
          <p:cNvPr id="14" name="domain-copy">
            <a:extLst xmlns:a="http://schemas.openxmlformats.org/drawingml/2006/main">
              <a:ext uri="{FF2B5EF4-FFF2-40B4-BE49-F238E27FC236}">
                <a16:creationId xmlns:a16="http://schemas.microsoft.com/office/drawing/2014/main" id="{64D82B14-CF38-4C19-8765-DEFE72239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57800"/>
            <a:ext cx="51625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C3C3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C3C39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C3C39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  <p:sp>
        <p:nvSpPr>
          <p:cNvPr id="15" name="bid3-fixed-image-caption">
            <a:extLst xmlns:a="http://schemas.openxmlformats.org/drawingml/2006/main">
              <a:ext uri="{FF2B5EF4-FFF2-40B4-BE49-F238E27FC236}">
                <a16:creationId xmlns:a16="http://schemas.microsoft.com/office/drawing/2014/main" id="{D530AADC-0596-49A1-AA20-C82726807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962650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39817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3981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398177"/>
                </a:solidFill>
                <a:latin typeface="Malgun Gothic"/>
                <a:ea typeface="Malgun Gothic"/>
                <a:cs typeface="Malgun Gothic"/>
              </a:rPr>
              <a:t>분야 설명용 사진 · 실제 제안사 수행 사진 아님</a:t>
            </a:r>
          </a:p>
        </p:txBody>
      </p:sp>
    </p:spTree>
    <p:extLst>
      <p:ext uri="{BB962C8B-B14F-4D97-AF65-F5344CB8AC3E}">
        <p14:creationId xmlns:p14="http://schemas.microsoft.com/office/powerpoint/2010/main" val="76726096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9FEE5BC6-D25A-4D56-A02A-7DACB1D7B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47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39817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39817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398177"/>
                </a:solidFill>
                <a:latin typeface="Malgun Gothic"/>
                <a:ea typeface="Malgun Gothic"/>
                <a:cs typeface="Malgun Gothic"/>
              </a:rPr>
              <a:t>공사·시설 / 수행 계획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1A771FFD-8ABE-4496-8384-C11E29FEB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C3C3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1C3C39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1C3C39"/>
                </a:solidFill>
                <a:latin typeface="Malgun Gothic"/>
                <a:ea typeface="Malgun Gothic"/>
                <a:cs typeface="Malgun Gothic"/>
              </a:rPr>
              <a:t>공종별 작업 분해</a:t>
            </a:r>
          </a:p>
        </p:txBody>
      </p:sp>
      <p:sp>
        <p:nvSpPr>
          <p:cNvPr id="3" name="domain-copy">
            <a:extLst xmlns:a="http://schemas.openxmlformats.org/drawingml/2006/main">
              <a:ext uri="{FF2B5EF4-FFF2-40B4-BE49-F238E27FC236}">
                <a16:creationId xmlns:a16="http://schemas.microsoft.com/office/drawing/2014/main" id="{DDB12774-BF3C-4F40-A303-5463126AA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C3C3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C3C39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C3C39"/>
                </a:solidFill>
                <a:latin typeface="Malgun Gothic"/>
                <a:ea typeface="Malgun Gothic"/>
                <a:cs typeface="Malgun Gothic"/>
              </a:rPr>
              <a:t>공종마다 담당 역할과 검사 기록을 연결해 누락을 줄입니다.</a:t>
            </a:r>
          </a:p>
        </p:txBody>
      </p:sp>
      <p:sp>
        <p:nvSpPr>
          <p:cNvPr id="4" name="bid3-fixed-rule">
            <a:extLst xmlns:a="http://schemas.openxmlformats.org/drawingml/2006/main">
              <a:ext uri="{FF2B5EF4-FFF2-40B4-BE49-F238E27FC236}">
                <a16:creationId xmlns:a16="http://schemas.microsoft.com/office/drawing/2014/main" id="{486E8221-443C-43EB-ACFF-CF7053F34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19350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8177"/>
          </a:solidFill>
          <a:ln xmlns:a="http://schemas.openxmlformats.org/drawingml/2006/main" w="0">
            <a:noFill/>
          </a:ln>
        </p:spPr>
      </p:sp>
      <p:sp>
        <p:nvSpPr>
          <p:cNvPr id="5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650562AC-FED9-48EB-8D8B-40B115C3C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39817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39817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398177"/>
                </a:solidFill>
                <a:latin typeface="Malgun Gothic"/>
                <a:ea typeface="Malgun Gothic"/>
                <a:cs typeface="Malgun Gothic"/>
              </a:rPr>
              <a:t>공사·시설 제안서</a:t>
            </a:r>
          </a:p>
        </p:txBody>
      </p:sp>
      <p:sp>
        <p:nvSpPr>
          <p:cNvPr id="6" name="bid3-fixed-status">
            <a:extLst xmlns:a="http://schemas.openxmlformats.org/drawingml/2006/main">
              <a:ext uri="{FF2B5EF4-FFF2-40B4-BE49-F238E27FC236}">
                <a16:creationId xmlns:a16="http://schemas.microsoft.com/office/drawing/2014/main" id="{AED5AA51-EACB-45B4-9936-A2D5CC947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372225"/>
            <a:ext cx="442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39817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3981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398177"/>
                </a:solidFill>
                <a:latin typeface="Malgun Gothic"/>
                <a:ea typeface="Malgun Gothic"/>
                <a:cs typeface="Malgun Gothic"/>
              </a:rPr>
              <a:t>분야별 작성 양식</a:t>
            </a:r>
          </a:p>
        </p:txBody>
      </p:sp>
      <p:sp>
        <p:nvSpPr>
          <p:cNvPr id="7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43D2A180-4D3D-4D11-BC49-A589372BA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6334125"/>
            <a:ext cx="4667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650" b="1">
                <a:solidFill>
                  <a:srgbClr val="39817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650" b="1">
                <a:solidFill>
                  <a:srgbClr val="398177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398177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8" name="domain-diagram-node">
            <a:extLst xmlns:a="http://schemas.openxmlformats.org/drawingml/2006/main">
              <a:ext uri="{FF2B5EF4-FFF2-40B4-BE49-F238E27FC236}">
                <a16:creationId xmlns:a16="http://schemas.microsoft.com/office/drawing/2014/main" id="{FFA34613-B2EC-4629-B734-AD276F854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552700"/>
            <a:ext cx="46291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FEB"/>
          </a:solidFill>
          <a:ln xmlns:a="http://schemas.openxmlformats.org/drawingml/2006/main" w="9525">
            <a:solidFill>
              <a:srgbClr val="398177"/>
            </a:solidFill>
          </a:ln>
        </p:spPr>
      </p:sp>
      <p:sp>
        <p:nvSpPr>
          <p:cNvPr id="9" name="domain-copy">
            <a:extLst xmlns:a="http://schemas.openxmlformats.org/drawingml/2006/main">
              <a:ext uri="{FF2B5EF4-FFF2-40B4-BE49-F238E27FC236}">
                <a16:creationId xmlns:a16="http://schemas.microsoft.com/office/drawing/2014/main" id="{B6006141-9C29-4ADE-9958-CF7EF1267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2724150"/>
            <a:ext cx="428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C3C3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C3C39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C3C39"/>
                </a:solidFill>
                <a:latin typeface="Malgun Gothic"/>
                <a:ea typeface="Malgun Gothic"/>
                <a:cs typeface="Malgun Gothic"/>
              </a:rPr>
              <a:t>리모델링 공사</a:t>
            </a:r>
          </a:p>
        </p:txBody>
      </p:sp>
      <p:sp>
        <p:nvSpPr>
          <p:cNvPr id="10" name="domain-copy">
            <a:extLst xmlns:a="http://schemas.openxmlformats.org/drawingml/2006/main">
              <a:ext uri="{FF2B5EF4-FFF2-40B4-BE49-F238E27FC236}">
                <a16:creationId xmlns:a16="http://schemas.microsoft.com/office/drawing/2014/main" id="{2BAB55FB-5370-4F31-B590-7A687434C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3238500"/>
            <a:ext cx="4286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C3C3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C3C39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C3C39"/>
                </a:solidFill>
                <a:latin typeface="Malgun Gothic"/>
                <a:ea typeface="Malgun Gothic"/>
                <a:cs typeface="Malgun Gothic"/>
              </a:rPr>
              <a:t>공종별 승인·점검 기록 관리</a:t>
            </a:r>
          </a:p>
        </p:txBody>
      </p:sp>
      <p:cxnSp>
        <p:nvCxnSpPr>
          <p:cNvPr id="11" name="domain-diagram-connection">
            <a:extLst xmlns:a="http://schemas.openxmlformats.org/drawingml/2006/main">
              <a:ext uri="{FF2B5EF4-FFF2-40B4-BE49-F238E27FC236}">
                <a16:creationId xmlns:a16="http://schemas.microsoft.com/office/drawing/2014/main" id="{D1402AED-DA60-4731-A8F2-90E4846C53B9}"/>
              </a:ext>
            </a:extLst>
          </p:cNvPr>
          <p:cNvCxnSpPr/>
          <p:nvPr/>
        </p:nvCxnSpPr>
        <p:spPr>
          <a:xfrm xmlns:a="http://schemas.openxmlformats.org/drawingml/2006/main">
            <a:off x="6096000" y="3876675"/>
            <a:ext cx="0" cy="400050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398177"/>
            </a:solidFill>
          </a:ln>
        </p:spPr>
      </p:cxnSp>
      <p:cxnSp>
        <p:nvCxnSpPr>
          <p:cNvPr id="12" name="domain-diagram-connection">
            <a:extLst xmlns:a="http://schemas.openxmlformats.org/drawingml/2006/main">
              <a:ext uri="{FF2B5EF4-FFF2-40B4-BE49-F238E27FC236}">
                <a16:creationId xmlns:a16="http://schemas.microsoft.com/office/drawing/2014/main" id="{BE6DA706-F9ED-4F43-9D65-092DF9F133ED}"/>
              </a:ext>
            </a:extLst>
          </p:cNvPr>
          <p:cNvCxnSpPr/>
          <p:nvPr/>
        </p:nvCxnSpPr>
        <p:spPr>
          <a:xfrm xmlns:a="http://schemas.openxmlformats.org/drawingml/2006/main">
            <a:off x="2238375" y="4276725"/>
            <a:ext cx="7715250" cy="0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398177"/>
            </a:solidFill>
          </a:ln>
        </p:spPr>
      </p:cxnSp>
      <p:cxnSp>
        <p:nvCxnSpPr>
          <p:cNvPr id="13" name="domain-diagram-connection">
            <a:extLst xmlns:a="http://schemas.openxmlformats.org/drawingml/2006/main">
              <a:ext uri="{FF2B5EF4-FFF2-40B4-BE49-F238E27FC236}">
                <a16:creationId xmlns:a16="http://schemas.microsoft.com/office/drawing/2014/main" id="{EDE46299-D3F4-4948-8D0C-1FFEF641315E}"/>
              </a:ext>
            </a:extLst>
          </p:cNvPr>
          <p:cNvCxnSpPr/>
          <p:nvPr/>
        </p:nvCxnSpPr>
        <p:spPr>
          <a:xfrm xmlns:a="http://schemas.openxmlformats.org/drawingml/2006/main">
            <a:off x="2228850" y="4276725"/>
            <a:ext cx="0" cy="228600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398177"/>
            </a:solidFill>
          </a:ln>
        </p:spPr>
      </p:cxnSp>
      <p:sp>
        <p:nvSpPr>
          <p:cNvPr id="14" name="domain-diagram-node">
            <a:extLst xmlns:a="http://schemas.openxmlformats.org/drawingml/2006/main">
              <a:ext uri="{FF2B5EF4-FFF2-40B4-BE49-F238E27FC236}">
                <a16:creationId xmlns:a16="http://schemas.microsoft.com/office/drawing/2014/main" id="{DCA8396D-DDAA-45DB-BF8B-22750F5D9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05325"/>
            <a:ext cx="32385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FEB"/>
          </a:solidFill>
          <a:ln xmlns:a="http://schemas.openxmlformats.org/drawingml/2006/main" w="9525">
            <a:solidFill>
              <a:srgbClr val="398177"/>
            </a:solidFill>
          </a:ln>
        </p:spPr>
      </p:sp>
      <p:sp>
        <p:nvSpPr>
          <p:cNvPr id="15" name="domain-copy">
            <a:extLst xmlns:a="http://schemas.openxmlformats.org/drawingml/2006/main">
              <a:ext uri="{FF2B5EF4-FFF2-40B4-BE49-F238E27FC236}">
                <a16:creationId xmlns:a16="http://schemas.microsoft.com/office/drawing/2014/main" id="{C4981794-1EDE-4AC7-A3CC-946E63550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76775"/>
            <a:ext cx="2895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C3C3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C3C39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C3C39"/>
                </a:solidFill>
                <a:latin typeface="Malgun Gothic"/>
                <a:ea typeface="Malgun Gothic"/>
                <a:cs typeface="Malgun Gothic"/>
              </a:rPr>
              <a:t>철거·보양</a:t>
            </a:r>
          </a:p>
        </p:txBody>
      </p:sp>
      <p:sp>
        <p:nvSpPr>
          <p:cNvPr id="16" name="domain-copy">
            <a:extLst xmlns:a="http://schemas.openxmlformats.org/drawingml/2006/main">
              <a:ext uri="{FF2B5EF4-FFF2-40B4-BE49-F238E27FC236}">
                <a16:creationId xmlns:a16="http://schemas.microsoft.com/office/drawing/2014/main" id="{297ABF89-59F1-4171-86BC-A0CDB85FF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91125"/>
            <a:ext cx="28956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C3C3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C3C39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C3C39"/>
                </a:solidFill>
                <a:latin typeface="Malgun Gothic"/>
                <a:ea typeface="Malgun Gothic"/>
                <a:cs typeface="Malgun Gothic"/>
              </a:rPr>
              <a:t>기존 시설 조사 · 분리·보양·폐기물 처리</a:t>
            </a:r>
          </a:p>
        </p:txBody>
      </p:sp>
      <p:cxnSp>
        <p:nvCxnSpPr>
          <p:cNvPr id="17" name="domain-diagram-connection">
            <a:extLst xmlns:a="http://schemas.openxmlformats.org/drawingml/2006/main">
              <a:ext uri="{FF2B5EF4-FFF2-40B4-BE49-F238E27FC236}">
                <a16:creationId xmlns:a16="http://schemas.microsoft.com/office/drawing/2014/main" id="{1BBBF895-E159-4095-9282-5421C9AEDE7D}"/>
              </a:ext>
            </a:extLst>
          </p:cNvPr>
          <p:cNvCxnSpPr/>
          <p:nvPr/>
        </p:nvCxnSpPr>
        <p:spPr>
          <a:xfrm xmlns:a="http://schemas.openxmlformats.org/drawingml/2006/main">
            <a:off x="6096000" y="4276725"/>
            <a:ext cx="0" cy="228600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398177"/>
            </a:solidFill>
          </a:ln>
        </p:spPr>
      </p:cxnSp>
      <p:sp>
        <p:nvSpPr>
          <p:cNvPr id="18" name="domain-diagram-node">
            <a:extLst xmlns:a="http://schemas.openxmlformats.org/drawingml/2006/main">
              <a:ext uri="{FF2B5EF4-FFF2-40B4-BE49-F238E27FC236}">
                <a16:creationId xmlns:a16="http://schemas.microsoft.com/office/drawing/2014/main" id="{25B9580F-7903-405D-9A55-3A4F69B2A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505325"/>
            <a:ext cx="32385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FEB"/>
          </a:solidFill>
          <a:ln xmlns:a="http://schemas.openxmlformats.org/drawingml/2006/main" w="9525">
            <a:solidFill>
              <a:srgbClr val="398177"/>
            </a:solidFill>
          </a:ln>
        </p:spPr>
      </p:sp>
      <p:sp>
        <p:nvSpPr>
          <p:cNvPr id="19" name="domain-copy">
            <a:extLst xmlns:a="http://schemas.openxmlformats.org/drawingml/2006/main">
              <a:ext uri="{FF2B5EF4-FFF2-40B4-BE49-F238E27FC236}">
                <a16:creationId xmlns:a16="http://schemas.microsoft.com/office/drawing/2014/main" id="{A7367C9D-6B96-47CF-A160-8E4E5C11C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676775"/>
            <a:ext cx="2895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C3C3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C3C39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C3C39"/>
                </a:solidFill>
                <a:latin typeface="Malgun Gothic"/>
                <a:ea typeface="Malgun Gothic"/>
                <a:cs typeface="Malgun Gothic"/>
              </a:rPr>
              <a:t>건축·마감</a:t>
            </a:r>
          </a:p>
        </p:txBody>
      </p:sp>
      <p:sp>
        <p:nvSpPr>
          <p:cNvPr id="20" name="domain-copy">
            <a:extLst xmlns:a="http://schemas.openxmlformats.org/drawingml/2006/main">
              <a:ext uri="{FF2B5EF4-FFF2-40B4-BE49-F238E27FC236}">
                <a16:creationId xmlns:a16="http://schemas.microsoft.com/office/drawing/2014/main" id="{D50F75CE-209B-4017-84E4-0C35EB595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5191125"/>
            <a:ext cx="28956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C3C3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C3C39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C3C39"/>
                </a:solidFill>
                <a:latin typeface="Malgun Gothic"/>
                <a:ea typeface="Malgun Gothic"/>
                <a:cs typeface="Malgun Gothic"/>
              </a:rPr>
              <a:t>바탕·마감 시공 · 자재와 완성면 검사</a:t>
            </a:r>
          </a:p>
        </p:txBody>
      </p:sp>
      <p:cxnSp>
        <p:nvCxnSpPr>
          <p:cNvPr id="21" name="domain-diagram-connection">
            <a:extLst xmlns:a="http://schemas.openxmlformats.org/drawingml/2006/main">
              <a:ext uri="{FF2B5EF4-FFF2-40B4-BE49-F238E27FC236}">
                <a16:creationId xmlns:a16="http://schemas.microsoft.com/office/drawing/2014/main" id="{4E5FB596-0918-4F7B-BD42-B3E174990500}"/>
              </a:ext>
            </a:extLst>
          </p:cNvPr>
          <p:cNvCxnSpPr/>
          <p:nvPr/>
        </p:nvCxnSpPr>
        <p:spPr>
          <a:xfrm xmlns:a="http://schemas.openxmlformats.org/drawingml/2006/main">
            <a:off x="9963150" y="4276725"/>
            <a:ext cx="0" cy="228600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398177"/>
            </a:solidFill>
          </a:ln>
        </p:spPr>
      </p:cxnSp>
      <p:sp>
        <p:nvSpPr>
          <p:cNvPr id="22" name="domain-diagram-node">
            <a:extLst xmlns:a="http://schemas.openxmlformats.org/drawingml/2006/main">
              <a:ext uri="{FF2B5EF4-FFF2-40B4-BE49-F238E27FC236}">
                <a16:creationId xmlns:a16="http://schemas.microsoft.com/office/drawing/2014/main" id="{5C586892-7DB1-4F6E-AD2C-A5CC0EEA5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505325"/>
            <a:ext cx="32385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FEB"/>
          </a:solidFill>
          <a:ln xmlns:a="http://schemas.openxmlformats.org/drawingml/2006/main" w="9525">
            <a:solidFill>
              <a:srgbClr val="398177"/>
            </a:solidFill>
          </a:ln>
        </p:spPr>
      </p:sp>
      <p:sp>
        <p:nvSpPr>
          <p:cNvPr id="23" name="domain-copy">
            <a:extLst xmlns:a="http://schemas.openxmlformats.org/drawingml/2006/main">
              <a:ext uri="{FF2B5EF4-FFF2-40B4-BE49-F238E27FC236}">
                <a16:creationId xmlns:a16="http://schemas.microsoft.com/office/drawing/2014/main" id="{A67CA1C9-CE41-41FD-8957-223F6A8CD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676775"/>
            <a:ext cx="2895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C3C3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C3C39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C3C39"/>
                </a:solidFill>
                <a:latin typeface="Malgun Gothic"/>
                <a:ea typeface="Malgun Gothic"/>
                <a:cs typeface="Malgun Gothic"/>
              </a:rPr>
              <a:t>기계·전기</a:t>
            </a:r>
          </a:p>
        </p:txBody>
      </p:sp>
      <p:sp>
        <p:nvSpPr>
          <p:cNvPr id="24" name="domain-copy">
            <a:extLst xmlns:a="http://schemas.openxmlformats.org/drawingml/2006/main">
              <a:ext uri="{FF2B5EF4-FFF2-40B4-BE49-F238E27FC236}">
                <a16:creationId xmlns:a16="http://schemas.microsoft.com/office/drawing/2014/main" id="{B62B28E6-F344-4937-BC9E-0E13296BC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5191125"/>
            <a:ext cx="28956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C3C3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C3C39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C3C39"/>
                </a:solidFill>
                <a:latin typeface="Malgun Gothic"/>
                <a:ea typeface="Malgun Gothic"/>
                <a:cs typeface="Malgun Gothic"/>
              </a:rPr>
              <a:t>설비·배선 작업 · 시험과 연동 확인</a:t>
            </a:r>
          </a:p>
        </p:txBody>
      </p:sp>
    </p:spTree>
    <p:extLst>
      <p:ext uri="{BB962C8B-B14F-4D97-AF65-F5344CB8AC3E}">
        <p14:creationId xmlns:p14="http://schemas.microsoft.com/office/powerpoint/2010/main" val="210394992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500BF28C-4FDD-42D6-BD8A-BC4217E76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47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39817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39817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398177"/>
                </a:solidFill>
                <a:latin typeface="Malgun Gothic"/>
                <a:ea typeface="Malgun Gothic"/>
                <a:cs typeface="Malgun Gothic"/>
              </a:rPr>
              <a:t>공사·시설 / 수행 계획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4462A20F-D31E-4224-AAC2-E52C8F2D0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C3C3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1C3C39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1C3C39"/>
                </a:solidFill>
                <a:latin typeface="Malgun Gothic"/>
                <a:ea typeface="Malgun Gothic"/>
                <a:cs typeface="Malgun Gothic"/>
              </a:rPr>
              <a:t>작업 구역과 시공 순서</a:t>
            </a:r>
          </a:p>
        </p:txBody>
      </p:sp>
      <p:sp>
        <p:nvSpPr>
          <p:cNvPr id="3" name="domain-copy">
            <a:extLst xmlns:a="http://schemas.openxmlformats.org/drawingml/2006/main">
              <a:ext uri="{FF2B5EF4-FFF2-40B4-BE49-F238E27FC236}">
                <a16:creationId xmlns:a16="http://schemas.microsoft.com/office/drawing/2014/main" id="{8E363180-4C8A-4479-84D7-82826D27B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C3C3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C3C39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C3C39"/>
                </a:solidFill>
                <a:latin typeface="Malgun Gothic"/>
                <a:ea typeface="Malgun Gothic"/>
                <a:cs typeface="Malgun Gothic"/>
              </a:rPr>
              <a:t>구역 간 간섭을 줄이는 개념 공정표이며 실제 기간은 현장 확인 후 정합니다.</a:t>
            </a:r>
          </a:p>
        </p:txBody>
      </p:sp>
      <p:sp>
        <p:nvSpPr>
          <p:cNvPr id="4" name="bid3-fixed-rule">
            <a:extLst xmlns:a="http://schemas.openxmlformats.org/drawingml/2006/main">
              <a:ext uri="{FF2B5EF4-FFF2-40B4-BE49-F238E27FC236}">
                <a16:creationId xmlns:a16="http://schemas.microsoft.com/office/drawing/2014/main" id="{F0ABA22E-8980-4513-BDF6-1F2FFE021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19350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8177"/>
          </a:solidFill>
          <a:ln xmlns:a="http://schemas.openxmlformats.org/drawingml/2006/main" w="0">
            <a:noFill/>
          </a:ln>
        </p:spPr>
      </p:sp>
      <p:sp>
        <p:nvSpPr>
          <p:cNvPr id="5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7075FBF7-A1D3-462B-B426-D8F0AE9CB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39817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39817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398177"/>
                </a:solidFill>
                <a:latin typeface="Malgun Gothic"/>
                <a:ea typeface="Malgun Gothic"/>
                <a:cs typeface="Malgun Gothic"/>
              </a:rPr>
              <a:t>공사·시설 제안서</a:t>
            </a:r>
          </a:p>
        </p:txBody>
      </p:sp>
      <p:sp>
        <p:nvSpPr>
          <p:cNvPr id="6" name="bid3-fixed-status">
            <a:extLst xmlns:a="http://schemas.openxmlformats.org/drawingml/2006/main">
              <a:ext uri="{FF2B5EF4-FFF2-40B4-BE49-F238E27FC236}">
                <a16:creationId xmlns:a16="http://schemas.microsoft.com/office/drawing/2014/main" id="{E8F5E4B5-872B-462F-A783-0E7D2297B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372225"/>
            <a:ext cx="442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39817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3981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398177"/>
                </a:solidFill>
                <a:latin typeface="Malgun Gothic"/>
                <a:ea typeface="Malgun Gothic"/>
                <a:cs typeface="Malgun Gothic"/>
              </a:rPr>
              <a:t>분야별 작성 양식</a:t>
            </a:r>
          </a:p>
        </p:txBody>
      </p:sp>
      <p:sp>
        <p:nvSpPr>
          <p:cNvPr id="7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2E76F743-F199-461A-9B14-EC0BB658E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6334125"/>
            <a:ext cx="4667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650" b="1">
                <a:solidFill>
                  <a:srgbClr val="39817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650" b="1">
                <a:solidFill>
                  <a:srgbClr val="398177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398177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graphicFrame>
        <p:nvGraphicFrame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0317B1-BDC8-487F-BAED-F1C3B3EEA5A7}"/>
              </a:ext>
            </a:extLst>
          </p:cNvPr>
          <p:cNvGraphicFramePr/>
          <p:nvPr/>
        </p:nvGraphicFramePr>
        <p:xfrm>
          <a:off xmlns:a="http://schemas.openxmlformats.org/drawingml/2006/main" x="609600" y="2657475"/>
          <a:ext xmlns:a="http://schemas.openxmlformats.org/drawingml/2006/main" cx="10972800" cy="32099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00300"/>
                <a:gridCol w="1714500"/>
                <a:gridCol w="1714500"/>
                <a:gridCol w="1714500"/>
                <a:gridCol w="1714500"/>
                <a:gridCol w="1714500"/>
              </a:tblGrid>
              <a:tr h="590550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작업</a:t>
                      </a:r>
                    </a:p>
                  </a:txBody>
                  <a:tcPr marL="142875" marR="142875" marT="114300" marB="95250" anchor="ctr">
                    <a:solidFill>
                      <a:srgbClr val="1C3C3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조사·보양</a:t>
                      </a:r>
                    </a:p>
                  </a:txBody>
                  <a:tcPr marL="142875" marR="142875" marT="114300" marB="95250" anchor="ctr">
                    <a:solidFill>
                      <a:srgbClr val="1C3C3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철거</a:t>
                      </a:r>
                    </a:p>
                  </a:txBody>
                  <a:tcPr marL="142875" marR="142875" marT="114300" marB="95250" anchor="ctr">
                    <a:solidFill>
                      <a:srgbClr val="1C3C3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설비</a:t>
                      </a:r>
                    </a:p>
                  </a:txBody>
                  <a:tcPr marL="142875" marR="142875" marT="114300" marB="95250" anchor="ctr">
                    <a:solidFill>
                      <a:srgbClr val="1C3C3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마감</a:t>
                      </a:r>
                    </a:p>
                  </a:txBody>
                  <a:tcPr marL="142875" marR="142875" marT="114300" marB="95250" anchor="ctr">
                    <a:solidFill>
                      <a:srgbClr val="1C3C3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점검</a:t>
                      </a:r>
                    </a:p>
                  </a:txBody>
                  <a:tcPr marL="142875" marR="142875" marT="114300" marB="95250" anchor="ctr">
                    <a:solidFill>
                      <a:srgbClr val="1C3C39"/>
                    </a:solidFill>
                  </a:tcPr>
                </a:tc>
              </a:tr>
              <a:tr h="873125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1C3C3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공용 구역</a:t>
                      </a:r>
                    </a:p>
                  </a:txBody>
                  <a:tcPr marL="142875" marR="142875" marT="114300" marB="95250" anchor="ctr">
                    <a:solidFill>
                      <a:srgbClr val="E3EF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C3C3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</a:t>
                      </a:r>
                    </a:p>
                  </a:txBody>
                  <a:tcPr marL="142875" marR="142875" marT="114300" marB="95250" anchor="ctr">
                    <a:solidFill>
                      <a:srgbClr val="E3EF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C3C3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</a:t>
                      </a:r>
                    </a:p>
                  </a:txBody>
                  <a:tcPr marL="142875" marR="142875" marT="114300" marB="95250" anchor="ctr">
                    <a:solidFill>
                      <a:srgbClr val="E3EF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C3C3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</a:t>
                      </a:r>
                    </a:p>
                  </a:txBody>
                  <a:tcPr marL="142875" marR="142875" marT="114300" marB="95250" anchor="ctr">
                    <a:solidFill>
                      <a:srgbClr val="E3EF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C3C3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</a:t>
                      </a:r>
                    </a:p>
                  </a:txBody>
                  <a:tcPr marL="142875" marR="142875" marT="114300" marB="95250" anchor="ctr">
                    <a:solidFill>
                      <a:srgbClr val="E3EF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C3C3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</a:t>
                      </a:r>
                    </a:p>
                  </a:txBody>
                  <a:tcPr marL="142875" marR="142875" marT="114300" marB="95250" anchor="ctr">
                    <a:solidFill>
                      <a:srgbClr val="E3EFEB"/>
                    </a:solidFill>
                  </a:tcPr>
                </a:tc>
              </a:tr>
              <a:tr h="873125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1C3C3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 구역</a:t>
                      </a:r>
                    </a:p>
                  </a:txBody>
                  <a:tcPr marL="142875" marR="142875" marT="114300" marB="95250" anchor="ctr">
                    <a:solidFill>
                      <a:srgbClr val="F8FA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C3C3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</a:t>
                      </a:r>
                    </a:p>
                  </a:txBody>
                  <a:tcPr marL="142875" marR="142875" marT="114300" marB="95250" anchor="ctr">
                    <a:solidFill>
                      <a:srgbClr val="F8FA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C3C3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</a:t>
                      </a:r>
                    </a:p>
                  </a:txBody>
                  <a:tcPr marL="142875" marR="142875" marT="114300" marB="95250" anchor="ctr">
                    <a:solidFill>
                      <a:srgbClr val="F8FA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C3C3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</a:t>
                      </a:r>
                    </a:p>
                  </a:txBody>
                  <a:tcPr marL="142875" marR="142875" marT="114300" marB="95250" anchor="ctr">
                    <a:solidFill>
                      <a:srgbClr val="F8FA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C3C3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</a:t>
                      </a:r>
                    </a:p>
                  </a:txBody>
                  <a:tcPr marL="142875" marR="142875" marT="114300" marB="95250" anchor="ctr">
                    <a:solidFill>
                      <a:srgbClr val="F8FA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C3C3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</a:t>
                      </a:r>
                    </a:p>
                  </a:txBody>
                  <a:tcPr marL="142875" marR="142875" marT="114300" marB="95250" anchor="ctr">
                    <a:solidFill>
                      <a:srgbClr val="F8FAF9"/>
                    </a:solidFill>
                  </a:tcPr>
                </a:tc>
              </a:tr>
              <a:tr h="873125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1C3C3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전체 연동</a:t>
                      </a:r>
                    </a:p>
                  </a:txBody>
                  <a:tcPr marL="142875" marR="142875" marT="114300" marB="95250" anchor="ctr">
                    <a:solidFill>
                      <a:srgbClr val="E3EF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C3C3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</a:t>
                      </a:r>
                    </a:p>
                  </a:txBody>
                  <a:tcPr marL="142875" marR="142875" marT="114300" marB="95250" anchor="ctr">
                    <a:solidFill>
                      <a:srgbClr val="E3EF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C3C3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</a:t>
                      </a:r>
                    </a:p>
                  </a:txBody>
                  <a:tcPr marL="142875" marR="142875" marT="114300" marB="95250" anchor="ctr">
                    <a:solidFill>
                      <a:srgbClr val="E3EF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C3C3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</a:t>
                      </a:r>
                    </a:p>
                  </a:txBody>
                  <a:tcPr marL="142875" marR="142875" marT="114300" marB="95250" anchor="ctr">
                    <a:solidFill>
                      <a:srgbClr val="E3EF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C3C3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</a:t>
                      </a:r>
                    </a:p>
                  </a:txBody>
                  <a:tcPr marL="142875" marR="142875" marT="114300" marB="95250" anchor="ctr">
                    <a:solidFill>
                      <a:srgbClr val="E3EF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C3C3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</a:t>
                      </a:r>
                    </a:p>
                  </a:txBody>
                  <a:tcPr marL="142875" marR="142875" marT="114300" marB="95250" anchor="ctr">
                    <a:solidFill>
                      <a:srgbClr val="E3EFEB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266036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9A2E36DA-61B1-490D-B287-C4F7F508E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47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39817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39817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398177"/>
                </a:solidFill>
                <a:latin typeface="Malgun Gothic"/>
                <a:ea typeface="Malgun Gothic"/>
                <a:cs typeface="Malgun Gothic"/>
              </a:rPr>
              <a:t>공사·시설 / 수행 계획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1071B54C-C096-417F-B5F7-73D207CC1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C3C3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1C3C39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1C3C39"/>
                </a:solidFill>
                <a:latin typeface="Malgun Gothic"/>
                <a:ea typeface="Malgun Gothic"/>
                <a:cs typeface="Malgun Gothic"/>
              </a:rPr>
              <a:t>선행 조건과 공정 관리</a:t>
            </a:r>
          </a:p>
        </p:txBody>
      </p:sp>
      <p:sp>
        <p:nvSpPr>
          <p:cNvPr id="3" name="domain-copy">
            <a:extLst xmlns:a="http://schemas.openxmlformats.org/drawingml/2006/main">
              <a:ext uri="{FF2B5EF4-FFF2-40B4-BE49-F238E27FC236}">
                <a16:creationId xmlns:a16="http://schemas.microsoft.com/office/drawing/2014/main" id="{C5128E1F-77D2-42F8-BF61-D943938D0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C3C3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C3C39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C3C39"/>
                </a:solidFill>
                <a:latin typeface="Malgun Gothic"/>
                <a:ea typeface="Malgun Gothic"/>
                <a:cs typeface="Malgun Gothic"/>
              </a:rPr>
              <a:t>착수·중간·완료의 승인 조건을 확인한 뒤 다음 공정을 진행합니다.</a:t>
            </a:r>
          </a:p>
        </p:txBody>
      </p:sp>
      <p:sp>
        <p:nvSpPr>
          <p:cNvPr id="4" name="bid3-fixed-rule">
            <a:extLst xmlns:a="http://schemas.openxmlformats.org/drawingml/2006/main">
              <a:ext uri="{FF2B5EF4-FFF2-40B4-BE49-F238E27FC236}">
                <a16:creationId xmlns:a16="http://schemas.microsoft.com/office/drawing/2014/main" id="{2563EE14-D4BA-451B-9285-5BA2D2BB4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19350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8177"/>
          </a:solidFill>
          <a:ln xmlns:a="http://schemas.openxmlformats.org/drawingml/2006/main" w="0">
            <a:noFill/>
          </a:ln>
        </p:spPr>
      </p:sp>
      <p:sp>
        <p:nvSpPr>
          <p:cNvPr id="5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AD4C8DD3-0B12-4116-8E67-1E48FAA98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39817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39817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398177"/>
                </a:solidFill>
                <a:latin typeface="Malgun Gothic"/>
                <a:ea typeface="Malgun Gothic"/>
                <a:cs typeface="Malgun Gothic"/>
              </a:rPr>
              <a:t>공사·시설 제안서</a:t>
            </a:r>
          </a:p>
        </p:txBody>
      </p:sp>
      <p:sp>
        <p:nvSpPr>
          <p:cNvPr id="6" name="bid3-fixed-status">
            <a:extLst xmlns:a="http://schemas.openxmlformats.org/drawingml/2006/main">
              <a:ext uri="{FF2B5EF4-FFF2-40B4-BE49-F238E27FC236}">
                <a16:creationId xmlns:a16="http://schemas.microsoft.com/office/drawing/2014/main" id="{9076DC45-9FAA-431E-99E5-1C66CC041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372225"/>
            <a:ext cx="442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39817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3981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398177"/>
                </a:solidFill>
                <a:latin typeface="Malgun Gothic"/>
                <a:ea typeface="Malgun Gothic"/>
                <a:cs typeface="Malgun Gothic"/>
              </a:rPr>
              <a:t>분야별 작성 양식</a:t>
            </a:r>
          </a:p>
        </p:txBody>
      </p:sp>
      <p:sp>
        <p:nvSpPr>
          <p:cNvPr id="7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A8C4B7A7-998A-46DC-991C-638F265AA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6334125"/>
            <a:ext cx="4667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650" b="1">
                <a:solidFill>
                  <a:srgbClr val="39817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650" b="1">
                <a:solidFill>
                  <a:srgbClr val="398177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398177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8" name="domain-copy">
            <a:extLst xmlns:a="http://schemas.openxmlformats.org/drawingml/2006/main">
              <a:ext uri="{FF2B5EF4-FFF2-40B4-BE49-F238E27FC236}">
                <a16:creationId xmlns:a16="http://schemas.microsoft.com/office/drawing/2014/main" id="{D1DA2781-7F28-4A72-ACEE-6AA720391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95575"/>
            <a:ext cx="247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39817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398177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398177"/>
                </a:solidFill>
                <a:latin typeface="Malgun Gothic"/>
                <a:ea typeface="Malgun Gothic"/>
                <a:cs typeface="Malgun Gothic"/>
              </a:rPr>
              <a:t>작업 준비</a:t>
            </a:r>
          </a:p>
        </p:txBody>
      </p:sp>
      <p:sp>
        <p:nvSpPr>
          <p:cNvPr id="9" name="domain-copy">
            <a:extLst xmlns:a="http://schemas.openxmlformats.org/drawingml/2006/main">
              <a:ext uri="{FF2B5EF4-FFF2-40B4-BE49-F238E27FC236}">
                <a16:creationId xmlns:a16="http://schemas.microsoft.com/office/drawing/2014/main" id="{1F621281-9DA7-407A-AEFC-BA90A4A40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714625"/>
            <a:ext cx="4476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C3C3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C3C39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C3C39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  <p:sp>
        <p:nvSpPr>
          <p:cNvPr id="10" name="domain-copy">
            <a:extLst xmlns:a="http://schemas.openxmlformats.org/drawingml/2006/main">
              <a:ext uri="{FF2B5EF4-FFF2-40B4-BE49-F238E27FC236}">
                <a16:creationId xmlns:a16="http://schemas.microsoft.com/office/drawing/2014/main" id="{6FDB5872-1853-4B19-830E-9FE8D50FB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2714625"/>
            <a:ext cx="34956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C3C3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C3C39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C3C39"/>
                </a:solidFill>
                <a:latin typeface="Malgun Gothic"/>
                <a:ea typeface="Malgun Gothic"/>
                <a:cs typeface="Malgun Gothic"/>
              </a:rPr>
              <a:t>조건·기준·근거 확인 필요</a:t>
            </a:r>
          </a:p>
        </p:txBody>
      </p:sp>
      <p:sp>
        <p:nvSpPr>
          <p:cNvPr id="11" name="bid3-fixed-rule">
            <a:extLst xmlns:a="http://schemas.openxmlformats.org/drawingml/2006/main">
              <a:ext uri="{FF2B5EF4-FFF2-40B4-BE49-F238E27FC236}">
                <a16:creationId xmlns:a16="http://schemas.microsoft.com/office/drawing/2014/main" id="{1E0CFE9C-3778-411A-A44E-4B1372FAE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FEB"/>
          </a:solidFill>
          <a:ln xmlns:a="http://schemas.openxmlformats.org/drawingml/2006/main" w="0">
            <a:noFill/>
          </a:ln>
        </p:spPr>
      </p:sp>
      <p:sp>
        <p:nvSpPr>
          <p:cNvPr id="12" name="domain-copy">
            <a:extLst xmlns:a="http://schemas.openxmlformats.org/drawingml/2006/main">
              <a:ext uri="{FF2B5EF4-FFF2-40B4-BE49-F238E27FC236}">
                <a16:creationId xmlns:a16="http://schemas.microsoft.com/office/drawing/2014/main" id="{985A749E-87BA-43B2-8146-80B4010F9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62375"/>
            <a:ext cx="247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39817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398177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398177"/>
                </a:solidFill>
                <a:latin typeface="Malgun Gothic"/>
                <a:ea typeface="Malgun Gothic"/>
                <a:cs typeface="Malgun Gothic"/>
              </a:rPr>
              <a:t>중간 점검</a:t>
            </a:r>
          </a:p>
        </p:txBody>
      </p:sp>
      <p:sp>
        <p:nvSpPr>
          <p:cNvPr id="13" name="domain-copy">
            <a:extLst xmlns:a="http://schemas.openxmlformats.org/drawingml/2006/main">
              <a:ext uri="{FF2B5EF4-FFF2-40B4-BE49-F238E27FC236}">
                <a16:creationId xmlns:a16="http://schemas.microsoft.com/office/drawing/2014/main" id="{E7D19A8D-E5D8-4C7C-8348-09DE532B4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781425"/>
            <a:ext cx="4476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C3C3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C3C39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C3C39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  <p:sp>
        <p:nvSpPr>
          <p:cNvPr id="14" name="domain-copy">
            <a:extLst xmlns:a="http://schemas.openxmlformats.org/drawingml/2006/main">
              <a:ext uri="{FF2B5EF4-FFF2-40B4-BE49-F238E27FC236}">
                <a16:creationId xmlns:a16="http://schemas.microsoft.com/office/drawing/2014/main" id="{7741C34B-2073-4DF1-9BE7-3BAB8D7D0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3781425"/>
            <a:ext cx="34956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C3C3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C3C39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C3C39"/>
                </a:solidFill>
                <a:latin typeface="Malgun Gothic"/>
                <a:ea typeface="Malgun Gothic"/>
                <a:cs typeface="Malgun Gothic"/>
              </a:rPr>
              <a:t>조건·기준·근거 확인 필요</a:t>
            </a:r>
          </a:p>
        </p:txBody>
      </p:sp>
      <p:sp>
        <p:nvSpPr>
          <p:cNvPr id="15" name="bid3-fixed-rule">
            <a:extLst xmlns:a="http://schemas.openxmlformats.org/drawingml/2006/main">
              <a:ext uri="{FF2B5EF4-FFF2-40B4-BE49-F238E27FC236}">
                <a16:creationId xmlns:a16="http://schemas.microsoft.com/office/drawing/2014/main" id="{46330473-FBFE-4691-B4DF-69C037A04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91050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FEB"/>
          </a:solidFill>
          <a:ln xmlns:a="http://schemas.openxmlformats.org/drawingml/2006/main" w="0">
            <a:noFill/>
          </a:ln>
        </p:spPr>
      </p:sp>
      <p:sp>
        <p:nvSpPr>
          <p:cNvPr id="16" name="domain-copy">
            <a:extLst xmlns:a="http://schemas.openxmlformats.org/drawingml/2006/main">
              <a:ext uri="{FF2B5EF4-FFF2-40B4-BE49-F238E27FC236}">
                <a16:creationId xmlns:a16="http://schemas.microsoft.com/office/drawing/2014/main" id="{CEE13152-7D67-4E0A-9E12-8D4B2BA81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29175"/>
            <a:ext cx="247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39817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398177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398177"/>
                </a:solidFill>
                <a:latin typeface="Malgun Gothic"/>
                <a:ea typeface="Malgun Gothic"/>
                <a:cs typeface="Malgun Gothic"/>
              </a:rPr>
              <a:t>완료 점검</a:t>
            </a:r>
          </a:p>
        </p:txBody>
      </p:sp>
      <p:sp>
        <p:nvSpPr>
          <p:cNvPr id="17" name="domain-copy">
            <a:extLst xmlns:a="http://schemas.openxmlformats.org/drawingml/2006/main">
              <a:ext uri="{FF2B5EF4-FFF2-40B4-BE49-F238E27FC236}">
                <a16:creationId xmlns:a16="http://schemas.microsoft.com/office/drawing/2014/main" id="{5FDCD526-66E1-4BC3-9A6B-CAB0605FD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848225"/>
            <a:ext cx="4476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C3C3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C3C39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C3C39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  <p:sp>
        <p:nvSpPr>
          <p:cNvPr id="18" name="domain-copy">
            <a:extLst xmlns:a="http://schemas.openxmlformats.org/drawingml/2006/main">
              <a:ext uri="{FF2B5EF4-FFF2-40B4-BE49-F238E27FC236}">
                <a16:creationId xmlns:a16="http://schemas.microsoft.com/office/drawing/2014/main" id="{412CB8F7-56C8-407F-A817-22412209E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4848225"/>
            <a:ext cx="34956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C3C3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C3C39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C3C39"/>
                </a:solidFill>
                <a:latin typeface="Malgun Gothic"/>
                <a:ea typeface="Malgun Gothic"/>
                <a:cs typeface="Malgun Gothic"/>
              </a:rPr>
              <a:t>조건·기준·근거 확인 필요</a:t>
            </a:r>
          </a:p>
        </p:txBody>
      </p:sp>
    </p:spTree>
    <p:extLst>
      <p:ext uri="{BB962C8B-B14F-4D97-AF65-F5344CB8AC3E}">
        <p14:creationId xmlns:p14="http://schemas.microsoft.com/office/powerpoint/2010/main" val="206313322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A9D95B3E-D927-4404-B74D-236186040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47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39817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39817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398177"/>
                </a:solidFill>
                <a:latin typeface="Malgun Gothic"/>
                <a:ea typeface="Malgun Gothic"/>
                <a:cs typeface="Malgun Gothic"/>
              </a:rPr>
              <a:t>공사·시설 / 수행 계획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BF5A6EBE-8E47-4274-A690-7AA839BAF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C3C3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1C3C39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1C3C39"/>
                </a:solidFill>
                <a:latin typeface="Malgun Gothic"/>
                <a:ea typeface="Malgun Gothic"/>
                <a:cs typeface="Malgun Gothic"/>
              </a:rPr>
              <a:t>품질 검사와 승인 지점</a:t>
            </a:r>
          </a:p>
        </p:txBody>
      </p:sp>
      <p:sp>
        <p:nvSpPr>
          <p:cNvPr id="3" name="domain-copy">
            <a:extLst xmlns:a="http://schemas.openxmlformats.org/drawingml/2006/main">
              <a:ext uri="{FF2B5EF4-FFF2-40B4-BE49-F238E27FC236}">
                <a16:creationId xmlns:a16="http://schemas.microsoft.com/office/drawing/2014/main" id="{2D68EB61-C33D-49B5-8FC1-D44286CC2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C3C3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C3C39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C3C39"/>
                </a:solidFill>
                <a:latin typeface="Malgun Gothic"/>
                <a:ea typeface="Malgun Gothic"/>
                <a:cs typeface="Malgun Gothic"/>
              </a:rPr>
              <a:t>작업 결과가 다음 공정에 가려지기 전에 검사와 승인을 기록합니다.</a:t>
            </a:r>
          </a:p>
        </p:txBody>
      </p:sp>
      <p:sp>
        <p:nvSpPr>
          <p:cNvPr id="4" name="bid3-fixed-rule">
            <a:extLst xmlns:a="http://schemas.openxmlformats.org/drawingml/2006/main">
              <a:ext uri="{FF2B5EF4-FFF2-40B4-BE49-F238E27FC236}">
                <a16:creationId xmlns:a16="http://schemas.microsoft.com/office/drawing/2014/main" id="{7E3E9FA9-61F8-48AD-9BD5-D370D0C25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19350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8177"/>
          </a:solidFill>
          <a:ln xmlns:a="http://schemas.openxmlformats.org/drawingml/2006/main" w="0">
            <a:noFill/>
          </a:ln>
        </p:spPr>
      </p:sp>
      <p:sp>
        <p:nvSpPr>
          <p:cNvPr id="5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D8262E46-984E-4159-B864-4A05C4A11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39817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39817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398177"/>
                </a:solidFill>
                <a:latin typeface="Malgun Gothic"/>
                <a:ea typeface="Malgun Gothic"/>
                <a:cs typeface="Malgun Gothic"/>
              </a:rPr>
              <a:t>공사·시설 제안서</a:t>
            </a:r>
          </a:p>
        </p:txBody>
      </p:sp>
      <p:sp>
        <p:nvSpPr>
          <p:cNvPr id="6" name="bid3-fixed-status">
            <a:extLst xmlns:a="http://schemas.openxmlformats.org/drawingml/2006/main">
              <a:ext uri="{FF2B5EF4-FFF2-40B4-BE49-F238E27FC236}">
                <a16:creationId xmlns:a16="http://schemas.microsoft.com/office/drawing/2014/main" id="{DE7BCEF6-9C62-4EDE-8484-322DBB6EB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372225"/>
            <a:ext cx="442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39817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3981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398177"/>
                </a:solidFill>
                <a:latin typeface="Malgun Gothic"/>
                <a:ea typeface="Malgun Gothic"/>
                <a:cs typeface="Malgun Gothic"/>
              </a:rPr>
              <a:t>분야별 작성 양식</a:t>
            </a:r>
          </a:p>
        </p:txBody>
      </p:sp>
      <p:sp>
        <p:nvSpPr>
          <p:cNvPr id="7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CEA3665A-9707-41C7-820F-513BFE6D6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6334125"/>
            <a:ext cx="4667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650" b="1">
                <a:solidFill>
                  <a:srgbClr val="39817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650" b="1">
                <a:solidFill>
                  <a:srgbClr val="398177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398177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sp>
        <p:nvSpPr>
          <p:cNvPr id="8" name="domain-copy">
            <a:extLst xmlns:a="http://schemas.openxmlformats.org/drawingml/2006/main">
              <a:ext uri="{FF2B5EF4-FFF2-40B4-BE49-F238E27FC236}">
                <a16:creationId xmlns:a16="http://schemas.microsoft.com/office/drawing/2014/main" id="{64AB56D8-01DD-4A74-8CC8-EE48E10E8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2500313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39817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398177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398177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9" name="domain-diagram-node">
            <a:extLst xmlns:a="http://schemas.openxmlformats.org/drawingml/2006/main">
              <a:ext uri="{FF2B5EF4-FFF2-40B4-BE49-F238E27FC236}">
                <a16:creationId xmlns:a16="http://schemas.microsoft.com/office/drawing/2014/main" id="{C31B340B-7C58-4194-91F1-A2A93941C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19475"/>
            <a:ext cx="2500313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FEB"/>
          </a:solidFill>
          <a:ln xmlns:a="http://schemas.openxmlformats.org/drawingml/2006/main" w="9525">
            <a:solidFill>
              <a:srgbClr val="398177"/>
            </a:solidFill>
          </a:ln>
        </p:spPr>
      </p:sp>
      <p:sp>
        <p:nvSpPr>
          <p:cNvPr id="10" name="domain-copy">
            <a:extLst xmlns:a="http://schemas.openxmlformats.org/drawingml/2006/main">
              <a:ext uri="{FF2B5EF4-FFF2-40B4-BE49-F238E27FC236}">
                <a16:creationId xmlns:a16="http://schemas.microsoft.com/office/drawing/2014/main" id="{7C1BF284-CCC4-446C-879C-4FF91BA8F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90925"/>
            <a:ext cx="2157413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C3C3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C3C39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C3C39"/>
                </a:solidFill>
                <a:latin typeface="Malgun Gothic"/>
                <a:ea typeface="Malgun Gothic"/>
                <a:cs typeface="Malgun Gothic"/>
              </a:rPr>
              <a:t>반입 확인</a:t>
            </a:r>
          </a:p>
        </p:txBody>
      </p:sp>
      <p:sp>
        <p:nvSpPr>
          <p:cNvPr id="11" name="domain-copy">
            <a:extLst xmlns:a="http://schemas.openxmlformats.org/drawingml/2006/main">
              <a:ext uri="{FF2B5EF4-FFF2-40B4-BE49-F238E27FC236}">
                <a16:creationId xmlns:a16="http://schemas.microsoft.com/office/drawing/2014/main" id="{D03E0519-BC66-423A-829B-F5F436824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05275"/>
            <a:ext cx="2157413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C3C3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C3C39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C3C39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  <p:cxnSp>
        <p:nvCxnSpPr>
          <p:cNvPr id="12" name="domain-diagram-connection">
            <a:extLst xmlns:a="http://schemas.openxmlformats.org/drawingml/2006/main">
              <a:ext uri="{FF2B5EF4-FFF2-40B4-BE49-F238E27FC236}">
                <a16:creationId xmlns:a16="http://schemas.microsoft.com/office/drawing/2014/main" id="{7499B669-AB59-4148-AFC6-3345684EF074}"/>
              </a:ext>
            </a:extLst>
          </p:cNvPr>
          <p:cNvCxnSpPr/>
          <p:nvPr/>
        </p:nvCxnSpPr>
        <p:spPr>
          <a:xfrm xmlns:a="http://schemas.openxmlformats.org/drawingml/2006/main">
            <a:off x="3109913" y="4438650"/>
            <a:ext cx="323850" cy="0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398177"/>
            </a:solidFill>
          </a:ln>
        </p:spPr>
      </p:cxnSp>
      <p:sp>
        <p:nvSpPr>
          <p:cNvPr id="13" name="domain-copy">
            <a:extLst xmlns:a="http://schemas.openxmlformats.org/drawingml/2006/main">
              <a:ext uri="{FF2B5EF4-FFF2-40B4-BE49-F238E27FC236}">
                <a16:creationId xmlns:a16="http://schemas.microsoft.com/office/drawing/2014/main" id="{1E09D131-EA1F-4F61-AC77-14810CE0D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3763" y="2686050"/>
            <a:ext cx="2500313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39817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398177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398177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4" name="domain-diagram-node">
            <a:extLst xmlns:a="http://schemas.openxmlformats.org/drawingml/2006/main">
              <a:ext uri="{FF2B5EF4-FFF2-40B4-BE49-F238E27FC236}">
                <a16:creationId xmlns:a16="http://schemas.microsoft.com/office/drawing/2014/main" id="{051C9A6B-C4C0-4768-B813-DB66B0033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3763" y="3419475"/>
            <a:ext cx="2500313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FEB"/>
          </a:solidFill>
          <a:ln xmlns:a="http://schemas.openxmlformats.org/drawingml/2006/main" w="9525">
            <a:solidFill>
              <a:srgbClr val="398177"/>
            </a:solidFill>
          </a:ln>
        </p:spPr>
      </p:sp>
      <p:sp>
        <p:nvSpPr>
          <p:cNvPr id="15" name="domain-copy">
            <a:extLst xmlns:a="http://schemas.openxmlformats.org/drawingml/2006/main">
              <a:ext uri="{FF2B5EF4-FFF2-40B4-BE49-F238E27FC236}">
                <a16:creationId xmlns:a16="http://schemas.microsoft.com/office/drawing/2014/main" id="{DF446923-BC4A-4743-BD86-5AF74D11D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5213" y="3590925"/>
            <a:ext cx="2157413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C3C3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C3C39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C3C39"/>
                </a:solidFill>
                <a:latin typeface="Malgun Gothic"/>
                <a:ea typeface="Malgun Gothic"/>
                <a:cs typeface="Malgun Gothic"/>
              </a:rPr>
              <a:t>시공 중 검사</a:t>
            </a:r>
          </a:p>
        </p:txBody>
      </p:sp>
      <p:sp>
        <p:nvSpPr>
          <p:cNvPr id="16" name="domain-copy">
            <a:extLst xmlns:a="http://schemas.openxmlformats.org/drawingml/2006/main">
              <a:ext uri="{FF2B5EF4-FFF2-40B4-BE49-F238E27FC236}">
                <a16:creationId xmlns:a16="http://schemas.microsoft.com/office/drawing/2014/main" id="{81568BCC-2380-44F0-9960-8556A9D5C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5213" y="4105275"/>
            <a:ext cx="2157413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C3C3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C3C39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C3C39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  <p:cxnSp>
        <p:nvCxnSpPr>
          <p:cNvPr id="17" name="domain-diagram-connection">
            <a:extLst xmlns:a="http://schemas.openxmlformats.org/drawingml/2006/main">
              <a:ext uri="{FF2B5EF4-FFF2-40B4-BE49-F238E27FC236}">
                <a16:creationId xmlns:a16="http://schemas.microsoft.com/office/drawing/2014/main" id="{1EC0A71A-8725-46C9-A323-A5B49987BC5C}"/>
              </a:ext>
            </a:extLst>
          </p:cNvPr>
          <p:cNvCxnSpPr/>
          <p:nvPr/>
        </p:nvCxnSpPr>
        <p:spPr>
          <a:xfrm xmlns:a="http://schemas.openxmlformats.org/drawingml/2006/main">
            <a:off x="5934075" y="4438650"/>
            <a:ext cx="323850" cy="0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398177"/>
            </a:solidFill>
          </a:ln>
        </p:spPr>
      </p:cxnSp>
      <p:sp>
        <p:nvSpPr>
          <p:cNvPr id="18" name="domain-copy">
            <a:extLst xmlns:a="http://schemas.openxmlformats.org/drawingml/2006/main">
              <a:ext uri="{FF2B5EF4-FFF2-40B4-BE49-F238E27FC236}">
                <a16:creationId xmlns:a16="http://schemas.microsoft.com/office/drawing/2014/main" id="{67A8B04D-5C19-439F-93F9-D77E93698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686050"/>
            <a:ext cx="2500313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39817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398177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398177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9" name="domain-diagram-node">
            <a:extLst xmlns:a="http://schemas.openxmlformats.org/drawingml/2006/main">
              <a:ext uri="{FF2B5EF4-FFF2-40B4-BE49-F238E27FC236}">
                <a16:creationId xmlns:a16="http://schemas.microsoft.com/office/drawing/2014/main" id="{0E3AC8FA-7176-44DA-91B1-93E38F2D2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419475"/>
            <a:ext cx="2500313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FEB"/>
          </a:solidFill>
          <a:ln xmlns:a="http://schemas.openxmlformats.org/drawingml/2006/main" w="9525">
            <a:solidFill>
              <a:srgbClr val="398177"/>
            </a:solidFill>
          </a:ln>
        </p:spPr>
      </p:sp>
      <p:sp>
        <p:nvSpPr>
          <p:cNvPr id="20" name="domain-copy">
            <a:extLst xmlns:a="http://schemas.openxmlformats.org/drawingml/2006/main">
              <a:ext uri="{FF2B5EF4-FFF2-40B4-BE49-F238E27FC236}">
                <a16:creationId xmlns:a16="http://schemas.microsoft.com/office/drawing/2014/main" id="{44989E8E-F54E-4EB2-ACE0-6D3DE9CFC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590925"/>
            <a:ext cx="2157413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C3C3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C3C39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C3C39"/>
                </a:solidFill>
                <a:latin typeface="Malgun Gothic"/>
                <a:ea typeface="Malgun Gothic"/>
                <a:cs typeface="Malgun Gothic"/>
              </a:rPr>
              <a:t>시험·측정</a:t>
            </a:r>
          </a:p>
        </p:txBody>
      </p:sp>
      <p:sp>
        <p:nvSpPr>
          <p:cNvPr id="21" name="domain-copy">
            <a:extLst xmlns:a="http://schemas.openxmlformats.org/drawingml/2006/main">
              <a:ext uri="{FF2B5EF4-FFF2-40B4-BE49-F238E27FC236}">
                <a16:creationId xmlns:a16="http://schemas.microsoft.com/office/drawing/2014/main" id="{E5054AB5-F916-415D-A5B2-5CA231528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105275"/>
            <a:ext cx="2157413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C3C3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C3C39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C3C39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  <p:cxnSp>
        <p:nvCxnSpPr>
          <p:cNvPr id="22" name="domain-diagram-connection">
            <a:extLst xmlns:a="http://schemas.openxmlformats.org/drawingml/2006/main">
              <a:ext uri="{FF2B5EF4-FFF2-40B4-BE49-F238E27FC236}">
                <a16:creationId xmlns:a16="http://schemas.microsoft.com/office/drawing/2014/main" id="{ABF42CC7-45C7-4BBA-BEB5-5018AC538B94}"/>
              </a:ext>
            </a:extLst>
          </p:cNvPr>
          <p:cNvCxnSpPr/>
          <p:nvPr/>
        </p:nvCxnSpPr>
        <p:spPr>
          <a:xfrm xmlns:a="http://schemas.openxmlformats.org/drawingml/2006/main">
            <a:off x="8758238" y="4438650"/>
            <a:ext cx="323850" cy="0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398177"/>
            </a:solidFill>
          </a:ln>
        </p:spPr>
      </p:cxnSp>
      <p:sp>
        <p:nvSpPr>
          <p:cNvPr id="23" name="domain-copy">
            <a:extLst xmlns:a="http://schemas.openxmlformats.org/drawingml/2006/main">
              <a:ext uri="{FF2B5EF4-FFF2-40B4-BE49-F238E27FC236}">
                <a16:creationId xmlns:a16="http://schemas.microsoft.com/office/drawing/2014/main" id="{3813DCF2-58BE-44D2-87E2-8CDB5E6A8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2088" y="2686050"/>
            <a:ext cx="2500313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39817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398177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398177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24" name="domain-diagram-node">
            <a:extLst xmlns:a="http://schemas.openxmlformats.org/drawingml/2006/main">
              <a:ext uri="{FF2B5EF4-FFF2-40B4-BE49-F238E27FC236}">
                <a16:creationId xmlns:a16="http://schemas.microsoft.com/office/drawing/2014/main" id="{EC694693-FE27-4F0A-B574-8D27599EB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2088" y="3419475"/>
            <a:ext cx="2500313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FEB"/>
          </a:solidFill>
          <a:ln xmlns:a="http://schemas.openxmlformats.org/drawingml/2006/main" w="9525">
            <a:solidFill>
              <a:srgbClr val="398177"/>
            </a:solidFill>
          </a:ln>
        </p:spPr>
      </p:sp>
      <p:sp>
        <p:nvSpPr>
          <p:cNvPr id="25" name="domain-copy">
            <a:extLst xmlns:a="http://schemas.openxmlformats.org/drawingml/2006/main">
              <a:ext uri="{FF2B5EF4-FFF2-40B4-BE49-F238E27FC236}">
                <a16:creationId xmlns:a16="http://schemas.microsoft.com/office/drawing/2014/main" id="{47E4231E-732A-49A2-AD57-8B9C824D6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3590925"/>
            <a:ext cx="2157413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C3C3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C3C39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C3C39"/>
                </a:solidFill>
                <a:latin typeface="Malgun Gothic"/>
                <a:ea typeface="Malgun Gothic"/>
                <a:cs typeface="Malgun Gothic"/>
              </a:rPr>
              <a:t>보완·승인</a:t>
            </a:r>
          </a:p>
        </p:txBody>
      </p:sp>
      <p:sp>
        <p:nvSpPr>
          <p:cNvPr id="26" name="domain-copy">
            <a:extLst xmlns:a="http://schemas.openxmlformats.org/drawingml/2006/main">
              <a:ext uri="{FF2B5EF4-FFF2-40B4-BE49-F238E27FC236}">
                <a16:creationId xmlns:a16="http://schemas.microsoft.com/office/drawing/2014/main" id="{DC6AFC3A-2620-4B6D-B56A-079D47BFD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4105275"/>
            <a:ext cx="2157413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C3C3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C3C39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C3C39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</p:spTree>
    <p:extLst>
      <p:ext uri="{BB962C8B-B14F-4D97-AF65-F5344CB8AC3E}">
        <p14:creationId xmlns:p14="http://schemas.microsoft.com/office/powerpoint/2010/main" val="37378251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226E5B29-03C8-4A39-924D-0D10B54DD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47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39817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39817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398177"/>
                </a:solidFill>
                <a:latin typeface="Malgun Gothic"/>
                <a:ea typeface="Malgun Gothic"/>
                <a:cs typeface="Malgun Gothic"/>
              </a:rPr>
              <a:t>공사·시설 / 수행 계획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252963C1-0F68-46F8-AA48-26F7685E2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C3C3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1C3C39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1C3C39"/>
                </a:solidFill>
                <a:latin typeface="Malgun Gothic"/>
                <a:ea typeface="Malgun Gothic"/>
                <a:cs typeface="Malgun Gothic"/>
              </a:rPr>
              <a:t>공종별 위험과 통제</a:t>
            </a:r>
          </a:p>
        </p:txBody>
      </p:sp>
      <p:sp>
        <p:nvSpPr>
          <p:cNvPr id="3" name="domain-copy">
            <a:extLst xmlns:a="http://schemas.openxmlformats.org/drawingml/2006/main">
              <a:ext uri="{FF2B5EF4-FFF2-40B4-BE49-F238E27FC236}">
                <a16:creationId xmlns:a16="http://schemas.microsoft.com/office/drawing/2014/main" id="{65282D5F-880E-4257-BE23-2333F983C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C3C3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C3C39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C3C39"/>
                </a:solidFill>
                <a:latin typeface="Malgun Gothic"/>
                <a:ea typeface="Malgun Gothic"/>
                <a:cs typeface="Malgun Gothic"/>
              </a:rPr>
              <a:t>위험 요소는 현장별 평가 후 통제 방법과 작업 책임자를 확정합니다.</a:t>
            </a:r>
          </a:p>
        </p:txBody>
      </p:sp>
      <p:sp>
        <p:nvSpPr>
          <p:cNvPr id="4" name="bid3-fixed-rule">
            <a:extLst xmlns:a="http://schemas.openxmlformats.org/drawingml/2006/main">
              <a:ext uri="{FF2B5EF4-FFF2-40B4-BE49-F238E27FC236}">
                <a16:creationId xmlns:a16="http://schemas.microsoft.com/office/drawing/2014/main" id="{F1EBF0AF-7699-4203-AB02-8EFE2C87D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19350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8177"/>
          </a:solidFill>
          <a:ln xmlns:a="http://schemas.openxmlformats.org/drawingml/2006/main" w="0">
            <a:noFill/>
          </a:ln>
        </p:spPr>
      </p:sp>
      <p:sp>
        <p:nvSpPr>
          <p:cNvPr id="5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FD76A3D7-09A5-45BA-80C0-F62A0110F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39817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39817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398177"/>
                </a:solidFill>
                <a:latin typeface="Malgun Gothic"/>
                <a:ea typeface="Malgun Gothic"/>
                <a:cs typeface="Malgun Gothic"/>
              </a:rPr>
              <a:t>공사·시설 제안서</a:t>
            </a:r>
          </a:p>
        </p:txBody>
      </p:sp>
      <p:sp>
        <p:nvSpPr>
          <p:cNvPr id="6" name="bid3-fixed-status">
            <a:extLst xmlns:a="http://schemas.openxmlformats.org/drawingml/2006/main">
              <a:ext uri="{FF2B5EF4-FFF2-40B4-BE49-F238E27FC236}">
                <a16:creationId xmlns:a16="http://schemas.microsoft.com/office/drawing/2014/main" id="{1905432A-5BD5-413C-8CD4-3B35BA2E1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372225"/>
            <a:ext cx="442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39817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3981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398177"/>
                </a:solidFill>
                <a:latin typeface="Malgun Gothic"/>
                <a:ea typeface="Malgun Gothic"/>
                <a:cs typeface="Malgun Gothic"/>
              </a:rPr>
              <a:t>분야별 작성 양식</a:t>
            </a:r>
          </a:p>
        </p:txBody>
      </p:sp>
      <p:sp>
        <p:nvSpPr>
          <p:cNvPr id="7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E7C214E8-E7DD-4F83-9B5F-41E3A7AD8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6334125"/>
            <a:ext cx="4667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650" b="1">
                <a:solidFill>
                  <a:srgbClr val="39817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650" b="1">
                <a:solidFill>
                  <a:srgbClr val="398177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398177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  <p:graphicFrame>
        <p:nvGraphicFrame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E36FCB-5E9D-44C2-9C97-616372AF37CB}"/>
              </a:ext>
            </a:extLst>
          </p:cNvPr>
          <p:cNvGraphicFramePr/>
          <p:nvPr/>
        </p:nvGraphicFramePr>
        <p:xfrm>
          <a:off xmlns:a="http://schemas.openxmlformats.org/drawingml/2006/main" x="609600" y="2657475"/>
          <a:ext xmlns:a="http://schemas.openxmlformats.org/drawingml/2006/main" cx="10972800" cy="32099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4343400"/>
                <a:gridCol w="4343400"/>
              </a:tblGrid>
              <a:tr h="590550"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작업 위험</a:t>
                      </a:r>
                    </a:p>
                  </a:txBody>
                  <a:tcPr marL="142875" marR="142875" marT="114300" marB="95250" anchor="ctr">
                    <a:solidFill>
                      <a:srgbClr val="1C3C3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사전 통제안</a:t>
                      </a:r>
                    </a:p>
                  </a:txBody>
                  <a:tcPr marL="142875" marR="142875" marT="114300" marB="95250" anchor="ctr">
                    <a:solidFill>
                      <a:srgbClr val="1C3C3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작업 전 확인</a:t>
                      </a:r>
                    </a:p>
                  </a:txBody>
                  <a:tcPr marL="142875" marR="142875" marT="114300" marB="95250" anchor="ctr">
                    <a:solidFill>
                      <a:srgbClr val="1C3C39"/>
                    </a:solidFill>
                  </a:tcPr>
                </a:tc>
              </a:tr>
              <a:tr h="873125"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1C3C3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고소·낙하</a:t>
                      </a:r>
                    </a:p>
                  </a:txBody>
                  <a:tcPr marL="142875" marR="142875" marT="114300" marB="95250" anchor="ctr">
                    <a:solidFill>
                      <a:srgbClr val="E3EF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C3C3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사업에 맞는 세부 내용 작성</a:t>
                      </a:r>
                    </a:p>
                  </a:txBody>
                  <a:tcPr marL="142875" marR="142875" marT="114300" marB="95250" anchor="ctr">
                    <a:solidFill>
                      <a:srgbClr val="E3EF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C3C3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조건·기준·근거 확인 필요</a:t>
                      </a:r>
                    </a:p>
                  </a:txBody>
                  <a:tcPr marL="142875" marR="142875" marT="114300" marB="95250" anchor="ctr">
                    <a:solidFill>
                      <a:srgbClr val="E3EFEB"/>
                    </a:solidFill>
                  </a:tcPr>
                </a:tc>
              </a:tr>
              <a:tr h="873125"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1C3C3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화기·전기</a:t>
                      </a:r>
                    </a:p>
                  </a:txBody>
                  <a:tcPr marL="142875" marR="142875" marT="114300" marB="95250" anchor="ctr">
                    <a:solidFill>
                      <a:srgbClr val="F8FA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C3C3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사업에 맞는 세부 내용 작성</a:t>
                      </a:r>
                    </a:p>
                  </a:txBody>
                  <a:tcPr marL="142875" marR="142875" marT="114300" marB="95250" anchor="ctr">
                    <a:solidFill>
                      <a:srgbClr val="F8FA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C3C3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조건·기준·근거 확인 필요</a:t>
                      </a:r>
                    </a:p>
                  </a:txBody>
                  <a:tcPr marL="142875" marR="142875" marT="114300" marB="95250" anchor="ctr">
                    <a:solidFill>
                      <a:srgbClr val="F8FAF9"/>
                    </a:solidFill>
                  </a:tcPr>
                </a:tc>
              </a:tr>
              <a:tr h="873125"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1C3C3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분진·소음</a:t>
                      </a:r>
                    </a:p>
                  </a:txBody>
                  <a:tcPr marL="142875" marR="142875" marT="114300" marB="95250" anchor="ctr">
                    <a:solidFill>
                      <a:srgbClr val="E3EF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C3C3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사업에 맞는 세부 내용 작성</a:t>
                      </a:r>
                    </a:p>
                  </a:txBody>
                  <a:tcPr marL="142875" marR="142875" marT="114300" marB="95250" anchor="ctr">
                    <a:solidFill>
                      <a:srgbClr val="E3EF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C3C3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조건·기준·근거 확인 필요</a:t>
                      </a:r>
                    </a:p>
                  </a:txBody>
                  <a:tcPr marL="142875" marR="142875" marT="114300" marB="95250" anchor="ctr">
                    <a:solidFill>
                      <a:srgbClr val="E3EFEB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0786130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48CFF394-F6BB-4841-8FCD-A54CC00CD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47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39817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39817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398177"/>
                </a:solidFill>
                <a:latin typeface="Malgun Gothic"/>
                <a:ea typeface="Malgun Gothic"/>
                <a:cs typeface="Malgun Gothic"/>
              </a:rPr>
              <a:t>공사·시설 / 수행 계획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B9E4715E-020C-49B5-9070-C28D58E4B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C3C3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1C3C39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1C3C39"/>
                </a:solidFill>
                <a:latin typeface="Malgun Gothic"/>
                <a:ea typeface="Malgun Gothic"/>
                <a:cs typeface="Malgun Gothic"/>
              </a:rPr>
              <a:t>이용자와 작업 동선 분리</a:t>
            </a:r>
          </a:p>
        </p:txBody>
      </p:sp>
      <p:sp>
        <p:nvSpPr>
          <p:cNvPr id="3" name="domain-copy">
            <a:extLst xmlns:a="http://schemas.openxmlformats.org/drawingml/2006/main">
              <a:ext uri="{FF2B5EF4-FFF2-40B4-BE49-F238E27FC236}">
                <a16:creationId xmlns:a16="http://schemas.microsoft.com/office/drawing/2014/main" id="{DC5F5BE8-4B0E-4EFE-AED7-53C89BF68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C3C3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C3C39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C3C39"/>
                </a:solidFill>
                <a:latin typeface="Malgun Gothic"/>
                <a:ea typeface="Malgun Gothic"/>
                <a:cs typeface="Malgun Gothic"/>
              </a:rPr>
              <a:t>아래는 동선 관리의 개념이며 실제 배치는 현장 도면으로 확정합니다.</a:t>
            </a:r>
          </a:p>
        </p:txBody>
      </p:sp>
      <p:sp>
        <p:nvSpPr>
          <p:cNvPr id="4" name="bid3-fixed-rule">
            <a:extLst xmlns:a="http://schemas.openxmlformats.org/drawingml/2006/main">
              <a:ext uri="{FF2B5EF4-FFF2-40B4-BE49-F238E27FC236}">
                <a16:creationId xmlns:a16="http://schemas.microsoft.com/office/drawing/2014/main" id="{38618987-E509-4141-81AF-83E1C0B3D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19350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8177"/>
          </a:solidFill>
          <a:ln xmlns:a="http://schemas.openxmlformats.org/drawingml/2006/main" w="0">
            <a:noFill/>
          </a:ln>
        </p:spPr>
      </p:sp>
      <p:sp>
        <p:nvSpPr>
          <p:cNvPr id="5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8E5803F7-B1E3-4668-AE5F-B786268EA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39817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39817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398177"/>
                </a:solidFill>
                <a:latin typeface="Malgun Gothic"/>
                <a:ea typeface="Malgun Gothic"/>
                <a:cs typeface="Malgun Gothic"/>
              </a:rPr>
              <a:t>공사·시설 제안서</a:t>
            </a:r>
          </a:p>
        </p:txBody>
      </p:sp>
      <p:sp>
        <p:nvSpPr>
          <p:cNvPr id="6" name="bid3-fixed-status">
            <a:extLst xmlns:a="http://schemas.openxmlformats.org/drawingml/2006/main">
              <a:ext uri="{FF2B5EF4-FFF2-40B4-BE49-F238E27FC236}">
                <a16:creationId xmlns:a16="http://schemas.microsoft.com/office/drawing/2014/main" id="{C0A76131-E442-4DB2-BE88-0C3B38F8D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372225"/>
            <a:ext cx="442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39817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3981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398177"/>
                </a:solidFill>
                <a:latin typeface="Malgun Gothic"/>
                <a:ea typeface="Malgun Gothic"/>
                <a:cs typeface="Malgun Gothic"/>
              </a:rPr>
              <a:t>분야별 작성 양식</a:t>
            </a:r>
          </a:p>
        </p:txBody>
      </p:sp>
      <p:sp>
        <p:nvSpPr>
          <p:cNvPr id="7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89D4BBCF-1A10-4C8C-80FF-2B9A1AFE5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6334125"/>
            <a:ext cx="4667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650" b="1">
                <a:solidFill>
                  <a:srgbClr val="39817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650" b="1">
                <a:solidFill>
                  <a:srgbClr val="398177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398177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  <p:sp>
        <p:nvSpPr>
          <p:cNvPr id="8" name="domain-copy">
            <a:extLst xmlns:a="http://schemas.openxmlformats.org/drawingml/2006/main">
              <a:ext uri="{FF2B5EF4-FFF2-40B4-BE49-F238E27FC236}">
                <a16:creationId xmlns:a16="http://schemas.microsoft.com/office/drawing/2014/main" id="{DD7B54CF-D32D-40DF-BDE6-3469BA713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95575"/>
            <a:ext cx="247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39817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398177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398177"/>
                </a:solidFill>
                <a:latin typeface="Malgun Gothic"/>
                <a:ea typeface="Malgun Gothic"/>
                <a:cs typeface="Malgun Gothic"/>
              </a:rPr>
              <a:t>시설 이용자</a:t>
            </a:r>
          </a:p>
        </p:txBody>
      </p:sp>
      <p:sp>
        <p:nvSpPr>
          <p:cNvPr id="9" name="domain-copy">
            <a:extLst xmlns:a="http://schemas.openxmlformats.org/drawingml/2006/main">
              <a:ext uri="{FF2B5EF4-FFF2-40B4-BE49-F238E27FC236}">
                <a16:creationId xmlns:a16="http://schemas.microsoft.com/office/drawing/2014/main" id="{8B8069FA-E1FB-4961-8B86-9E5BC3EE8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714625"/>
            <a:ext cx="4476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C3C3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C3C39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C3C39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  <p:sp>
        <p:nvSpPr>
          <p:cNvPr id="10" name="domain-copy">
            <a:extLst xmlns:a="http://schemas.openxmlformats.org/drawingml/2006/main">
              <a:ext uri="{FF2B5EF4-FFF2-40B4-BE49-F238E27FC236}">
                <a16:creationId xmlns:a16="http://schemas.microsoft.com/office/drawing/2014/main" id="{52F70581-86A5-4139-B382-4424DB421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2714625"/>
            <a:ext cx="34956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C3C3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C3C39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C3C39"/>
                </a:solidFill>
                <a:latin typeface="Malgun Gothic"/>
                <a:ea typeface="Malgun Gothic"/>
                <a:cs typeface="Malgun Gothic"/>
              </a:rPr>
              <a:t>조건·기준·근거 확인 필요</a:t>
            </a:r>
          </a:p>
        </p:txBody>
      </p:sp>
      <p:sp>
        <p:nvSpPr>
          <p:cNvPr id="11" name="bid3-fixed-rule">
            <a:extLst xmlns:a="http://schemas.openxmlformats.org/drawingml/2006/main">
              <a:ext uri="{FF2B5EF4-FFF2-40B4-BE49-F238E27FC236}">
                <a16:creationId xmlns:a16="http://schemas.microsoft.com/office/drawing/2014/main" id="{99B68DFC-CF05-47B4-AB83-0018FF7EB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FEB"/>
          </a:solidFill>
          <a:ln xmlns:a="http://schemas.openxmlformats.org/drawingml/2006/main" w="0">
            <a:noFill/>
          </a:ln>
        </p:spPr>
      </p:sp>
      <p:sp>
        <p:nvSpPr>
          <p:cNvPr id="12" name="domain-copy">
            <a:extLst xmlns:a="http://schemas.openxmlformats.org/drawingml/2006/main">
              <a:ext uri="{FF2B5EF4-FFF2-40B4-BE49-F238E27FC236}">
                <a16:creationId xmlns:a16="http://schemas.microsoft.com/office/drawing/2014/main" id="{8D5044A3-C54C-4ECB-8C65-F8265AA0F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62375"/>
            <a:ext cx="247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39817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398177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398177"/>
                </a:solidFill>
                <a:latin typeface="Malgun Gothic"/>
                <a:ea typeface="Malgun Gothic"/>
                <a:cs typeface="Malgun Gothic"/>
              </a:rPr>
              <a:t>자재·장비</a:t>
            </a:r>
          </a:p>
        </p:txBody>
      </p:sp>
      <p:sp>
        <p:nvSpPr>
          <p:cNvPr id="13" name="domain-copy">
            <a:extLst xmlns:a="http://schemas.openxmlformats.org/drawingml/2006/main">
              <a:ext uri="{FF2B5EF4-FFF2-40B4-BE49-F238E27FC236}">
                <a16:creationId xmlns:a16="http://schemas.microsoft.com/office/drawing/2014/main" id="{0B1D95DC-8E3A-4807-A16D-D34516868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781425"/>
            <a:ext cx="4476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C3C3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C3C39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C3C39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  <p:sp>
        <p:nvSpPr>
          <p:cNvPr id="14" name="domain-copy">
            <a:extLst xmlns:a="http://schemas.openxmlformats.org/drawingml/2006/main">
              <a:ext uri="{FF2B5EF4-FFF2-40B4-BE49-F238E27FC236}">
                <a16:creationId xmlns:a16="http://schemas.microsoft.com/office/drawing/2014/main" id="{80636962-31DC-4849-A645-FB24B90B7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3781425"/>
            <a:ext cx="34956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C3C3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C3C39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C3C39"/>
                </a:solidFill>
                <a:latin typeface="Malgun Gothic"/>
                <a:ea typeface="Malgun Gothic"/>
                <a:cs typeface="Malgun Gothic"/>
              </a:rPr>
              <a:t>조건·기준·근거 확인 필요</a:t>
            </a:r>
          </a:p>
        </p:txBody>
      </p:sp>
      <p:sp>
        <p:nvSpPr>
          <p:cNvPr id="15" name="bid3-fixed-rule">
            <a:extLst xmlns:a="http://schemas.openxmlformats.org/drawingml/2006/main">
              <a:ext uri="{FF2B5EF4-FFF2-40B4-BE49-F238E27FC236}">
                <a16:creationId xmlns:a16="http://schemas.microsoft.com/office/drawing/2014/main" id="{D74CC519-9B56-4AC0-9FD9-1EBDD8C84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91050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FEB"/>
          </a:solidFill>
          <a:ln xmlns:a="http://schemas.openxmlformats.org/drawingml/2006/main" w="0">
            <a:noFill/>
          </a:ln>
        </p:spPr>
      </p:sp>
      <p:sp>
        <p:nvSpPr>
          <p:cNvPr id="16" name="domain-copy">
            <a:extLst xmlns:a="http://schemas.openxmlformats.org/drawingml/2006/main">
              <a:ext uri="{FF2B5EF4-FFF2-40B4-BE49-F238E27FC236}">
                <a16:creationId xmlns:a16="http://schemas.microsoft.com/office/drawing/2014/main" id="{CFD4C41A-2AAF-4079-83E7-018628347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29175"/>
            <a:ext cx="247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39817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398177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398177"/>
                </a:solidFill>
                <a:latin typeface="Malgun Gothic"/>
                <a:ea typeface="Malgun Gothic"/>
                <a:cs typeface="Malgun Gothic"/>
              </a:rPr>
              <a:t>비상 이동</a:t>
            </a:r>
          </a:p>
        </p:txBody>
      </p:sp>
      <p:sp>
        <p:nvSpPr>
          <p:cNvPr id="17" name="domain-copy">
            <a:extLst xmlns:a="http://schemas.openxmlformats.org/drawingml/2006/main">
              <a:ext uri="{FF2B5EF4-FFF2-40B4-BE49-F238E27FC236}">
                <a16:creationId xmlns:a16="http://schemas.microsoft.com/office/drawing/2014/main" id="{3BCEF34F-6163-450F-A126-B946B3DE4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848225"/>
            <a:ext cx="4476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C3C3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C3C39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C3C39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  <p:sp>
        <p:nvSpPr>
          <p:cNvPr id="18" name="domain-copy">
            <a:extLst xmlns:a="http://schemas.openxmlformats.org/drawingml/2006/main">
              <a:ext uri="{FF2B5EF4-FFF2-40B4-BE49-F238E27FC236}">
                <a16:creationId xmlns:a16="http://schemas.microsoft.com/office/drawing/2014/main" id="{6C119C74-1833-426E-AC36-036C1B181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4848225"/>
            <a:ext cx="34956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C3C3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C3C39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C3C39"/>
                </a:solidFill>
                <a:latin typeface="Malgun Gothic"/>
                <a:ea typeface="Malgun Gothic"/>
                <a:cs typeface="Malgun Gothic"/>
              </a:rPr>
              <a:t>조건·기준·근거 확인 필요</a:t>
            </a:r>
          </a:p>
        </p:txBody>
      </p:sp>
    </p:spTree>
    <p:extLst>
      <p:ext uri="{BB962C8B-B14F-4D97-AF65-F5344CB8AC3E}">
        <p14:creationId xmlns:p14="http://schemas.microsoft.com/office/powerpoint/2010/main" val="127685205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F251AC68-A808-4671-B952-9CE9B1CAE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47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39817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39817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398177"/>
                </a:solidFill>
                <a:latin typeface="Malgun Gothic"/>
                <a:ea typeface="Malgun Gothic"/>
                <a:cs typeface="Malgun Gothic"/>
              </a:rPr>
              <a:t>공사·시설 / 수행 계획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F03AE7A4-9DDD-49A1-8E97-974D9FE6C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C3C3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1C3C39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1C3C39"/>
                </a:solidFill>
                <a:latin typeface="Malgun Gothic"/>
                <a:ea typeface="Malgun Gothic"/>
                <a:cs typeface="Malgun Gothic"/>
              </a:rPr>
              <a:t>자재·장비 반입 운영</a:t>
            </a:r>
          </a:p>
        </p:txBody>
      </p:sp>
      <p:sp>
        <p:nvSpPr>
          <p:cNvPr id="3" name="domain-copy">
            <a:extLst xmlns:a="http://schemas.openxmlformats.org/drawingml/2006/main">
              <a:ext uri="{FF2B5EF4-FFF2-40B4-BE49-F238E27FC236}">
                <a16:creationId xmlns:a16="http://schemas.microsoft.com/office/drawing/2014/main" id="{0D49DC51-2E65-4E45-835C-968EEE173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C3C3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C3C39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C3C39"/>
                </a:solidFill>
                <a:latin typeface="Malgun Gothic"/>
                <a:ea typeface="Malgun Gothic"/>
                <a:cs typeface="Malgun Gothic"/>
              </a:rPr>
              <a:t>승인된 반입 계획과 현장의 사용 가능 상태를 함께 확인합니다.</a:t>
            </a:r>
          </a:p>
        </p:txBody>
      </p:sp>
      <p:sp>
        <p:nvSpPr>
          <p:cNvPr id="4" name="bid3-fixed-rule">
            <a:extLst xmlns:a="http://schemas.openxmlformats.org/drawingml/2006/main">
              <a:ext uri="{FF2B5EF4-FFF2-40B4-BE49-F238E27FC236}">
                <a16:creationId xmlns:a16="http://schemas.microsoft.com/office/drawing/2014/main" id="{D61285D0-1ED5-4719-A100-62C021941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19350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8177"/>
          </a:solidFill>
          <a:ln xmlns:a="http://schemas.openxmlformats.org/drawingml/2006/main" w="0">
            <a:noFill/>
          </a:ln>
        </p:spPr>
      </p:sp>
      <p:sp>
        <p:nvSpPr>
          <p:cNvPr id="5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FADE9499-49F9-49A2-941C-5980CD443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39817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39817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398177"/>
                </a:solidFill>
                <a:latin typeface="Malgun Gothic"/>
                <a:ea typeface="Malgun Gothic"/>
                <a:cs typeface="Malgun Gothic"/>
              </a:rPr>
              <a:t>공사·시설 제안서</a:t>
            </a:r>
          </a:p>
        </p:txBody>
      </p:sp>
      <p:sp>
        <p:nvSpPr>
          <p:cNvPr id="6" name="bid3-fixed-status">
            <a:extLst xmlns:a="http://schemas.openxmlformats.org/drawingml/2006/main">
              <a:ext uri="{FF2B5EF4-FFF2-40B4-BE49-F238E27FC236}">
                <a16:creationId xmlns:a16="http://schemas.microsoft.com/office/drawing/2014/main" id="{568A06F1-D16D-4932-9E9F-B8DBB0E11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372225"/>
            <a:ext cx="442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39817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3981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398177"/>
                </a:solidFill>
                <a:latin typeface="Malgun Gothic"/>
                <a:ea typeface="Malgun Gothic"/>
                <a:cs typeface="Malgun Gothic"/>
              </a:rPr>
              <a:t>분야별 작성 양식</a:t>
            </a:r>
          </a:p>
        </p:txBody>
      </p:sp>
      <p:sp>
        <p:nvSpPr>
          <p:cNvPr id="7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5BE3992D-2168-4BC4-BA7E-2DBE86B76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6334125"/>
            <a:ext cx="4667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650" b="1">
                <a:solidFill>
                  <a:srgbClr val="39817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650" b="1">
                <a:solidFill>
                  <a:srgbClr val="398177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398177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8" name="domain-copy">
            <a:extLst xmlns:a="http://schemas.openxmlformats.org/drawingml/2006/main">
              <a:ext uri="{FF2B5EF4-FFF2-40B4-BE49-F238E27FC236}">
                <a16:creationId xmlns:a16="http://schemas.microsoft.com/office/drawing/2014/main" id="{2BDD003C-BEA9-43B6-905B-93A480075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2500313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39817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398177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398177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9" name="domain-diagram-node">
            <a:extLst xmlns:a="http://schemas.openxmlformats.org/drawingml/2006/main">
              <a:ext uri="{FF2B5EF4-FFF2-40B4-BE49-F238E27FC236}">
                <a16:creationId xmlns:a16="http://schemas.microsoft.com/office/drawing/2014/main" id="{94699DAB-70BC-4501-B1D5-87104DECA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19475"/>
            <a:ext cx="2500313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FEB"/>
          </a:solidFill>
          <a:ln xmlns:a="http://schemas.openxmlformats.org/drawingml/2006/main" w="9525">
            <a:solidFill>
              <a:srgbClr val="398177"/>
            </a:solidFill>
          </a:ln>
        </p:spPr>
      </p:sp>
      <p:sp>
        <p:nvSpPr>
          <p:cNvPr id="10" name="domain-copy">
            <a:extLst xmlns:a="http://schemas.openxmlformats.org/drawingml/2006/main">
              <a:ext uri="{FF2B5EF4-FFF2-40B4-BE49-F238E27FC236}">
                <a16:creationId xmlns:a16="http://schemas.microsoft.com/office/drawing/2014/main" id="{CDD082D2-6E54-4659-B3A9-ADCCA2D21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90925"/>
            <a:ext cx="2157413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C3C3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C3C39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C3C39"/>
                </a:solidFill>
                <a:latin typeface="Malgun Gothic"/>
                <a:ea typeface="Malgun Gothic"/>
                <a:cs typeface="Malgun Gothic"/>
              </a:rPr>
              <a:t>계획</a:t>
            </a:r>
          </a:p>
        </p:txBody>
      </p:sp>
      <p:sp>
        <p:nvSpPr>
          <p:cNvPr id="11" name="domain-copy">
            <a:extLst xmlns:a="http://schemas.openxmlformats.org/drawingml/2006/main">
              <a:ext uri="{FF2B5EF4-FFF2-40B4-BE49-F238E27FC236}">
                <a16:creationId xmlns:a16="http://schemas.microsoft.com/office/drawing/2014/main" id="{9DDF2AAD-456F-4346-8E9B-86FCE0040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05275"/>
            <a:ext cx="2157413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C3C3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C3C39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C3C39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  <p:cxnSp>
        <p:nvCxnSpPr>
          <p:cNvPr id="12" name="domain-diagram-connection">
            <a:extLst xmlns:a="http://schemas.openxmlformats.org/drawingml/2006/main">
              <a:ext uri="{FF2B5EF4-FFF2-40B4-BE49-F238E27FC236}">
                <a16:creationId xmlns:a16="http://schemas.microsoft.com/office/drawing/2014/main" id="{0E31C767-DB77-4D2D-B9C0-5BB38A737FA4}"/>
              </a:ext>
            </a:extLst>
          </p:cNvPr>
          <p:cNvCxnSpPr/>
          <p:nvPr/>
        </p:nvCxnSpPr>
        <p:spPr>
          <a:xfrm xmlns:a="http://schemas.openxmlformats.org/drawingml/2006/main">
            <a:off x="3109913" y="4438650"/>
            <a:ext cx="323850" cy="0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398177"/>
            </a:solidFill>
          </a:ln>
        </p:spPr>
      </p:cxnSp>
      <p:sp>
        <p:nvSpPr>
          <p:cNvPr id="13" name="domain-copy">
            <a:extLst xmlns:a="http://schemas.openxmlformats.org/drawingml/2006/main">
              <a:ext uri="{FF2B5EF4-FFF2-40B4-BE49-F238E27FC236}">
                <a16:creationId xmlns:a16="http://schemas.microsoft.com/office/drawing/2014/main" id="{30B10913-FDDA-4300-8122-1640DB8B5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3763" y="2686050"/>
            <a:ext cx="2500313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39817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398177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398177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4" name="domain-diagram-node">
            <a:extLst xmlns:a="http://schemas.openxmlformats.org/drawingml/2006/main">
              <a:ext uri="{FF2B5EF4-FFF2-40B4-BE49-F238E27FC236}">
                <a16:creationId xmlns:a16="http://schemas.microsoft.com/office/drawing/2014/main" id="{879979A8-B0AD-432E-B7BB-04F0C2781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3763" y="3419475"/>
            <a:ext cx="2500313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FEB"/>
          </a:solidFill>
          <a:ln xmlns:a="http://schemas.openxmlformats.org/drawingml/2006/main" w="9525">
            <a:solidFill>
              <a:srgbClr val="398177"/>
            </a:solidFill>
          </a:ln>
        </p:spPr>
      </p:sp>
      <p:sp>
        <p:nvSpPr>
          <p:cNvPr id="15" name="domain-copy">
            <a:extLst xmlns:a="http://schemas.openxmlformats.org/drawingml/2006/main">
              <a:ext uri="{FF2B5EF4-FFF2-40B4-BE49-F238E27FC236}">
                <a16:creationId xmlns:a16="http://schemas.microsoft.com/office/drawing/2014/main" id="{DBA232FE-536B-4186-B8E6-86E84EF16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5213" y="3590925"/>
            <a:ext cx="2157413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C3C3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C3C39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C3C39"/>
                </a:solidFill>
                <a:latin typeface="Malgun Gothic"/>
                <a:ea typeface="Malgun Gothic"/>
                <a:cs typeface="Malgun Gothic"/>
              </a:rPr>
              <a:t>입고</a:t>
            </a:r>
          </a:p>
        </p:txBody>
      </p:sp>
      <p:sp>
        <p:nvSpPr>
          <p:cNvPr id="16" name="domain-copy">
            <a:extLst xmlns:a="http://schemas.openxmlformats.org/drawingml/2006/main">
              <a:ext uri="{FF2B5EF4-FFF2-40B4-BE49-F238E27FC236}">
                <a16:creationId xmlns:a16="http://schemas.microsoft.com/office/drawing/2014/main" id="{4B7F710E-32E3-4281-90A2-C42E4C837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5213" y="4105275"/>
            <a:ext cx="2157413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C3C3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C3C39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C3C39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  <p:cxnSp>
        <p:nvCxnSpPr>
          <p:cNvPr id="17" name="domain-diagram-connection">
            <a:extLst xmlns:a="http://schemas.openxmlformats.org/drawingml/2006/main">
              <a:ext uri="{FF2B5EF4-FFF2-40B4-BE49-F238E27FC236}">
                <a16:creationId xmlns:a16="http://schemas.microsoft.com/office/drawing/2014/main" id="{6A960B7F-6621-4F40-AF94-D5E531C54411}"/>
              </a:ext>
            </a:extLst>
          </p:cNvPr>
          <p:cNvCxnSpPr/>
          <p:nvPr/>
        </p:nvCxnSpPr>
        <p:spPr>
          <a:xfrm xmlns:a="http://schemas.openxmlformats.org/drawingml/2006/main">
            <a:off x="5934075" y="4438650"/>
            <a:ext cx="323850" cy="0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398177"/>
            </a:solidFill>
          </a:ln>
        </p:spPr>
      </p:cxnSp>
      <p:sp>
        <p:nvSpPr>
          <p:cNvPr id="18" name="domain-copy">
            <a:extLst xmlns:a="http://schemas.openxmlformats.org/drawingml/2006/main">
              <a:ext uri="{FF2B5EF4-FFF2-40B4-BE49-F238E27FC236}">
                <a16:creationId xmlns:a16="http://schemas.microsoft.com/office/drawing/2014/main" id="{1F35F470-51E4-46E5-AF68-1B689BEBA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686050"/>
            <a:ext cx="2500313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39817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398177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398177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9" name="domain-diagram-node">
            <a:extLst xmlns:a="http://schemas.openxmlformats.org/drawingml/2006/main">
              <a:ext uri="{FF2B5EF4-FFF2-40B4-BE49-F238E27FC236}">
                <a16:creationId xmlns:a16="http://schemas.microsoft.com/office/drawing/2014/main" id="{38B4EE4C-5CD0-4EFB-B301-2E9DD22F6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419475"/>
            <a:ext cx="2500313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FEB"/>
          </a:solidFill>
          <a:ln xmlns:a="http://schemas.openxmlformats.org/drawingml/2006/main" w="9525">
            <a:solidFill>
              <a:srgbClr val="398177"/>
            </a:solidFill>
          </a:ln>
        </p:spPr>
      </p:sp>
      <p:sp>
        <p:nvSpPr>
          <p:cNvPr id="20" name="domain-copy">
            <a:extLst xmlns:a="http://schemas.openxmlformats.org/drawingml/2006/main">
              <a:ext uri="{FF2B5EF4-FFF2-40B4-BE49-F238E27FC236}">
                <a16:creationId xmlns:a16="http://schemas.microsoft.com/office/drawing/2014/main" id="{B340B0D4-ADBF-452B-9C99-152A6F950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590925"/>
            <a:ext cx="2157413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C3C3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C3C39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C3C39"/>
                </a:solidFill>
                <a:latin typeface="Malgun Gothic"/>
                <a:ea typeface="Malgun Gothic"/>
                <a:cs typeface="Malgun Gothic"/>
              </a:rPr>
              <a:t>적치</a:t>
            </a:r>
          </a:p>
        </p:txBody>
      </p:sp>
      <p:sp>
        <p:nvSpPr>
          <p:cNvPr id="21" name="domain-copy">
            <a:extLst xmlns:a="http://schemas.openxmlformats.org/drawingml/2006/main">
              <a:ext uri="{FF2B5EF4-FFF2-40B4-BE49-F238E27FC236}">
                <a16:creationId xmlns:a16="http://schemas.microsoft.com/office/drawing/2014/main" id="{1EB545EF-22F3-4856-8A7B-5165B2302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105275"/>
            <a:ext cx="2157413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C3C3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C3C39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C3C39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  <p:cxnSp>
        <p:nvCxnSpPr>
          <p:cNvPr id="22" name="domain-diagram-connection">
            <a:extLst xmlns:a="http://schemas.openxmlformats.org/drawingml/2006/main">
              <a:ext uri="{FF2B5EF4-FFF2-40B4-BE49-F238E27FC236}">
                <a16:creationId xmlns:a16="http://schemas.microsoft.com/office/drawing/2014/main" id="{C9B0A229-4F3E-47F3-92A9-A329A5A4309D}"/>
              </a:ext>
            </a:extLst>
          </p:cNvPr>
          <p:cNvCxnSpPr/>
          <p:nvPr/>
        </p:nvCxnSpPr>
        <p:spPr>
          <a:xfrm xmlns:a="http://schemas.openxmlformats.org/drawingml/2006/main">
            <a:off x="8758238" y="4438650"/>
            <a:ext cx="323850" cy="0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398177"/>
            </a:solidFill>
          </a:ln>
        </p:spPr>
      </p:cxnSp>
      <p:sp>
        <p:nvSpPr>
          <p:cNvPr id="23" name="domain-copy">
            <a:extLst xmlns:a="http://schemas.openxmlformats.org/drawingml/2006/main">
              <a:ext uri="{FF2B5EF4-FFF2-40B4-BE49-F238E27FC236}">
                <a16:creationId xmlns:a16="http://schemas.microsoft.com/office/drawing/2014/main" id="{BF3E9A85-9FEF-4F67-B342-8109ECFF2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2088" y="2686050"/>
            <a:ext cx="2500313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39817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398177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398177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24" name="domain-diagram-node">
            <a:extLst xmlns:a="http://schemas.openxmlformats.org/drawingml/2006/main">
              <a:ext uri="{FF2B5EF4-FFF2-40B4-BE49-F238E27FC236}">
                <a16:creationId xmlns:a16="http://schemas.microsoft.com/office/drawing/2014/main" id="{91B33856-84BE-479C-9E9C-1D631FD30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2088" y="3419475"/>
            <a:ext cx="2500313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FEB"/>
          </a:solidFill>
          <a:ln xmlns:a="http://schemas.openxmlformats.org/drawingml/2006/main" w="9525">
            <a:solidFill>
              <a:srgbClr val="398177"/>
            </a:solidFill>
          </a:ln>
        </p:spPr>
      </p:sp>
      <p:sp>
        <p:nvSpPr>
          <p:cNvPr id="25" name="domain-copy">
            <a:extLst xmlns:a="http://schemas.openxmlformats.org/drawingml/2006/main">
              <a:ext uri="{FF2B5EF4-FFF2-40B4-BE49-F238E27FC236}">
                <a16:creationId xmlns:a16="http://schemas.microsoft.com/office/drawing/2014/main" id="{9935C713-09F4-480C-A104-EA3C08C9F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3590925"/>
            <a:ext cx="2157413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C3C3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C3C39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C3C39"/>
                </a:solidFill>
                <a:latin typeface="Malgun Gothic"/>
                <a:ea typeface="Malgun Gothic"/>
                <a:cs typeface="Malgun Gothic"/>
              </a:rPr>
              <a:t>투입</a:t>
            </a:r>
          </a:p>
        </p:txBody>
      </p:sp>
      <p:sp>
        <p:nvSpPr>
          <p:cNvPr id="26" name="domain-copy">
            <a:extLst xmlns:a="http://schemas.openxmlformats.org/drawingml/2006/main">
              <a:ext uri="{FF2B5EF4-FFF2-40B4-BE49-F238E27FC236}">
                <a16:creationId xmlns:a16="http://schemas.microsoft.com/office/drawing/2014/main" id="{DBB1E5CD-D14C-46BA-A771-A6C290F1F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4105275"/>
            <a:ext cx="2157413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C3C3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C3C39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C3C39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</p:spTree>
    <p:extLst>
      <p:ext uri="{BB962C8B-B14F-4D97-AF65-F5344CB8AC3E}">
        <p14:creationId xmlns:p14="http://schemas.microsoft.com/office/powerpoint/2010/main" val="101858815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667B3D0C-DD18-4C02-9678-876840149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47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39817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39817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398177"/>
                </a:solidFill>
                <a:latin typeface="Malgun Gothic"/>
                <a:ea typeface="Malgun Gothic"/>
                <a:cs typeface="Malgun Gothic"/>
              </a:rPr>
              <a:t>공사·시설 / 수행 계획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F73F3ECE-C891-4F04-8D0D-2E87C2CB0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C3C3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1C3C39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1C3C39"/>
                </a:solidFill>
                <a:latin typeface="Malgun Gothic"/>
                <a:ea typeface="Malgun Gothic"/>
                <a:cs typeface="Malgun Gothic"/>
              </a:rPr>
              <a:t>설계 변경과 원가 관리</a:t>
            </a:r>
          </a:p>
        </p:txBody>
      </p:sp>
      <p:sp>
        <p:nvSpPr>
          <p:cNvPr id="3" name="domain-copy">
            <a:extLst xmlns:a="http://schemas.openxmlformats.org/drawingml/2006/main">
              <a:ext uri="{FF2B5EF4-FFF2-40B4-BE49-F238E27FC236}">
                <a16:creationId xmlns:a16="http://schemas.microsoft.com/office/drawing/2014/main" id="{61DB98D5-E8C5-453E-AA5E-D5CF749D4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C3C3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C3C39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C3C39"/>
                </a:solidFill>
                <a:latin typeface="Malgun Gothic"/>
                <a:ea typeface="Malgun Gothic"/>
                <a:cs typeface="Malgun Gothic"/>
              </a:rPr>
              <a:t>변경의 원인·범위·공정 영향을 기록하고 승인 없이 확정하지 않습니다.</a:t>
            </a:r>
          </a:p>
        </p:txBody>
      </p:sp>
      <p:sp>
        <p:nvSpPr>
          <p:cNvPr id="4" name="bid3-fixed-rule">
            <a:extLst xmlns:a="http://schemas.openxmlformats.org/drawingml/2006/main">
              <a:ext uri="{FF2B5EF4-FFF2-40B4-BE49-F238E27FC236}">
                <a16:creationId xmlns:a16="http://schemas.microsoft.com/office/drawing/2014/main" id="{BA14B5B3-1B9E-427A-9FD8-A10A6B2C0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19350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8177"/>
          </a:solidFill>
          <a:ln xmlns:a="http://schemas.openxmlformats.org/drawingml/2006/main" w="0">
            <a:noFill/>
          </a:ln>
        </p:spPr>
      </p:sp>
      <p:sp>
        <p:nvSpPr>
          <p:cNvPr id="5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0F3D3FE3-3816-45FC-9B65-8B0EB7730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39817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39817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398177"/>
                </a:solidFill>
                <a:latin typeface="Malgun Gothic"/>
                <a:ea typeface="Malgun Gothic"/>
                <a:cs typeface="Malgun Gothic"/>
              </a:rPr>
              <a:t>공사·시설 제안서</a:t>
            </a:r>
          </a:p>
        </p:txBody>
      </p:sp>
      <p:sp>
        <p:nvSpPr>
          <p:cNvPr id="6" name="bid3-fixed-status">
            <a:extLst xmlns:a="http://schemas.openxmlformats.org/drawingml/2006/main">
              <a:ext uri="{FF2B5EF4-FFF2-40B4-BE49-F238E27FC236}">
                <a16:creationId xmlns:a16="http://schemas.microsoft.com/office/drawing/2014/main" id="{2090B8D2-D132-4372-A5C2-07C9A5869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372225"/>
            <a:ext cx="442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39817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3981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398177"/>
                </a:solidFill>
                <a:latin typeface="Malgun Gothic"/>
                <a:ea typeface="Malgun Gothic"/>
                <a:cs typeface="Malgun Gothic"/>
              </a:rPr>
              <a:t>분야별 작성 양식</a:t>
            </a:r>
          </a:p>
        </p:txBody>
      </p:sp>
      <p:sp>
        <p:nvSpPr>
          <p:cNvPr id="7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3605D04B-3914-48B3-A832-0B2CAAF7E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6334125"/>
            <a:ext cx="4667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650" b="1">
                <a:solidFill>
                  <a:srgbClr val="39817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650" b="1">
                <a:solidFill>
                  <a:srgbClr val="398177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398177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graphicFrame>
        <p:nvGraphicFrame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5FCE75-2291-49E7-BC4B-183C9475CC9E}"/>
              </a:ext>
            </a:extLst>
          </p:cNvPr>
          <p:cNvGraphicFramePr/>
          <p:nvPr/>
        </p:nvGraphicFramePr>
        <p:xfrm>
          <a:off xmlns:a="http://schemas.openxmlformats.org/drawingml/2006/main" x="609600" y="2657475"/>
          <a:ext xmlns:a="http://schemas.openxmlformats.org/drawingml/2006/main" cx="10972800" cy="32099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4343400"/>
                <a:gridCol w="4343400"/>
              </a:tblGrid>
              <a:tr h="590550"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관리 항목</a:t>
                      </a:r>
                    </a:p>
                  </a:txBody>
                  <a:tcPr marL="142875" marR="142875" marT="114300" marB="95250" anchor="ctr">
                    <a:solidFill>
                      <a:srgbClr val="1C3C3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검토 내용</a:t>
                      </a:r>
                    </a:p>
                  </a:txBody>
                  <a:tcPr marL="142875" marR="142875" marT="114300" marB="95250" anchor="ctr">
                    <a:solidFill>
                      <a:srgbClr val="1C3C3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승인·기록</a:t>
                      </a:r>
                    </a:p>
                  </a:txBody>
                  <a:tcPr marL="142875" marR="142875" marT="114300" marB="95250" anchor="ctr">
                    <a:solidFill>
                      <a:srgbClr val="1C3C39"/>
                    </a:solidFill>
                  </a:tcPr>
                </a:tc>
              </a:tr>
              <a:tr h="873125"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1C3C3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변경 요청</a:t>
                      </a:r>
                    </a:p>
                  </a:txBody>
                  <a:tcPr marL="142875" marR="142875" marT="114300" marB="95250" anchor="ctr">
                    <a:solidFill>
                      <a:srgbClr val="E3EF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C3C3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사업에 맞는 세부 내용 작성</a:t>
                      </a:r>
                    </a:p>
                  </a:txBody>
                  <a:tcPr marL="142875" marR="142875" marT="114300" marB="95250" anchor="ctr">
                    <a:solidFill>
                      <a:srgbClr val="E3EF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C3C3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조건·기준·근거 확인 필요</a:t>
                      </a:r>
                    </a:p>
                  </a:txBody>
                  <a:tcPr marL="142875" marR="142875" marT="114300" marB="95250" anchor="ctr">
                    <a:solidFill>
                      <a:srgbClr val="E3EFEB"/>
                    </a:solidFill>
                  </a:tcPr>
                </a:tc>
              </a:tr>
              <a:tr h="873125"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1C3C3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영향 검토</a:t>
                      </a:r>
                    </a:p>
                  </a:txBody>
                  <a:tcPr marL="142875" marR="142875" marT="114300" marB="95250" anchor="ctr">
                    <a:solidFill>
                      <a:srgbClr val="F8FA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C3C3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사업에 맞는 세부 내용 작성</a:t>
                      </a:r>
                    </a:p>
                  </a:txBody>
                  <a:tcPr marL="142875" marR="142875" marT="114300" marB="95250" anchor="ctr">
                    <a:solidFill>
                      <a:srgbClr val="F8FA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C3C3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조건·기준·근거 확인 필요</a:t>
                      </a:r>
                    </a:p>
                  </a:txBody>
                  <a:tcPr marL="142875" marR="142875" marT="114300" marB="95250" anchor="ctr">
                    <a:solidFill>
                      <a:srgbClr val="F8FAF9"/>
                    </a:solidFill>
                  </a:tcPr>
                </a:tc>
              </a:tr>
              <a:tr h="873125"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1C3C3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변경 승인</a:t>
                      </a:r>
                    </a:p>
                  </a:txBody>
                  <a:tcPr marL="142875" marR="142875" marT="114300" marB="95250" anchor="ctr">
                    <a:solidFill>
                      <a:srgbClr val="E3EF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C3C3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사업에 맞는 세부 내용 작성</a:t>
                      </a:r>
                    </a:p>
                  </a:txBody>
                  <a:tcPr marL="142875" marR="142875" marT="114300" marB="95250" anchor="ctr">
                    <a:solidFill>
                      <a:srgbClr val="E3EF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C3C3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조건·기준·근거 확인 필요</a:t>
                      </a:r>
                    </a:p>
                  </a:txBody>
                  <a:tcPr marL="142875" marR="142875" marT="114300" marB="95250" anchor="ctr">
                    <a:solidFill>
                      <a:srgbClr val="E3EFEB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2508534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98E052D2-512A-4007-A135-732E85EE5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47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39817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39817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398177"/>
                </a:solidFill>
                <a:latin typeface="Malgun Gothic"/>
                <a:ea typeface="Malgun Gothic"/>
                <a:cs typeface="Malgun Gothic"/>
              </a:rPr>
              <a:t>공사·시설 / 수행 계획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8BD87BB8-0CC1-4C8C-8E24-8894E989C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C3C3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1C3C39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1C3C39"/>
                </a:solidFill>
                <a:latin typeface="Malgun Gothic"/>
                <a:ea typeface="Malgun Gothic"/>
                <a:cs typeface="Malgun Gothic"/>
              </a:rPr>
              <a:t>준공 검사와 시설 인계</a:t>
            </a:r>
          </a:p>
        </p:txBody>
      </p:sp>
      <p:sp>
        <p:nvSpPr>
          <p:cNvPr id="3" name="domain-copy">
            <a:extLst xmlns:a="http://schemas.openxmlformats.org/drawingml/2006/main">
              <a:ext uri="{FF2B5EF4-FFF2-40B4-BE49-F238E27FC236}">
                <a16:creationId xmlns:a16="http://schemas.microsoft.com/office/drawing/2014/main" id="{F042E9D5-D6C9-4B13-8D3B-56ECB518C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C3C3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C3C39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C3C39"/>
                </a:solidFill>
                <a:latin typeface="Malgun Gothic"/>
                <a:ea typeface="Malgun Gothic"/>
                <a:cs typeface="Malgun Gothic"/>
              </a:rPr>
              <a:t>검사 결과와 준공 자료를 실제 설치 상태에 맞춰 전달합니다.</a:t>
            </a:r>
          </a:p>
        </p:txBody>
      </p:sp>
      <p:sp>
        <p:nvSpPr>
          <p:cNvPr id="4" name="bid3-fixed-rule">
            <a:extLst xmlns:a="http://schemas.openxmlformats.org/drawingml/2006/main">
              <a:ext uri="{FF2B5EF4-FFF2-40B4-BE49-F238E27FC236}">
                <a16:creationId xmlns:a16="http://schemas.microsoft.com/office/drawing/2014/main" id="{71586C6F-2E3A-41D1-86E6-BC5F1E846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19350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8177"/>
          </a:solidFill>
          <a:ln xmlns:a="http://schemas.openxmlformats.org/drawingml/2006/main" w="0">
            <a:noFill/>
          </a:ln>
        </p:spPr>
      </p:sp>
      <p:sp>
        <p:nvSpPr>
          <p:cNvPr id="5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E25F5D3E-030A-4C19-B4E8-5B60B2BAD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39817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39817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398177"/>
                </a:solidFill>
                <a:latin typeface="Malgun Gothic"/>
                <a:ea typeface="Malgun Gothic"/>
                <a:cs typeface="Malgun Gothic"/>
              </a:rPr>
              <a:t>공사·시설 제안서</a:t>
            </a:r>
          </a:p>
        </p:txBody>
      </p:sp>
      <p:sp>
        <p:nvSpPr>
          <p:cNvPr id="6" name="bid3-fixed-status">
            <a:extLst xmlns:a="http://schemas.openxmlformats.org/drawingml/2006/main">
              <a:ext uri="{FF2B5EF4-FFF2-40B4-BE49-F238E27FC236}">
                <a16:creationId xmlns:a16="http://schemas.microsoft.com/office/drawing/2014/main" id="{1AF39533-250C-4D57-A4D1-FE986E922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372225"/>
            <a:ext cx="442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39817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3981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398177"/>
                </a:solidFill>
                <a:latin typeface="Malgun Gothic"/>
                <a:ea typeface="Malgun Gothic"/>
                <a:cs typeface="Malgun Gothic"/>
              </a:rPr>
              <a:t>분야별 작성 양식</a:t>
            </a:r>
          </a:p>
        </p:txBody>
      </p:sp>
      <p:sp>
        <p:nvSpPr>
          <p:cNvPr id="7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06CC3688-D91F-4687-B01D-4F4F3CF9B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6334125"/>
            <a:ext cx="4667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650" b="1">
                <a:solidFill>
                  <a:srgbClr val="39817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650" b="1">
                <a:solidFill>
                  <a:srgbClr val="398177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398177"/>
                </a:solidFill>
                <a:latin typeface="Malgun Gothic"/>
                <a:ea typeface="Malgun Gothic"/>
                <a:cs typeface="Malgun Gothic"/>
              </a:rPr>
              <a:t>12</a:t>
            </a:r>
          </a:p>
        </p:txBody>
      </p:sp>
      <p:graphicFrame>
        <p:nvGraphicFrame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D9ABB0-8BAE-41A4-B879-7B1FDEF3EB9B}"/>
              </a:ext>
            </a:extLst>
          </p:cNvPr>
          <p:cNvGraphicFramePr/>
          <p:nvPr/>
        </p:nvGraphicFramePr>
        <p:xfrm>
          <a:off xmlns:a="http://schemas.openxmlformats.org/drawingml/2006/main" x="609600" y="2657475"/>
          <a:ext xmlns:a="http://schemas.openxmlformats.org/drawingml/2006/main" cx="10972800" cy="32099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4343400"/>
                <a:gridCol w="4343400"/>
              </a:tblGrid>
              <a:tr h="590550"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인계 대상</a:t>
                      </a:r>
                    </a:p>
                  </a:txBody>
                  <a:tcPr marL="142875" marR="142875" marT="114300" marB="95250" anchor="ctr">
                    <a:solidFill>
                      <a:srgbClr val="1C3C3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준비할 기록</a:t>
                      </a:r>
                    </a:p>
                  </a:txBody>
                  <a:tcPr marL="142875" marR="142875" marT="114300" marB="95250" anchor="ctr">
                    <a:solidFill>
                      <a:srgbClr val="1C3C3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방식</a:t>
                      </a:r>
                    </a:p>
                  </a:txBody>
                  <a:tcPr marL="142875" marR="142875" marT="114300" marB="95250" anchor="ctr">
                    <a:solidFill>
                      <a:srgbClr val="1C3C39"/>
                    </a:solidFill>
                  </a:tcPr>
                </a:tc>
              </a:tr>
              <a:tr h="873125"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1C3C3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시설·설비</a:t>
                      </a:r>
                    </a:p>
                  </a:txBody>
                  <a:tcPr marL="142875" marR="142875" marT="114300" marB="95250" anchor="ctr">
                    <a:solidFill>
                      <a:srgbClr val="E3EF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C3C3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사업에 맞는 세부 내용 작성</a:t>
                      </a:r>
                    </a:p>
                  </a:txBody>
                  <a:tcPr marL="142875" marR="142875" marT="114300" marB="95250" anchor="ctr">
                    <a:solidFill>
                      <a:srgbClr val="E3EF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C3C3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조건·기준·근거 확인 필요</a:t>
                      </a:r>
                    </a:p>
                  </a:txBody>
                  <a:tcPr marL="142875" marR="142875" marT="114300" marB="95250" anchor="ctr">
                    <a:solidFill>
                      <a:srgbClr val="E3EFEB"/>
                    </a:solidFill>
                  </a:tcPr>
                </a:tc>
              </a:tr>
              <a:tr h="873125"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1C3C3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준공 도서</a:t>
                      </a:r>
                    </a:p>
                  </a:txBody>
                  <a:tcPr marL="142875" marR="142875" marT="114300" marB="95250" anchor="ctr">
                    <a:solidFill>
                      <a:srgbClr val="F8FA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C3C3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사업에 맞는 세부 내용 작성</a:t>
                      </a:r>
                    </a:p>
                  </a:txBody>
                  <a:tcPr marL="142875" marR="142875" marT="114300" marB="95250" anchor="ctr">
                    <a:solidFill>
                      <a:srgbClr val="F8FA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C3C3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조건·기준·근거 확인 필요</a:t>
                      </a:r>
                    </a:p>
                  </a:txBody>
                  <a:tcPr marL="142875" marR="142875" marT="114300" marB="95250" anchor="ctr">
                    <a:solidFill>
                      <a:srgbClr val="F8FAF9"/>
                    </a:solidFill>
                  </a:tcPr>
                </a:tc>
              </a:tr>
              <a:tr h="873125"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1C3C3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유지관리</a:t>
                      </a:r>
                    </a:p>
                  </a:txBody>
                  <a:tcPr marL="142875" marR="142875" marT="114300" marB="95250" anchor="ctr">
                    <a:solidFill>
                      <a:srgbClr val="E3EF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C3C3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사업에 맞는 세부 내용 작성</a:t>
                      </a:r>
                    </a:p>
                  </a:txBody>
                  <a:tcPr marL="142875" marR="142875" marT="114300" marB="95250" anchor="ctr">
                    <a:solidFill>
                      <a:srgbClr val="E3EF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C3C3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조건·기준·근거 확인 필요</a:t>
                      </a:r>
                    </a:p>
                  </a:txBody>
                  <a:tcPr marL="142875" marR="142875" marT="114300" marB="95250" anchor="ctr">
                    <a:solidFill>
                      <a:srgbClr val="E3EFEB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0842347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1C351AC2-F9B8-4DB1-9B84-DE1B28C27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47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39817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39817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398177"/>
                </a:solidFill>
                <a:latin typeface="Malgun Gothic"/>
                <a:ea typeface="Malgun Gothic"/>
                <a:cs typeface="Malgun Gothic"/>
              </a:rPr>
              <a:t>공사·시설 / 수행 근거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D2EA1272-7807-4F2C-859C-A188134D8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C3C3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1C3C39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1C3C39"/>
                </a:solidFill>
                <a:latin typeface="Malgun Gothic"/>
                <a:ea typeface="Malgun Gothic"/>
                <a:cs typeface="Malgun Gothic"/>
              </a:rPr>
              <a:t>현장 수행 근거와 증빙</a:t>
            </a:r>
          </a:p>
        </p:txBody>
      </p:sp>
      <p:sp>
        <p:nvSpPr>
          <p:cNvPr id="3" name="domain-copy">
            <a:extLst xmlns:a="http://schemas.openxmlformats.org/drawingml/2006/main">
              <a:ext uri="{FF2B5EF4-FFF2-40B4-BE49-F238E27FC236}">
                <a16:creationId xmlns:a16="http://schemas.microsoft.com/office/drawing/2014/main" id="{0263F659-2B79-43A1-A2C6-00F35942A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C3C3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C3C39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C3C39"/>
                </a:solidFill>
                <a:latin typeface="Malgun Gothic"/>
                <a:ea typeface="Malgun Gothic"/>
                <a:cs typeface="Malgun Gothic"/>
              </a:rPr>
              <a:t>시공 계획과 실제 수행 역량을 구분해 제출 자료를 준비합니다.</a:t>
            </a:r>
          </a:p>
        </p:txBody>
      </p:sp>
      <p:sp>
        <p:nvSpPr>
          <p:cNvPr id="4" name="bid3-fixed-rule">
            <a:extLst xmlns:a="http://schemas.openxmlformats.org/drawingml/2006/main">
              <a:ext uri="{FF2B5EF4-FFF2-40B4-BE49-F238E27FC236}">
                <a16:creationId xmlns:a16="http://schemas.microsoft.com/office/drawing/2014/main" id="{5293C4CE-21D0-48CE-83F7-0D6A54A58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19350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8177"/>
          </a:solidFill>
          <a:ln xmlns:a="http://schemas.openxmlformats.org/drawingml/2006/main" w="0">
            <a:noFill/>
          </a:ln>
        </p:spPr>
      </p:sp>
      <p:sp>
        <p:nvSpPr>
          <p:cNvPr id="5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6FABCBF7-5EEE-4F65-B906-F15C4F754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39817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39817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398177"/>
                </a:solidFill>
                <a:latin typeface="Malgun Gothic"/>
                <a:ea typeface="Malgun Gothic"/>
                <a:cs typeface="Malgun Gothic"/>
              </a:rPr>
              <a:t>공사·시설 제안서</a:t>
            </a:r>
          </a:p>
        </p:txBody>
      </p:sp>
      <p:sp>
        <p:nvSpPr>
          <p:cNvPr id="6" name="bid3-fixed-status">
            <a:extLst xmlns:a="http://schemas.openxmlformats.org/drawingml/2006/main">
              <a:ext uri="{FF2B5EF4-FFF2-40B4-BE49-F238E27FC236}">
                <a16:creationId xmlns:a16="http://schemas.microsoft.com/office/drawing/2014/main" id="{A566E754-9494-42C9-BC0B-8A67B736F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372225"/>
            <a:ext cx="442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39817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3981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398177"/>
                </a:solidFill>
                <a:latin typeface="Malgun Gothic"/>
                <a:ea typeface="Malgun Gothic"/>
                <a:cs typeface="Malgun Gothic"/>
              </a:rPr>
              <a:t>분야별 작성 양식</a:t>
            </a:r>
          </a:p>
        </p:txBody>
      </p:sp>
      <p:sp>
        <p:nvSpPr>
          <p:cNvPr id="7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6E69951D-9D5C-4EF2-8533-427878DCE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6334125"/>
            <a:ext cx="4667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650" b="1">
                <a:solidFill>
                  <a:srgbClr val="39817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650" b="1">
                <a:solidFill>
                  <a:srgbClr val="398177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398177"/>
                </a:solidFill>
                <a:latin typeface="Malgun Gothic"/>
                <a:ea typeface="Malgun Gothic"/>
                <a:cs typeface="Malgun Gothic"/>
              </a:rPr>
              <a:t>13</a:t>
            </a:r>
          </a:p>
        </p:txBody>
      </p:sp>
      <p:sp>
        <p:nvSpPr>
          <p:cNvPr id="8" name="domain-copy">
            <a:extLst xmlns:a="http://schemas.openxmlformats.org/drawingml/2006/main">
              <a:ext uri="{FF2B5EF4-FFF2-40B4-BE49-F238E27FC236}">
                <a16:creationId xmlns:a16="http://schemas.microsoft.com/office/drawing/2014/main" id="{61BCE003-3B8C-4D93-B248-53812C1E7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5029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39817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398177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398177"/>
                </a:solidFill>
                <a:latin typeface="Malgun Gothic"/>
                <a:ea typeface="Malgun Gothic"/>
                <a:cs typeface="Malgun Gothic"/>
              </a:rPr>
              <a:t>유사 공사</a:t>
            </a:r>
          </a:p>
        </p:txBody>
      </p:sp>
      <p:sp>
        <p:nvSpPr>
          <p:cNvPr id="9" name="domain-copy">
            <a:extLst xmlns:a="http://schemas.openxmlformats.org/drawingml/2006/main">
              <a:ext uri="{FF2B5EF4-FFF2-40B4-BE49-F238E27FC236}">
                <a16:creationId xmlns:a16="http://schemas.microsoft.com/office/drawing/2014/main" id="{4CFA6E61-DFC9-49DC-B906-5DEC4E446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5029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C3C3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C3C39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C3C39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  <p:sp>
        <p:nvSpPr>
          <p:cNvPr id="10" name="domain-copy">
            <a:extLst xmlns:a="http://schemas.openxmlformats.org/drawingml/2006/main">
              <a:ext uri="{FF2B5EF4-FFF2-40B4-BE49-F238E27FC236}">
                <a16:creationId xmlns:a16="http://schemas.microsoft.com/office/drawing/2014/main" id="{B92DD477-A9AD-4CAE-BBB5-F89D30EC4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24275"/>
            <a:ext cx="5029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39817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398177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398177"/>
                </a:solidFill>
                <a:latin typeface="Malgun Gothic"/>
                <a:ea typeface="Malgun Gothic"/>
                <a:cs typeface="Malgun Gothic"/>
              </a:rPr>
              <a:t>현장 책임</a:t>
            </a:r>
          </a:p>
        </p:txBody>
      </p:sp>
      <p:sp>
        <p:nvSpPr>
          <p:cNvPr id="11" name="domain-copy">
            <a:extLst xmlns:a="http://schemas.openxmlformats.org/drawingml/2006/main">
              <a:ext uri="{FF2B5EF4-FFF2-40B4-BE49-F238E27FC236}">
                <a16:creationId xmlns:a16="http://schemas.microsoft.com/office/drawing/2014/main" id="{0FEC9039-9BEF-43EE-9F20-49A9939F9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81475"/>
            <a:ext cx="5029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C3C3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C3C39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C3C39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  <p:sp>
        <p:nvSpPr>
          <p:cNvPr id="12" name="domain-copy">
            <a:extLst xmlns:a="http://schemas.openxmlformats.org/drawingml/2006/main">
              <a:ext uri="{FF2B5EF4-FFF2-40B4-BE49-F238E27FC236}">
                <a16:creationId xmlns:a16="http://schemas.microsoft.com/office/drawing/2014/main" id="{83E10FCA-236E-4C13-B24F-90B10292B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5029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39817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398177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398177"/>
                </a:solidFill>
                <a:latin typeface="Malgun Gothic"/>
                <a:ea typeface="Malgun Gothic"/>
                <a:cs typeface="Malgun Gothic"/>
              </a:rPr>
              <a:t>시공·검사 기록</a:t>
            </a:r>
          </a:p>
        </p:txBody>
      </p:sp>
      <p:sp>
        <p:nvSpPr>
          <p:cNvPr id="13" name="domain-copy">
            <a:extLst xmlns:a="http://schemas.openxmlformats.org/drawingml/2006/main">
              <a:ext uri="{FF2B5EF4-FFF2-40B4-BE49-F238E27FC236}">
                <a16:creationId xmlns:a16="http://schemas.microsoft.com/office/drawing/2014/main" id="{7540081E-AF1E-466B-9AAA-1BE352EDF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5029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C3C3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C3C39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C3C39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  <p:sp>
        <p:nvSpPr>
          <p:cNvPr id="14" name="bid3-material-placeholder-heading">
            <a:extLst xmlns:a="http://schemas.openxmlformats.org/drawingml/2006/main">
              <a:ext uri="{FF2B5EF4-FFF2-40B4-BE49-F238E27FC236}">
                <a16:creationId xmlns:a16="http://schemas.microsoft.com/office/drawing/2014/main" id="{9A0023F8-3447-44B2-8827-D37D3DA64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857500"/>
            <a:ext cx="44958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39817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398177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398177"/>
                </a:solidFill>
                <a:latin typeface="Malgun Gothic"/>
                <a:ea typeface="Malgun Gothic"/>
                <a:cs typeface="Malgun Gothic"/>
              </a:rPr>
              <a:t>원문 자료와 제출 증빙</a:t>
            </a:r>
          </a:p>
        </p:txBody>
      </p:sp>
      <p:sp>
        <p:nvSpPr>
          <p:cNvPr id="15" name="bid3-material-placeholder-copy">
            <a:extLst xmlns:a="http://schemas.openxmlformats.org/drawingml/2006/main">
              <a:ext uri="{FF2B5EF4-FFF2-40B4-BE49-F238E27FC236}">
                <a16:creationId xmlns:a16="http://schemas.microsoft.com/office/drawing/2014/main" id="{8AC27E0A-A25E-41CA-BD2A-DDB1903B1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667125"/>
            <a:ext cx="4495800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C3C3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C3C39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C3C39"/>
                </a:solidFill>
                <a:latin typeface="Malgun Gothic"/>
                <a:ea typeface="Malgun Gothic"/>
                <a:cs typeface="Malgun Gothic"/>
              </a:rPr>
              <a:t>회사 소개서의 관련 이미지·도표를</a:t>
            </a:r>
          </a:p>
          <a:p xmlns:a="http://schemas.openxmlformats.org/drawingml/2006/main">
            <a:pPr algn="l">
              <a:defRPr sz="1875" b="0">
                <a:solidFill>
                  <a:srgbClr val="1C3C39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C3C39"/>
                </a:solidFill>
                <a:latin typeface="Malgun Gothic"/>
                <a:ea typeface="Malgun Gothic"/>
                <a:cs typeface="Malgun Gothic"/>
              </a:rPr>
              <a:t>현재 사업의 수행 근거와 대조합니다.</a:t>
            </a:r>
          </a:p>
        </p:txBody>
      </p:sp>
      <p:sp>
        <p:nvSpPr>
          <p:cNvPr id="16" name="bid3-material-placeholder-notice">
            <a:extLst xmlns:a="http://schemas.openxmlformats.org/drawingml/2006/main">
              <a:ext uri="{FF2B5EF4-FFF2-40B4-BE49-F238E27FC236}">
                <a16:creationId xmlns:a16="http://schemas.microsoft.com/office/drawing/2014/main" id="{6C45DB28-25F7-436A-AB58-338B5426D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210175"/>
            <a:ext cx="4495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39817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39817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398177"/>
                </a:solidFill>
                <a:latin typeface="Malgun Gothic"/>
                <a:ea typeface="Malgun Gothic"/>
                <a:cs typeface="Malgun Gothic"/>
              </a:rPr>
              <a:t>자료가 없으면 현행 증빙 확보 후 반영</a:t>
            </a:r>
          </a:p>
        </p:txBody>
      </p:sp>
    </p:spTree>
    <p:extLst>
      <p:ext uri="{BB962C8B-B14F-4D97-AF65-F5344CB8AC3E}">
        <p14:creationId xmlns:p14="http://schemas.microsoft.com/office/powerpoint/2010/main" val="25411105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1C3C3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bid3-title">
            <a:extLst xmlns:a="http://schemas.openxmlformats.org/drawingml/2006/main">
              <a:ext uri="{FF2B5EF4-FFF2-40B4-BE49-F238E27FC236}">
                <a16:creationId xmlns:a16="http://schemas.microsoft.com/office/drawing/2014/main" id="{8C661C9C-89C6-45D1-97F1-E5C6102FE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90675"/>
            <a:ext cx="10668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4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4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공정과 현장을</a:t>
            </a:r>
          </a:p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4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함께 관리하는 시공</a:t>
            </a:r>
          </a:p>
        </p:txBody>
      </p:sp>
      <p:sp>
        <p:nvSpPr>
          <p:cNvPr id="2" name="domain-copy">
            <a:extLst xmlns:a="http://schemas.openxmlformats.org/drawingml/2006/main">
              <a:ext uri="{FF2B5EF4-FFF2-40B4-BE49-F238E27FC236}">
                <a16:creationId xmlns:a16="http://schemas.microsoft.com/office/drawing/2014/main" id="{C334FFCC-B85B-43DF-ACA8-3D86561BC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457700"/>
            <a:ext cx="10477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제안사 · 담당자 · 연락처 작성</a:t>
            </a:r>
          </a:p>
        </p:txBody>
      </p:sp>
      <p:sp>
        <p:nvSpPr>
          <p:cNvPr id="3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B74E3F1F-77B4-4235-8FA3-D74D28979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공사·시설 제안서</a:t>
            </a:r>
          </a:p>
        </p:txBody>
      </p:sp>
      <p:sp>
        <p:nvSpPr>
          <p:cNvPr id="4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940C39B8-66A0-4BBB-9E4B-05BB17078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6334125"/>
            <a:ext cx="4667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42253524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2026-10-14T01:26:17.1750000Z</dcterms:created>
  <dcterms:modified xsi:type="dcterms:W3CDTF">2026-10-14T01:26:17.1750000Z</dcterms:modified>
</coreProperties>
</file>