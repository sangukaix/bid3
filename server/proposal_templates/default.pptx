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596aed9ffc4908" /><Relationship Type="http://schemas.openxmlformats.org/officeDocument/2006/relationships/extended-properties" Target="/docProps/app.xml" Id="R66a311a348a84fea" /><Relationship Type="http://schemas.openxmlformats.org/officeDocument/2006/relationships/officeDocument" Target="/ppt/presentation.xml" Id="Ra463eab3a73f4e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85d15814b84da8"/>
  </p:sldMasterIdLst>
  <p:notesMasterIdLst>
    <p:notesMasterId xmlns:r="http://schemas.openxmlformats.org/officeDocument/2006/relationships" r:id="R7890dc2b6ef746a4"/>
  </p:notesMasterIdLst>
  <p:sldIdLst>
    <p:sldId xmlns:r="http://schemas.openxmlformats.org/officeDocument/2006/relationships" id="256" r:id="R38774709622a413f"/>
    <p:sldId xmlns:r="http://schemas.openxmlformats.org/officeDocument/2006/relationships" id="257" r:id="Rca33d0111e2944a2"/>
    <p:sldId xmlns:r="http://schemas.openxmlformats.org/officeDocument/2006/relationships" id="258" r:id="R1c815860c10c45f4"/>
    <p:sldId xmlns:r="http://schemas.openxmlformats.org/officeDocument/2006/relationships" id="259" r:id="R6e7809d299a141f6"/>
    <p:sldId xmlns:r="http://schemas.openxmlformats.org/officeDocument/2006/relationships" id="260" r:id="R450f5e39b94b4dcb"/>
    <p:sldId xmlns:r="http://schemas.openxmlformats.org/officeDocument/2006/relationships" id="261" r:id="R47e21b9852af45ef"/>
    <p:sldId xmlns:r="http://schemas.openxmlformats.org/officeDocument/2006/relationships" id="262" r:id="Rd5ddb287143f45b4"/>
    <p:sldId xmlns:r="http://schemas.openxmlformats.org/officeDocument/2006/relationships" id="263" r:id="R3ac4d406a9c54f93"/>
    <p:sldId xmlns:r="http://schemas.openxmlformats.org/officeDocument/2006/relationships" id="264" r:id="Rf020f03b467f4f01"/>
    <p:sldId xmlns:r="http://schemas.openxmlformats.org/officeDocument/2006/relationships" id="265" r:id="R7c630702d8834ce1"/>
    <p:sldId xmlns:r="http://schemas.openxmlformats.org/officeDocument/2006/relationships" id="266" r:id="R2aa1b761ee0c479a"/>
    <p:sldId xmlns:r="http://schemas.openxmlformats.org/officeDocument/2006/relationships" id="267" r:id="Re960154d819843d9"/>
    <p:sldId xmlns:r="http://schemas.openxmlformats.org/officeDocument/2006/relationships" id="268" r:id="Rd5da9a0104004a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4d3146964f4963" /><Relationship Type="http://schemas.openxmlformats.org/officeDocument/2006/relationships/slideMaster" Target="/ppt/slideMasters/slideMaster1.xml" Id="Rc385d15814b84da8" /><Relationship Type="http://schemas.openxmlformats.org/officeDocument/2006/relationships/notesMaster" Target="/ppt/notesMasters/notesMaster1.xml" Id="R7890dc2b6ef746a4" /><Relationship Type="http://schemas.openxmlformats.org/officeDocument/2006/relationships/presProps" Target="/ppt/presProps.xml" Id="R965cf710bfa64e9b" /><Relationship Type="http://schemas.openxmlformats.org/officeDocument/2006/relationships/tableStyles" Target="/ppt/tableStyles.xml" Id="R581f21194d8248a7" /><Relationship Type="http://schemas.openxmlformats.org/officeDocument/2006/relationships/slide" Target="/ppt/slides/slide1.xml" Id="R38774709622a413f" /><Relationship Type="http://schemas.openxmlformats.org/officeDocument/2006/relationships/slide" Target="/ppt/slides/slide2.xml" Id="Rca33d0111e2944a2" /><Relationship Type="http://schemas.openxmlformats.org/officeDocument/2006/relationships/slide" Target="/ppt/slides/slide3.xml" Id="R1c815860c10c45f4" /><Relationship Type="http://schemas.openxmlformats.org/officeDocument/2006/relationships/slide" Target="/ppt/slides/slide4.xml" Id="R6e7809d299a141f6" /><Relationship Type="http://schemas.openxmlformats.org/officeDocument/2006/relationships/slide" Target="/ppt/slides/slide5.xml" Id="R450f5e39b94b4dcb" /><Relationship Type="http://schemas.openxmlformats.org/officeDocument/2006/relationships/slide" Target="/ppt/slides/slide6.xml" Id="R47e21b9852af45ef" /><Relationship Type="http://schemas.openxmlformats.org/officeDocument/2006/relationships/slide" Target="/ppt/slides/slide7.xml" Id="Rd5ddb287143f45b4" /><Relationship Type="http://schemas.openxmlformats.org/officeDocument/2006/relationships/slide" Target="/ppt/slides/slide8.xml" Id="R3ac4d406a9c54f93" /><Relationship Type="http://schemas.openxmlformats.org/officeDocument/2006/relationships/slide" Target="/ppt/slides/slide9.xml" Id="Rf020f03b467f4f01" /><Relationship Type="http://schemas.openxmlformats.org/officeDocument/2006/relationships/slide" Target="/ppt/slides/slide10.xml" Id="R7c630702d8834ce1" /><Relationship Type="http://schemas.openxmlformats.org/officeDocument/2006/relationships/slide" Target="/ppt/slides/slide11.xml" Id="R2aa1b761ee0c479a" /><Relationship Type="http://schemas.openxmlformats.org/officeDocument/2006/relationships/slide" Target="/ppt/slides/slide12.xml" Id="Re960154d819843d9" /><Relationship Type="http://schemas.openxmlformats.org/officeDocument/2006/relationships/slide" Target="/ppt/slides/slide13.xml" Id="Rd5da9a0104004a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317a6e24b646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d7f6b6317452a" /><Relationship Type="http://schemas.openxmlformats.org/officeDocument/2006/relationships/notesMaster" Target="/ppt/notesMasters/notesMaster1.xml" Id="R9901f5bb199e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37d2bff2a9406d" /><Relationship Type="http://schemas.openxmlformats.org/officeDocument/2006/relationships/notesMaster" Target="/ppt/notesMasters/notesMaster1.xml" Id="R62f8d5fc163045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144e88fcb74929" /><Relationship Type="http://schemas.openxmlformats.org/officeDocument/2006/relationships/notesMaster" Target="/ppt/notesMasters/notesMaster1.xml" Id="R212b58bcc0314d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f5103037f54977" /><Relationship Type="http://schemas.openxmlformats.org/officeDocument/2006/relationships/notesMaster" Target="/ppt/notesMasters/notesMaster1.xml" Id="R35e6d6f9469d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26a96460614a54" /><Relationship Type="http://schemas.openxmlformats.org/officeDocument/2006/relationships/notesMaster" Target="/ppt/notesMasters/notesMaster1.xml" Id="Rc672861291164c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67b1e5a5fe4ec0" /><Relationship Type="http://schemas.openxmlformats.org/officeDocument/2006/relationships/notesMaster" Target="/ppt/notesMasters/notesMaster1.xml" Id="Rc7b4d2184ae848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0da1da168c4e44" /><Relationship Type="http://schemas.openxmlformats.org/officeDocument/2006/relationships/notesMaster" Target="/ppt/notesMasters/notesMaster1.xml" Id="R09616ea0676948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3c30ff460f47a4" /><Relationship Type="http://schemas.openxmlformats.org/officeDocument/2006/relationships/notesMaster" Target="/ppt/notesMasters/notesMaster1.xml" Id="Rb92c59b264ba4a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4a503675c744b9" /><Relationship Type="http://schemas.openxmlformats.org/officeDocument/2006/relationships/notesMaster" Target="/ppt/notesMasters/notesMaster1.xml" Id="R1d96ad9acfeb4b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523ab1b41340f0" /><Relationship Type="http://schemas.openxmlformats.org/officeDocument/2006/relationships/notesMaster" Target="/ppt/notesMasters/notesMaster1.xml" Id="R2b6bafd881b142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25a11799884830" /><Relationship Type="http://schemas.openxmlformats.org/officeDocument/2006/relationships/notesMaster" Target="/ppt/notesMasters/notesMaster1.xml" Id="Rb15edab781e04d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2f059976cc42d3" /><Relationship Type="http://schemas.openxmlformats.org/officeDocument/2006/relationships/notesMaster" Target="/ppt/notesMasters/notesMaster1.xml" Id="Rcefb33ad12c941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875ffb36fd4ce9" /><Relationship Type="http://schemas.openxmlformats.org/officeDocument/2006/relationships/notesMaster" Target="/ppt/notesMasters/notesMaster1.xml" Id="R9e06b45d1a9e40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f9281bd1445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bcd5a777384281" /><Relationship Type="http://schemas.openxmlformats.org/officeDocument/2006/relationships/slideLayout" Target="/ppt/slideLayouts/slideLayout1.xml" Id="R4854cd768b154b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54cd768b154b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be424e94948ba" /><Relationship Type="http://schemas.openxmlformats.org/officeDocument/2006/relationships/image" Target="/ppt/media/image.png" Id="R746a87a9c2dd4ead" /><Relationship Type="http://schemas.openxmlformats.org/officeDocument/2006/relationships/notesSlide" Target="/ppt/notesSlides/notesSlide1.xml" Id="Rc1f6e7f4be8243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c46d5bb7548ca" /><Relationship Type="http://schemas.openxmlformats.org/officeDocument/2006/relationships/notesSlide" Target="/ppt/notesSlides/notesSlide2.xml" Id="Rdfb02b0c594149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3e615c5e04c0c" /><Relationship Type="http://schemas.openxmlformats.org/officeDocument/2006/relationships/image" Target="/ppt/media/image2.png" Id="R792304b0d1374705" /><Relationship Type="http://schemas.openxmlformats.org/officeDocument/2006/relationships/notesSlide" Target="/ppt/notesSlides/notesSlide3.xml" Id="R6a53bf63a79f41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f05e9e0ab4f6f" /><Relationship Type="http://schemas.openxmlformats.org/officeDocument/2006/relationships/notesSlide" Target="/ppt/notesSlides/notesSlide4.xml" Id="R449e0cb03ca44a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3d5838b3446ca" /><Relationship Type="http://schemas.openxmlformats.org/officeDocument/2006/relationships/notesSlide" Target="/ppt/notesSlides/notesSlide5.xml" Id="R909997e431a745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41012fac94ee7" /><Relationship Type="http://schemas.openxmlformats.org/officeDocument/2006/relationships/notesSlide" Target="/ppt/notesSlides/notesSlide6.xml" Id="Ra4624ca7ade146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2aa1f04ed4f5d" /><Relationship Type="http://schemas.openxmlformats.org/officeDocument/2006/relationships/notesSlide" Target="/ppt/notesSlides/notesSlide7.xml" Id="R262646f88323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0ae4a13694f55" /><Relationship Type="http://schemas.openxmlformats.org/officeDocument/2006/relationships/notesSlide" Target="/ppt/notesSlides/notesSlide8.xml" Id="Rf96e541764534a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5b13f503b4f7a" /><Relationship Type="http://schemas.openxmlformats.org/officeDocument/2006/relationships/notesSlide" Target="/ppt/notesSlides/notesSlide9.xml" Id="Rfe5cea91966f4b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a4397503c4ded" /><Relationship Type="http://schemas.openxmlformats.org/officeDocument/2006/relationships/notesSlide" Target="/ppt/notesSlides/notesSlide10.xml" Id="R6df066a75e6c47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8eaf4e1ec44c4" /><Relationship Type="http://schemas.openxmlformats.org/officeDocument/2006/relationships/notesSlide" Target="/ppt/notesSlides/notesSlide11.xml" Id="Rd3b3a7c7f9ed41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843bfae9e4f7f" /><Relationship Type="http://schemas.openxmlformats.org/officeDocument/2006/relationships/notesSlide" Target="/ppt/notesSlides/notesSlide12.xml" Id="R48586eb56f7345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c1f86be30491b" /><Relationship Type="http://schemas.openxmlformats.org/officeDocument/2006/relationships/image" Target="/ppt/media/image3.png" Id="R10b383dfb6fb402e" /><Relationship Type="http://schemas.openxmlformats.org/officeDocument/2006/relationships/notesSlide" Target="/ppt/notesSlides/notesSlide13.xml" Id="R9d54ee710b2f4a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a87a9c2dd4ea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white-panel">
            <a:extLst xmlns:a="http://schemas.openxmlformats.org/drawingml/2006/main">
              <a:ext uri="{FF2B5EF4-FFF2-40B4-BE49-F238E27FC236}">
                <a16:creationId xmlns:a16="http://schemas.microsoft.com/office/drawing/2014/main" id="{5518B231-9F4A-44E8-8A78-E69EF6A0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cover-blue-accent">
            <a:extLst xmlns:a="http://schemas.openxmlformats.org/drawingml/2006/main">
              <a:ext uri="{FF2B5EF4-FFF2-40B4-BE49-F238E27FC236}">
                <a16:creationId xmlns:a16="http://schemas.microsoft.com/office/drawing/2014/main" id="{D671D461-9DF4-40CD-88DF-95B216CF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14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4" name="cover-green-accent">
            <a:extLst xmlns:a="http://schemas.openxmlformats.org/drawingml/2006/main">
              <a:ext uri="{FF2B5EF4-FFF2-40B4-BE49-F238E27FC236}">
                <a16:creationId xmlns:a16="http://schemas.microsoft.com/office/drawing/2014/main" id="{001E29A7-2E2F-46D9-831E-FD9C388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76300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9421E30-45D0-4F09-BBA3-FFE9DC30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88C7"/>
                </a:solidFill>
              </a:defRPr>
            </a:pPr>
            <a:r>
              <a:rPr sz="1275" b="1">
                <a:solidFill>
                  <a:srgbClr val="4E88C7"/>
                </a:solidFill>
              </a:rPr>
              <a:t>입찰 제안서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0708F5-C252-4DB6-AA32-9333DAD4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243A"/>
                </a:solidFill>
              </a:defRPr>
            </a:pPr>
            <a:r>
              <a:rPr sz="4050" b="1">
                <a:solidFill>
                  <a:srgbClr val="13243A"/>
                </a:solidFill>
              </a:rPr>
              <a:t>사업명 제안서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692FF74-2268-4D8D-9A06-FB4AD634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D2B3C"/>
                </a:solidFill>
              </a:defRPr>
            </a:pPr>
            <a:r>
              <a:rPr sz="1800" b="0">
                <a:solidFill>
                  <a:srgbClr val="1D2B3C"/>
                </a:solidFill>
              </a:rPr>
              <a:t>발주기관이 기대하는 결과와</a:t>
            </a:r>
          </a:p>
          <a:p xmlns:a="http://schemas.openxmlformats.org/drawingml/2006/main">
            <a:pPr algn="l">
              <a:defRPr sz="1800" b="0">
                <a:solidFill>
                  <a:srgbClr val="1D2B3C"/>
                </a:solidFill>
              </a:defRPr>
            </a:pPr>
            <a:r>
              <a:rPr sz="1800" b="0">
                <a:solidFill>
                  <a:srgbClr val="1D2B3C"/>
                </a:solidFill>
              </a:rPr>
              <a:t>우리 회사의 차별점을 연결합니다</a:t>
            </a:r>
          </a:p>
        </p:txBody>
      </p:sp>
      <p:sp>
        <p:nvSpPr>
          <p:cNvPr id="8" name="cover-rule">
            <a:extLst xmlns:a="http://schemas.openxmlformats.org/drawingml/2006/main">
              <a:ext uri="{FF2B5EF4-FFF2-40B4-BE49-F238E27FC236}">
                <a16:creationId xmlns:a16="http://schemas.microsoft.com/office/drawing/2014/main" id="{0121DB6D-14BF-4A76-9D66-C5C59A7E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5"/>
          </a:solidFill>
          <a:ln xmlns:a="http://schemas.openxmlformats.org/drawingml/2006/main" w="9525">
            <a:solidFill>
              <a:srgbClr val="AAB8C5"/>
            </a:solidFill>
            <a:prstDash val="solid"/>
          </a:ln>
        </p:spPr>
      </p:sp>
      <p:sp>
        <p:nvSpPr>
          <p:cNvPr id="9" name="cover-meta">
            <a:extLst xmlns:a="http://schemas.openxmlformats.org/drawingml/2006/main">
              <a:ext uri="{FF2B5EF4-FFF2-40B4-BE49-F238E27FC236}">
                <a16:creationId xmlns:a16="http://schemas.microsoft.com/office/drawing/2014/main" id="{C0D474E1-5CC0-46DD-8DE6-D14273A8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발주기관  |  공고번호  |  제출일</a:t>
            </a:r>
          </a:p>
        </p:txBody>
      </p:sp>
      <p:sp>
        <p:nvSpPr>
          <p:cNvPr id="10" name="cover-company">
            <a:extLst xmlns:a="http://schemas.openxmlformats.org/drawingml/2006/main">
              <a:ext uri="{FF2B5EF4-FFF2-40B4-BE49-F238E27FC236}">
                <a16:creationId xmlns:a16="http://schemas.microsoft.com/office/drawing/2014/main" id="{4D5D5CBD-9DA8-455B-BBF7-0C1162D2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43A"/>
                </a:solidFill>
              </a:defRPr>
            </a:pPr>
            <a:r>
              <a:rPr sz="1500" b="1">
                <a:solidFill>
                  <a:srgbClr val="13243A"/>
                </a:solidFill>
              </a:rPr>
              <a:t>제안사명</a:t>
            </a:r>
          </a:p>
        </p:txBody>
      </p:sp>
    </p:spTree>
    <p:extLst>
      <p:ext uri="{BB962C8B-B14F-4D97-AF65-F5344CB8AC3E}">
        <p14:creationId xmlns:p14="http://schemas.microsoft.com/office/powerpoint/2010/main" val="1011210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accent-2">
            <a:extLst xmlns:a="http://schemas.openxmlformats.org/drawingml/2006/main">
              <a:ext uri="{FF2B5EF4-FFF2-40B4-BE49-F238E27FC236}">
                <a16:creationId xmlns:a16="http://schemas.microsoft.com/office/drawing/2014/main" id="{9F048B45-6A92-4228-998C-69D9F539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2">
            <a:extLst xmlns:a="http://schemas.openxmlformats.org/drawingml/2006/main">
              <a:ext uri="{FF2B5EF4-FFF2-40B4-BE49-F238E27FC236}">
                <a16:creationId xmlns:a16="http://schemas.microsoft.com/office/drawing/2014/main" id="{57A66E56-E2B7-40B7-8071-2883DED2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CONTENTS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A8EBD6A-D068-4B51-8E39-9F5BD572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0908137E-6657-4209-B843-D5688AFB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F3EFEB67-A9AF-4A12-A94B-91715DE7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02</a:t>
            </a:r>
          </a:p>
        </p:txBody>
      </p:sp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5BD13C29-E17D-44D5-AD5C-DF4D9CA4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제안의 흐름</a:t>
            </a:r>
          </a:p>
        </p:txBody>
      </p:sp>
      <p:sp>
        <p:nvSpPr>
          <p:cNvPr id="7" name="subtitle-2">
            <a:extLst xmlns:a="http://schemas.openxmlformats.org/drawingml/2006/main">
              <a:ext uri="{FF2B5EF4-FFF2-40B4-BE49-F238E27FC236}">
                <a16:creationId xmlns:a16="http://schemas.microsoft.com/office/drawing/2014/main" id="{0891E0F9-8BC2-43BB-A328-4A44FD1E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발주기관의 요구를 이해하고 실행 가능한 해법으로 연결합니다.</a:t>
            </a:r>
          </a:p>
        </p:txBody>
      </p:sp>
      <p:sp>
        <p:nvSpPr>
          <p:cNvPr id="8" name="contents-number-0">
            <a:extLst xmlns:a="http://schemas.openxmlformats.org/drawingml/2006/main">
              <a:ext uri="{FF2B5EF4-FFF2-40B4-BE49-F238E27FC236}">
                <a16:creationId xmlns:a16="http://schemas.microsoft.com/office/drawing/2014/main" id="{CA485C22-A762-41AA-92B9-0D05B8B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88C7"/>
                </a:solidFill>
              </a:defRPr>
            </a:pPr>
            <a:r>
              <a:rPr sz="1800" b="1">
                <a:solidFill>
                  <a:srgbClr val="4E88C7"/>
                </a:solidFill>
              </a:rPr>
              <a:t>01</a:t>
            </a:r>
          </a:p>
        </p:txBody>
      </p:sp>
      <p:sp>
        <p:nvSpPr>
          <p:cNvPr id="9" name="contents-title-0">
            <a:extLst xmlns:a="http://schemas.openxmlformats.org/drawingml/2006/main">
              <a:ext uri="{FF2B5EF4-FFF2-40B4-BE49-F238E27FC236}">
                <a16:creationId xmlns:a16="http://schemas.microsoft.com/office/drawing/2014/main" id="{5157795F-3213-4628-89DF-12220C1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288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43A"/>
                </a:solidFill>
              </a:defRPr>
            </a:pPr>
            <a:r>
              <a:rPr sz="1800" b="1">
                <a:solidFill>
                  <a:srgbClr val="13243A"/>
                </a:solidFill>
              </a:rPr>
              <a:t>사업 이해</a:t>
            </a:r>
          </a:p>
        </p:txBody>
      </p:sp>
      <p:sp>
        <p:nvSpPr>
          <p:cNvPr id="10" name="contents-desc-0">
            <a:extLst xmlns:a="http://schemas.openxmlformats.org/drawingml/2006/main">
              <a:ext uri="{FF2B5EF4-FFF2-40B4-BE49-F238E27FC236}">
                <a16:creationId xmlns:a16="http://schemas.microsoft.com/office/drawing/2014/main" id="{84F78922-18CC-4694-9C7C-2645D4A9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7"/>
                </a:solidFill>
              </a:defRPr>
            </a:pPr>
            <a:r>
              <a:rPr sz="1350" b="0">
                <a:solidFill>
                  <a:srgbClr val="667587"/>
                </a:solidFill>
              </a:rPr>
              <a:t>공고의 목적과 핵심 요구사항</a:t>
            </a:r>
          </a:p>
        </p:txBody>
      </p:sp>
      <p:sp>
        <p:nvSpPr>
          <p:cNvPr id="11" name="contents-rule-0">
            <a:extLst xmlns:a="http://schemas.openxmlformats.org/drawingml/2006/main">
              <a:ext uri="{FF2B5EF4-FFF2-40B4-BE49-F238E27FC236}">
                <a16:creationId xmlns:a16="http://schemas.microsoft.com/office/drawing/2014/main" id="{A1D5F335-A0D1-4249-8541-9BC7E4F4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contents-number-1">
            <a:extLst xmlns:a="http://schemas.openxmlformats.org/drawingml/2006/main">
              <a:ext uri="{FF2B5EF4-FFF2-40B4-BE49-F238E27FC236}">
                <a16:creationId xmlns:a16="http://schemas.microsoft.com/office/drawing/2014/main" id="{120CC3F0-F466-46C3-BE54-1ED1279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8C5"/>
                </a:solidFill>
              </a:defRPr>
            </a:pPr>
            <a:r>
              <a:rPr sz="1800" b="1">
                <a:solidFill>
                  <a:srgbClr val="AAB8C5"/>
                </a:solidFill>
              </a:rPr>
              <a:t>02</a:t>
            </a:r>
          </a:p>
        </p:txBody>
      </p:sp>
      <p:sp>
        <p:nvSpPr>
          <p:cNvPr id="13" name="contents-title-1">
            <a:extLst xmlns:a="http://schemas.openxmlformats.org/drawingml/2006/main">
              <a:ext uri="{FF2B5EF4-FFF2-40B4-BE49-F238E27FC236}">
                <a16:creationId xmlns:a16="http://schemas.microsoft.com/office/drawing/2014/main" id="{4ECAC8C7-DC74-4C39-849D-D6139B6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43A"/>
                </a:solidFill>
              </a:defRPr>
            </a:pPr>
            <a:r>
              <a:rPr sz="1800" b="1">
                <a:solidFill>
                  <a:srgbClr val="13243A"/>
                </a:solidFill>
              </a:rPr>
              <a:t>제안 전략</a:t>
            </a:r>
          </a:p>
        </p:txBody>
      </p:sp>
      <p:sp>
        <p:nvSpPr>
          <p:cNvPr id="14" name="contents-desc-1">
            <a:extLst xmlns:a="http://schemas.openxmlformats.org/drawingml/2006/main">
              <a:ext uri="{FF2B5EF4-FFF2-40B4-BE49-F238E27FC236}">
                <a16:creationId xmlns:a16="http://schemas.microsoft.com/office/drawing/2014/main" id="{A348EAF4-E0EB-4457-A6B4-807A4746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7"/>
                </a:solidFill>
              </a:defRPr>
            </a:pPr>
            <a:r>
              <a:rPr sz="1350" b="0">
                <a:solidFill>
                  <a:srgbClr val="667587"/>
                </a:solidFill>
              </a:rPr>
              <a:t>차별화 방향과 핵심 성공 요인</a:t>
            </a:r>
          </a:p>
        </p:txBody>
      </p:sp>
      <p:sp>
        <p:nvSpPr>
          <p:cNvPr id="15" name="contents-rule-1">
            <a:extLst xmlns:a="http://schemas.openxmlformats.org/drawingml/2006/main">
              <a:ext uri="{FF2B5EF4-FFF2-40B4-BE49-F238E27FC236}">
                <a16:creationId xmlns:a16="http://schemas.microsoft.com/office/drawing/2014/main" id="{B3DAF395-7F4C-4DA9-A05E-BE1068B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contents-number-2">
            <a:extLst xmlns:a="http://schemas.openxmlformats.org/drawingml/2006/main">
              <a:ext uri="{FF2B5EF4-FFF2-40B4-BE49-F238E27FC236}">
                <a16:creationId xmlns:a16="http://schemas.microsoft.com/office/drawing/2014/main" id="{538177EA-E6D4-41DF-B05C-D20E54E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8C5"/>
                </a:solidFill>
              </a:defRPr>
            </a:pPr>
            <a:r>
              <a:rPr sz="1800" b="1">
                <a:solidFill>
                  <a:srgbClr val="AAB8C5"/>
                </a:solidFill>
              </a:rPr>
              <a:t>03</a:t>
            </a:r>
          </a:p>
        </p:txBody>
      </p:sp>
      <p:sp>
        <p:nvSpPr>
          <p:cNvPr id="17" name="contents-title-2">
            <a:extLst xmlns:a="http://schemas.openxmlformats.org/drawingml/2006/main">
              <a:ext uri="{FF2B5EF4-FFF2-40B4-BE49-F238E27FC236}">
                <a16:creationId xmlns:a16="http://schemas.microsoft.com/office/drawing/2014/main" id="{7D949E01-DBE5-4AE9-8C8F-7629D57F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43A"/>
                </a:solidFill>
              </a:defRPr>
            </a:pPr>
            <a:r>
              <a:rPr sz="1800" b="1">
                <a:solidFill>
                  <a:srgbClr val="13243A"/>
                </a:solidFill>
              </a:rPr>
              <a:t>수행 방안</a:t>
            </a:r>
          </a:p>
        </p:txBody>
      </p:sp>
      <p:sp>
        <p:nvSpPr>
          <p:cNvPr id="18" name="contents-desc-2">
            <a:extLst xmlns:a="http://schemas.openxmlformats.org/drawingml/2006/main">
              <a:ext uri="{FF2B5EF4-FFF2-40B4-BE49-F238E27FC236}">
                <a16:creationId xmlns:a16="http://schemas.microsoft.com/office/drawing/2014/main" id="{1B160C15-00D0-4B8D-8C41-9E1A3C4F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480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7"/>
                </a:solidFill>
              </a:defRPr>
            </a:pPr>
            <a:r>
              <a:rPr sz="1350" b="0">
                <a:solidFill>
                  <a:srgbClr val="667587"/>
                </a:solidFill>
              </a:rPr>
              <a:t>업무 절차와 세부 실행 계획</a:t>
            </a:r>
          </a:p>
        </p:txBody>
      </p:sp>
      <p:sp>
        <p:nvSpPr>
          <p:cNvPr id="19" name="contents-rule-2">
            <a:extLst xmlns:a="http://schemas.openxmlformats.org/drawingml/2006/main">
              <a:ext uri="{FF2B5EF4-FFF2-40B4-BE49-F238E27FC236}">
                <a16:creationId xmlns:a16="http://schemas.microsoft.com/office/drawing/2014/main" id="{16B8F7DC-4861-4C7A-BE66-E5E6522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0" name="contents-number-3">
            <a:extLst xmlns:a="http://schemas.openxmlformats.org/drawingml/2006/main">
              <a:ext uri="{FF2B5EF4-FFF2-40B4-BE49-F238E27FC236}">
                <a16:creationId xmlns:a16="http://schemas.microsoft.com/office/drawing/2014/main" id="{F39D4EED-F4EE-4F6E-B21F-FFD4E65D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8C5"/>
                </a:solidFill>
              </a:defRPr>
            </a:pPr>
            <a:r>
              <a:rPr sz="1800" b="1">
                <a:solidFill>
                  <a:srgbClr val="AAB8C5"/>
                </a:solidFill>
              </a:rPr>
              <a:t>04</a:t>
            </a:r>
          </a:p>
        </p:txBody>
      </p:sp>
      <p:sp>
        <p:nvSpPr>
          <p:cNvPr id="21" name="contents-title-3">
            <a:extLst xmlns:a="http://schemas.openxmlformats.org/drawingml/2006/main">
              <a:ext uri="{FF2B5EF4-FFF2-40B4-BE49-F238E27FC236}">
                <a16:creationId xmlns:a16="http://schemas.microsoft.com/office/drawing/2014/main" id="{780889D1-F744-47CB-9006-DF3BA477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43A"/>
                </a:solidFill>
              </a:defRPr>
            </a:pPr>
            <a:r>
              <a:rPr sz="1800" b="1">
                <a:solidFill>
                  <a:srgbClr val="13243A"/>
                </a:solidFill>
              </a:rPr>
              <a:t>수행 체계</a:t>
            </a:r>
          </a:p>
        </p:txBody>
      </p:sp>
      <p:sp>
        <p:nvSpPr>
          <p:cNvPr id="22" name="contents-desc-3">
            <a:extLst xmlns:a="http://schemas.openxmlformats.org/drawingml/2006/main">
              <a:ext uri="{FF2B5EF4-FFF2-40B4-BE49-F238E27FC236}">
                <a16:creationId xmlns:a16="http://schemas.microsoft.com/office/drawing/2014/main" id="{3BC1BA15-8826-4DC6-B70E-C74724EB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481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7"/>
                </a:solidFill>
              </a:defRPr>
            </a:pPr>
            <a:r>
              <a:rPr sz="1350" b="0">
                <a:solidFill>
                  <a:srgbClr val="667587"/>
                </a:solidFill>
              </a:rPr>
              <a:t>조직·인력·일정·품질 관리</a:t>
            </a:r>
          </a:p>
        </p:txBody>
      </p:sp>
      <p:sp>
        <p:nvSpPr>
          <p:cNvPr id="23" name="contents-rule-3">
            <a:extLst xmlns:a="http://schemas.openxmlformats.org/drawingml/2006/main">
              <a:ext uri="{FF2B5EF4-FFF2-40B4-BE49-F238E27FC236}">
                <a16:creationId xmlns:a16="http://schemas.microsoft.com/office/drawing/2014/main" id="{E99EE08A-216F-44CB-81E5-6EDA3ECF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4" name="contents-number-4">
            <a:extLst xmlns:a="http://schemas.openxmlformats.org/drawingml/2006/main">
              <a:ext uri="{FF2B5EF4-FFF2-40B4-BE49-F238E27FC236}">
                <a16:creationId xmlns:a16="http://schemas.microsoft.com/office/drawing/2014/main" id="{C5C9094B-7CAF-45CD-BC41-D80005D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AB8C5"/>
                </a:solidFill>
              </a:defRPr>
            </a:pPr>
            <a:r>
              <a:rPr sz="1800" b="1">
                <a:solidFill>
                  <a:srgbClr val="AAB8C5"/>
                </a:solidFill>
              </a:rPr>
              <a:t>05</a:t>
            </a:r>
          </a:p>
        </p:txBody>
      </p:sp>
      <p:sp>
        <p:nvSpPr>
          <p:cNvPr id="25" name="contents-title-4">
            <a:extLst xmlns:a="http://schemas.openxmlformats.org/drawingml/2006/main">
              <a:ext uri="{FF2B5EF4-FFF2-40B4-BE49-F238E27FC236}">
                <a16:creationId xmlns:a16="http://schemas.microsoft.com/office/drawing/2014/main" id="{A24AF6EC-E594-4FDE-9C85-150962ED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29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43A"/>
                </a:solidFill>
              </a:defRPr>
            </a:pPr>
            <a:r>
              <a:rPr sz="1800" b="1">
                <a:solidFill>
                  <a:srgbClr val="13243A"/>
                </a:solidFill>
              </a:rPr>
              <a:t>기대 효과</a:t>
            </a:r>
          </a:p>
        </p:txBody>
      </p:sp>
      <p:sp>
        <p:nvSpPr>
          <p:cNvPr id="26" name="contents-desc-4">
            <a:extLst xmlns:a="http://schemas.openxmlformats.org/drawingml/2006/main">
              <a:ext uri="{FF2B5EF4-FFF2-40B4-BE49-F238E27FC236}">
                <a16:creationId xmlns:a16="http://schemas.microsoft.com/office/drawing/2014/main" id="{2FB05EF6-5942-433E-A398-39569227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482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587"/>
                </a:solidFill>
              </a:defRPr>
            </a:pPr>
            <a:r>
              <a:rPr sz="1350" b="0">
                <a:solidFill>
                  <a:srgbClr val="667587"/>
                </a:solidFill>
              </a:rPr>
              <a:t>정량·정성 성과와 확장 방향</a:t>
            </a:r>
          </a:p>
        </p:txBody>
      </p:sp>
      <p:sp>
        <p:nvSpPr>
          <p:cNvPr id="27" name="contents-rule-4">
            <a:extLst xmlns:a="http://schemas.openxmlformats.org/drawingml/2006/main">
              <a:ext uri="{FF2B5EF4-FFF2-40B4-BE49-F238E27FC236}">
                <a16:creationId xmlns:a16="http://schemas.microsoft.com/office/drawing/2014/main" id="{60871EAE-DC7B-491E-9883-5FA88B8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314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304b0d13747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-panel">
            <a:extLst xmlns:a="http://schemas.openxmlformats.org/drawingml/2006/main">
              <a:ext uri="{FF2B5EF4-FFF2-40B4-BE49-F238E27FC236}">
                <a16:creationId xmlns:a16="http://schemas.microsoft.com/office/drawing/2014/main" id="{CB1E8AE3-ABFB-4A99-80F7-46E26DE9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3" name="section-index">
            <a:extLst xmlns:a="http://schemas.openxmlformats.org/drawingml/2006/main">
              <a:ext uri="{FF2B5EF4-FFF2-40B4-BE49-F238E27FC236}">
                <a16:creationId xmlns:a16="http://schemas.microsoft.com/office/drawing/2014/main" id="{F4E54D63-F0FD-4550-BD6E-9AEB6808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FA17D"/>
                </a:solidFill>
              </a:defRPr>
            </a:pPr>
            <a:r>
              <a:rPr sz="3750" b="1">
                <a:solidFill>
                  <a:srgbClr val="3FA17D"/>
                </a:solidFill>
              </a:rPr>
              <a:t>01</a:t>
            </a:r>
          </a:p>
        </p:txBody>
      </p:sp>
      <p:sp>
        <p:nvSpPr>
          <p:cNvPr id="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126DE3C2-9336-4D9F-8DD5-9845B3A0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사업 이해</a:t>
            </a:r>
          </a:p>
        </p:txBody>
      </p:sp>
      <p:sp>
        <p:nvSpPr>
          <p:cNvPr id="5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235271E5-107D-4D11-BD03-8D8C69BB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2EC"/>
                </a:solidFill>
              </a:defRPr>
            </a:pPr>
            <a:r>
              <a:rPr sz="1650" b="0">
                <a:solidFill>
                  <a:srgbClr val="D8E2EC"/>
                </a:solidFill>
              </a:rPr>
              <a:t>공고의 목적과 요구사항을 정확히 해석하고</a:t>
            </a:r>
          </a:p>
          <a:p xmlns:a="http://schemas.openxmlformats.org/drawingml/2006/main">
            <a:pPr algn="l">
              <a:defRPr sz="1650" b="0">
                <a:solidFill>
                  <a:srgbClr val="D8E2EC"/>
                </a:solidFill>
              </a:defRPr>
            </a:pPr>
            <a:r>
              <a:rPr sz="1650" b="0">
                <a:solidFill>
                  <a:srgbClr val="D8E2EC"/>
                </a:solidFill>
              </a:rPr>
              <a:t>제안의 출발점을 정의합니다.</a:t>
            </a:r>
          </a:p>
        </p:txBody>
      </p:sp>
      <p:sp>
        <p:nvSpPr>
          <p:cNvPr id="6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7A59C596-B579-4A6E-8DB9-D4144737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679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accent-4">
            <a:extLst xmlns:a="http://schemas.openxmlformats.org/drawingml/2006/main">
              <a:ext uri="{FF2B5EF4-FFF2-40B4-BE49-F238E27FC236}">
                <a16:creationId xmlns:a16="http://schemas.microsoft.com/office/drawing/2014/main" id="{C76A9F5C-A24E-4945-B08E-7D1DC76F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4">
            <a:extLst xmlns:a="http://schemas.openxmlformats.org/drawingml/2006/main">
              <a:ext uri="{FF2B5EF4-FFF2-40B4-BE49-F238E27FC236}">
                <a16:creationId xmlns:a16="http://schemas.microsoft.com/office/drawing/2014/main" id="{8ADD30B0-F2E9-4200-9983-4AD5C865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EXECUTIVE SUMMARY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13B446B9-76BD-4B61-ADBD-F804ADF3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DA98E5B2-78E1-4CD9-A733-B9689F6A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E04C175-B17B-472D-929F-45D8C61A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04</a:t>
            </a:r>
          </a:p>
        </p:txBody>
      </p:sp>
      <p:sp>
        <p:nvSpPr>
          <p:cNvPr id="6" name="title-4">
            <a:extLst xmlns:a="http://schemas.openxmlformats.org/drawingml/2006/main">
              <a:ext uri="{FF2B5EF4-FFF2-40B4-BE49-F238E27FC236}">
                <a16:creationId xmlns:a16="http://schemas.microsoft.com/office/drawing/2014/main" id="{2D0C2B6E-1AEC-469A-A132-815CB527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제안 요약</a:t>
            </a:r>
          </a:p>
        </p:txBody>
      </p:sp>
      <p:sp>
        <p:nvSpPr>
          <p:cNvPr id="7" name="subtitle-4">
            <a:extLst xmlns:a="http://schemas.openxmlformats.org/drawingml/2006/main">
              <a:ext uri="{FF2B5EF4-FFF2-40B4-BE49-F238E27FC236}">
                <a16:creationId xmlns:a16="http://schemas.microsoft.com/office/drawing/2014/main" id="{72DD0A09-C9A9-4438-8253-9B1D338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의사결정자가 가장 먼저 확인해야 할 결론을 한 장에 담습니다.</a:t>
            </a:r>
          </a:p>
        </p:txBody>
      </p:sp>
      <p:sp>
        <p:nvSpPr>
          <p:cNvPr id="8" name="summary-band">
            <a:extLst xmlns:a="http://schemas.openxmlformats.org/drawingml/2006/main">
              <a:ext uri="{FF2B5EF4-FFF2-40B4-BE49-F238E27FC236}">
                <a16:creationId xmlns:a16="http://schemas.microsoft.com/office/drawing/2014/main" id="{CC9326D6-C074-4860-8F71-336CA6EC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DEBF7"/>
            </a:solidFill>
            <a:prstDash val="solid"/>
          </a:ln>
        </p:spPr>
      </p:sp>
      <p:sp>
        <p:nvSpPr>
          <p:cNvPr id="9" name="summary-statement">
            <a:extLst xmlns:a="http://schemas.openxmlformats.org/drawingml/2006/main">
              <a:ext uri="{FF2B5EF4-FFF2-40B4-BE49-F238E27FC236}">
                <a16:creationId xmlns:a16="http://schemas.microsoft.com/office/drawing/2014/main" id="{403B0BC5-8CBB-412D-9408-1AA2275E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3243A"/>
                </a:solidFill>
              </a:defRPr>
            </a:pPr>
            <a:r>
              <a:rPr sz="2250" b="1">
                <a:solidFill>
                  <a:srgbClr val="13243A"/>
                </a:solidFill>
              </a:rPr>
              <a:t>“발주기관의 핵심 목표를</a:t>
            </a:r>
          </a:p>
          <a:p xmlns:a="http://schemas.openxmlformats.org/drawingml/2006/main">
            <a:pPr algn="l">
              <a:defRPr sz="2250" b="1">
                <a:solidFill>
                  <a:srgbClr val="13243A"/>
                </a:solidFill>
              </a:defRPr>
            </a:pPr>
            <a:r>
              <a:rPr sz="2250" b="1">
                <a:solidFill>
                  <a:srgbClr val="13243A"/>
                </a:solidFill>
              </a:rPr>
              <a:t>우리 회사의 검증된 역량으로 달성합니다.”</a:t>
            </a:r>
          </a:p>
        </p:txBody>
      </p:sp>
      <p:sp>
        <p:nvSpPr>
          <p:cNvPr id="10" name="summary-points-dot-0">
            <a:extLst xmlns:a="http://schemas.openxmlformats.org/drawingml/2006/main">
              <a:ext uri="{FF2B5EF4-FFF2-40B4-BE49-F238E27FC236}">
                <a16:creationId xmlns:a16="http://schemas.microsoft.com/office/drawing/2014/main" id="{2E20F90A-D698-41B0-8D8B-2A44BCF7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11" name="summary-points-0">
            <a:extLst xmlns:a="http://schemas.openxmlformats.org/drawingml/2006/main">
              <a:ext uri="{FF2B5EF4-FFF2-40B4-BE49-F238E27FC236}">
                <a16:creationId xmlns:a16="http://schemas.microsoft.com/office/drawing/2014/main" id="{D09C888F-9FB6-4B63-96AA-35737782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C"/>
                </a:solidFill>
              </a:defRPr>
            </a:pPr>
            <a:r>
              <a:rPr sz="1350" b="0">
                <a:solidFill>
                  <a:srgbClr val="1D2B3C"/>
                </a:solidFill>
              </a:rPr>
              <a:t>공고문에서 확인한 핵심 요구사항</a:t>
            </a:r>
          </a:p>
        </p:txBody>
      </p:sp>
      <p:sp>
        <p:nvSpPr>
          <p:cNvPr id="12" name="summary-points-dot-1">
            <a:extLst xmlns:a="http://schemas.openxmlformats.org/drawingml/2006/main">
              <a:ext uri="{FF2B5EF4-FFF2-40B4-BE49-F238E27FC236}">
                <a16:creationId xmlns:a16="http://schemas.microsoft.com/office/drawing/2014/main" id="{B13F128D-C1FD-4690-B984-6208DDF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13" name="summary-points-1">
            <a:extLst xmlns:a="http://schemas.openxmlformats.org/drawingml/2006/main">
              <a:ext uri="{FF2B5EF4-FFF2-40B4-BE49-F238E27FC236}">
                <a16:creationId xmlns:a16="http://schemas.microsoft.com/office/drawing/2014/main" id="{DAC7CAFF-C0A8-4AD8-B5B7-D5D997EA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C"/>
                </a:solidFill>
              </a:defRPr>
            </a:pPr>
            <a:r>
              <a:rPr sz="1350" b="0">
                <a:solidFill>
                  <a:srgbClr val="1D2B3C"/>
                </a:solidFill>
              </a:rPr>
              <a:t>우리 회사가 보유한 직접적인 수행 근거</a:t>
            </a:r>
          </a:p>
        </p:txBody>
      </p:sp>
      <p:sp>
        <p:nvSpPr>
          <p:cNvPr id="14" name="summary-points-dot-2">
            <a:extLst xmlns:a="http://schemas.openxmlformats.org/drawingml/2006/main">
              <a:ext uri="{FF2B5EF4-FFF2-40B4-BE49-F238E27FC236}">
                <a16:creationId xmlns:a16="http://schemas.microsoft.com/office/drawing/2014/main" id="{D5165433-92BE-4718-BF7F-D819BCBD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15" name="summary-points-2">
            <a:extLst xmlns:a="http://schemas.openxmlformats.org/drawingml/2006/main">
              <a:ext uri="{FF2B5EF4-FFF2-40B4-BE49-F238E27FC236}">
                <a16:creationId xmlns:a16="http://schemas.microsoft.com/office/drawing/2014/main" id="{E382B45B-D214-4B7F-97C6-F648858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B3C"/>
                </a:solidFill>
              </a:defRPr>
            </a:pPr>
            <a:r>
              <a:rPr sz="1350" b="0">
                <a:solidFill>
                  <a:srgbClr val="1D2B3C"/>
                </a:solidFill>
              </a:rPr>
              <a:t>평가위원이 기억해야 할 차별화 메시지</a:t>
            </a:r>
          </a:p>
        </p:txBody>
      </p:sp>
      <p:sp>
        <p:nvSpPr>
          <p:cNvPr id="16" name="summary-side-rule">
            <a:extLst xmlns:a="http://schemas.openxmlformats.org/drawingml/2006/main">
              <a:ext uri="{FF2B5EF4-FFF2-40B4-BE49-F238E27FC236}">
                <a16:creationId xmlns:a16="http://schemas.microsoft.com/office/drawing/2014/main" id="{3008189E-4AC3-4F9B-9464-812AD950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5"/>
          </a:solidFill>
          <a:ln xmlns:a="http://schemas.openxmlformats.org/drawingml/2006/main" w="9525">
            <a:solidFill>
              <a:srgbClr val="AAB8C5"/>
            </a:solidFill>
            <a:prstDash val="solid"/>
          </a:ln>
        </p:spPr>
      </p:sp>
      <p:sp>
        <p:nvSpPr>
          <p:cNvPr id="17" name="metric-value-930">
            <a:extLst xmlns:a="http://schemas.openxmlformats.org/drawingml/2006/main">
              <a:ext uri="{FF2B5EF4-FFF2-40B4-BE49-F238E27FC236}">
                <a16:creationId xmlns:a16="http://schemas.microsoft.com/office/drawing/2014/main" id="{9E7B5C00-A049-4306-9723-EEF553C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621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88C7"/>
                </a:solidFill>
              </a:defRPr>
            </a:pPr>
            <a:r>
              <a:rPr sz="2850" b="1">
                <a:solidFill>
                  <a:srgbClr val="4E88C7"/>
                </a:solidFill>
              </a:rPr>
              <a:t>[수치]</a:t>
            </a:r>
          </a:p>
        </p:txBody>
      </p:sp>
      <p:sp>
        <p:nvSpPr>
          <p:cNvPr id="18" name="metric-label-930">
            <a:extLst xmlns:a="http://schemas.openxmlformats.org/drawingml/2006/main">
              <a:ext uri="{FF2B5EF4-FFF2-40B4-BE49-F238E27FC236}">
                <a16:creationId xmlns:a16="http://schemas.microsoft.com/office/drawing/2014/main" id="{C01A9F39-7C25-414E-8DC0-6926ECE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336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대표 수행 실적</a:t>
            </a:r>
          </a:p>
        </p:txBody>
      </p:sp>
      <p:sp>
        <p:nvSpPr>
          <p:cNvPr id="19" name="metric-value-930">
            <a:extLst xmlns:a="http://schemas.openxmlformats.org/drawingml/2006/main">
              <a:ext uri="{FF2B5EF4-FFF2-40B4-BE49-F238E27FC236}">
                <a16:creationId xmlns:a16="http://schemas.microsoft.com/office/drawing/2014/main" id="{EFCAA712-2059-4B3C-BA29-7932AF3F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17D"/>
                </a:solidFill>
              </a:defRPr>
            </a:pPr>
            <a:r>
              <a:rPr sz="2850" b="1">
                <a:solidFill>
                  <a:srgbClr val="3FA17D"/>
                </a:solidFill>
              </a:rPr>
              <a:t>[수치]</a:t>
            </a:r>
          </a:p>
        </p:txBody>
      </p:sp>
      <p:sp>
        <p:nvSpPr>
          <p:cNvPr id="20" name="metric-label-930">
            <a:extLst xmlns:a="http://schemas.openxmlformats.org/drawingml/2006/main">
              <a:ext uri="{FF2B5EF4-FFF2-40B4-BE49-F238E27FC236}">
                <a16:creationId xmlns:a16="http://schemas.microsoft.com/office/drawing/2014/main" id="{B89F1B81-BEB2-4786-B904-4AEDE2B3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핵심 전문 인력</a:t>
            </a:r>
          </a:p>
        </p:txBody>
      </p:sp>
      <p:sp>
        <p:nvSpPr>
          <p:cNvPr id="21" name="metric-value-930">
            <a:extLst xmlns:a="http://schemas.openxmlformats.org/drawingml/2006/main">
              <a:ext uri="{FF2B5EF4-FFF2-40B4-BE49-F238E27FC236}">
                <a16:creationId xmlns:a16="http://schemas.microsoft.com/office/drawing/2014/main" id="{22C17B91-97C2-4B46-9388-62D9267B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[수치]</a:t>
            </a:r>
          </a:p>
        </p:txBody>
      </p:sp>
      <p:sp>
        <p:nvSpPr>
          <p:cNvPr id="22" name="metric-label-930">
            <a:extLst xmlns:a="http://schemas.openxmlformats.org/drawingml/2006/main">
              <a:ext uri="{FF2B5EF4-FFF2-40B4-BE49-F238E27FC236}">
                <a16:creationId xmlns:a16="http://schemas.microsoft.com/office/drawing/2014/main" id="{34AAA2C8-DF4F-4647-9855-242D0F89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목표 성과 지표</a:t>
            </a:r>
          </a:p>
        </p:txBody>
      </p:sp>
    </p:spTree>
    <p:extLst>
      <p:ext uri="{BB962C8B-B14F-4D97-AF65-F5344CB8AC3E}">
        <p14:creationId xmlns:p14="http://schemas.microsoft.com/office/powerpoint/2010/main" val="4474291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-5">
            <a:extLst xmlns:a="http://schemas.openxmlformats.org/drawingml/2006/main">
              <a:ext uri="{FF2B5EF4-FFF2-40B4-BE49-F238E27FC236}">
                <a16:creationId xmlns:a16="http://schemas.microsoft.com/office/drawing/2014/main" id="{7ED96E39-3BBF-40A1-A887-F5AB969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5">
            <a:extLst xmlns:a="http://schemas.openxmlformats.org/drawingml/2006/main">
              <a:ext uri="{FF2B5EF4-FFF2-40B4-BE49-F238E27FC236}">
                <a16:creationId xmlns:a16="http://schemas.microsoft.com/office/drawing/2014/main" id="{CA1A0353-AD3B-4329-8365-1FAC1F8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BUSINESS UNDERSTANDING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EFEE66E-B7FE-4F9C-83D0-2E8F710B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C5A5B4CD-3917-463E-936D-ACC55B70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A9B972C2-6949-4E3E-B995-ECE58CC2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05</a:t>
            </a:r>
          </a:p>
        </p:txBody>
      </p:sp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A5003DE4-EF45-4BE4-8C0E-EBF97320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발주기관이 원하는 변화</a:t>
            </a:r>
          </a:p>
        </p:txBody>
      </p:sp>
      <p:sp>
        <p:nvSpPr>
          <p:cNvPr id="7" name="subtitle-5">
            <a:extLst xmlns:a="http://schemas.openxmlformats.org/drawingml/2006/main">
              <a:ext uri="{FF2B5EF4-FFF2-40B4-BE49-F238E27FC236}">
                <a16:creationId xmlns:a16="http://schemas.microsoft.com/office/drawing/2014/main" id="{A302A673-9184-4B81-B497-EC7F153C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현재 상황, 해결 과제, 목표 결과를 하나의 논리로 연결합니다.</a:t>
            </a:r>
          </a:p>
        </p:txBody>
      </p:sp>
      <p:sp>
        <p:nvSpPr>
          <p:cNvPr id="8" name="understanding-panel-0">
            <a:extLst xmlns:a="http://schemas.openxmlformats.org/drawingml/2006/main">
              <a:ext uri="{FF2B5EF4-FFF2-40B4-BE49-F238E27FC236}">
                <a16:creationId xmlns:a16="http://schemas.microsoft.com/office/drawing/2014/main" id="{69082A61-7F51-4188-995C-F2A8E14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146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EEF1F2"/>
            </a:solidFill>
            <a:prstDash val="solid"/>
          </a:ln>
        </p:spPr>
      </p:sp>
      <p:sp>
        <p:nvSpPr>
          <p:cNvPr id="9" name="understanding-accent-0">
            <a:extLst xmlns:a="http://schemas.openxmlformats.org/drawingml/2006/main">
              <a:ext uri="{FF2B5EF4-FFF2-40B4-BE49-F238E27FC236}">
                <a16:creationId xmlns:a16="http://schemas.microsoft.com/office/drawing/2014/main" id="{D38B9898-6D6E-48F7-BEEB-98D7AEDB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914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5"/>
          </a:solidFill>
          <a:ln xmlns:a="http://schemas.openxmlformats.org/drawingml/2006/main" w="9525">
            <a:solidFill>
              <a:srgbClr val="AAB8C5"/>
            </a:solidFill>
            <a:prstDash val="solid"/>
          </a:ln>
        </p:spPr>
      </p:sp>
      <p:sp>
        <p:nvSpPr>
          <p:cNvPr id="10" name="number-01-108-252">
            <a:extLst xmlns:a="http://schemas.openxmlformats.org/drawingml/2006/main">
              <a:ext uri="{FF2B5EF4-FFF2-40B4-BE49-F238E27FC236}">
                <a16:creationId xmlns:a16="http://schemas.microsoft.com/office/drawing/2014/main" id="{BA8D72EB-FDB0-45B3-B362-5D7F6AD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AB8C5"/>
          </a:solidFill>
          <a:ln xmlns:a="http://schemas.openxmlformats.org/drawingml/2006/main" w="0">
            <a:solidFill>
              <a:srgbClr val="AAB8C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understanding-label-0">
            <a:extLst xmlns:a="http://schemas.openxmlformats.org/drawingml/2006/main">
              <a:ext uri="{FF2B5EF4-FFF2-40B4-BE49-F238E27FC236}">
                <a16:creationId xmlns:a16="http://schemas.microsoft.com/office/drawing/2014/main" id="{B1019C7E-8BB0-4377-ABDF-B3136CD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현재 상황</a:t>
            </a:r>
          </a:p>
        </p:txBody>
      </p:sp>
      <p:sp>
        <p:nvSpPr>
          <p:cNvPr id="12" name="understanding-copy-0">
            <a:extLst xmlns:a="http://schemas.openxmlformats.org/drawingml/2006/main">
              <a:ext uri="{FF2B5EF4-FFF2-40B4-BE49-F238E27FC236}">
                <a16:creationId xmlns:a16="http://schemas.microsoft.com/office/drawing/2014/main" id="{C53E8ADD-157D-4E07-8D81-FB7E141C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공고문과 제안요청서에 나타난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사업 배경과 운영상의 문제</a:t>
            </a:r>
          </a:p>
        </p:txBody>
      </p:sp>
      <p:sp>
        <p:nvSpPr>
          <p:cNvPr id="13" name="understanding-panel-1">
            <a:extLst xmlns:a="http://schemas.openxmlformats.org/drawingml/2006/main">
              <a:ext uri="{FF2B5EF4-FFF2-40B4-BE49-F238E27FC236}">
                <a16:creationId xmlns:a16="http://schemas.microsoft.com/office/drawing/2014/main" id="{2B3CC7BF-E29A-45BB-B3F2-30035F7F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29146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DEBF7"/>
            </a:solidFill>
            <a:prstDash val="solid"/>
          </a:ln>
        </p:spPr>
      </p:sp>
      <p:sp>
        <p:nvSpPr>
          <p:cNvPr id="14" name="understanding-accent-1">
            <a:extLst xmlns:a="http://schemas.openxmlformats.org/drawingml/2006/main">
              <a:ext uri="{FF2B5EF4-FFF2-40B4-BE49-F238E27FC236}">
                <a16:creationId xmlns:a16="http://schemas.microsoft.com/office/drawing/2014/main" id="{8177BBB9-3B15-4AA5-856E-3E1DCEBC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2914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15" name="number-02-470-252">
            <a:extLst xmlns:a="http://schemas.openxmlformats.org/drawingml/2006/main">
              <a:ext uri="{FF2B5EF4-FFF2-40B4-BE49-F238E27FC236}">
                <a16:creationId xmlns:a16="http://schemas.microsoft.com/office/drawing/2014/main" id="{20E57761-D2C0-466D-BE4A-4A2F3740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0">
            <a:solidFill>
              <a:srgbClr val="4E88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understanding-label-1">
            <a:extLst xmlns:a="http://schemas.openxmlformats.org/drawingml/2006/main">
              <a:ext uri="{FF2B5EF4-FFF2-40B4-BE49-F238E27FC236}">
                <a16:creationId xmlns:a16="http://schemas.microsoft.com/office/drawing/2014/main" id="{0097FF47-9360-4BE7-8D0F-BE6704C9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핵심 과제</a:t>
            </a:r>
          </a:p>
        </p:txBody>
      </p:sp>
      <p:sp>
        <p:nvSpPr>
          <p:cNvPr id="17" name="understanding-copy-1">
            <a:extLst xmlns:a="http://schemas.openxmlformats.org/drawingml/2006/main">
              <a:ext uri="{FF2B5EF4-FFF2-40B4-BE49-F238E27FC236}">
                <a16:creationId xmlns:a16="http://schemas.microsoft.com/office/drawing/2014/main" id="{6DEB8260-6599-4BBE-BB6D-3E21990F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반드시 해결해야 하는 요구사항과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평가에서 확인할 성공 조건</a:t>
            </a:r>
          </a:p>
        </p:txBody>
      </p:sp>
      <p:sp>
        <p:nvSpPr>
          <p:cNvPr id="18" name="understanding-panel-2">
            <a:extLst xmlns:a="http://schemas.openxmlformats.org/drawingml/2006/main">
              <a:ext uri="{FF2B5EF4-FFF2-40B4-BE49-F238E27FC236}">
                <a16:creationId xmlns:a16="http://schemas.microsoft.com/office/drawing/2014/main" id="{4CDC0784-D0DF-4891-833C-6B8E07E4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9146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DFF2EA"/>
          </a:solidFill>
          <a:ln xmlns:a="http://schemas.openxmlformats.org/drawingml/2006/main" w="9525">
            <a:solidFill>
              <a:srgbClr val="DFF2EA"/>
            </a:solidFill>
            <a:prstDash val="solid"/>
          </a:ln>
        </p:spPr>
      </p:sp>
      <p:sp>
        <p:nvSpPr>
          <p:cNvPr id="19" name="understanding-accent-2">
            <a:extLst xmlns:a="http://schemas.openxmlformats.org/drawingml/2006/main">
              <a:ext uri="{FF2B5EF4-FFF2-40B4-BE49-F238E27FC236}">
                <a16:creationId xmlns:a16="http://schemas.microsoft.com/office/drawing/2014/main" id="{CA97E981-E782-4A4F-91A8-294AE5E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9146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20" name="number-03-832-252">
            <a:extLst xmlns:a="http://schemas.openxmlformats.org/drawingml/2006/main">
              <a:ext uri="{FF2B5EF4-FFF2-40B4-BE49-F238E27FC236}">
                <a16:creationId xmlns:a16="http://schemas.microsoft.com/office/drawing/2014/main" id="{C4C61D04-536C-4F85-8F60-2F4113D3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0">
            <a:solidFill>
              <a:srgbClr val="3FA1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understanding-label-2">
            <a:extLst xmlns:a="http://schemas.openxmlformats.org/drawingml/2006/main">
              <a:ext uri="{FF2B5EF4-FFF2-40B4-BE49-F238E27FC236}">
                <a16:creationId xmlns:a16="http://schemas.microsoft.com/office/drawing/2014/main" id="{B07AD602-3A4C-4E4B-B8E4-60B11F41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목표 결과</a:t>
            </a:r>
          </a:p>
        </p:txBody>
      </p:sp>
      <p:sp>
        <p:nvSpPr>
          <p:cNvPr id="22" name="understanding-copy-2">
            <a:extLst xmlns:a="http://schemas.openxmlformats.org/drawingml/2006/main">
              <a:ext uri="{FF2B5EF4-FFF2-40B4-BE49-F238E27FC236}">
                <a16:creationId xmlns:a16="http://schemas.microsoft.com/office/drawing/2014/main" id="{07E7DF21-2C50-421E-B125-73F6BFEF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8140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사업 종료 시점에 발주기관이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확인해야 할 구체적인 변화</a:t>
            </a:r>
          </a:p>
        </p:txBody>
      </p:sp>
      <p:sp>
        <p:nvSpPr>
          <p:cNvPr id="23" name="understanding-source">
            <a:extLst xmlns:a="http://schemas.openxmlformats.org/drawingml/2006/main">
              <a:ext uri="{FF2B5EF4-FFF2-40B4-BE49-F238E27FC236}">
                <a16:creationId xmlns:a16="http://schemas.microsoft.com/office/drawing/2014/main" id="{03C71CBD-9B14-40E0-BFBF-90A95C6A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587"/>
                </a:solidFill>
              </a:defRPr>
            </a:pPr>
            <a:r>
              <a:rPr sz="1050" b="0">
                <a:solidFill>
                  <a:srgbClr val="667587"/>
                </a:solidFill>
              </a:rPr>
              <a:t>근거: 공고문 · 제안요청서 · 과업지시서에서 확인된 내용만 사용</a:t>
            </a:r>
          </a:p>
        </p:txBody>
      </p:sp>
    </p:spTree>
    <p:extLst>
      <p:ext uri="{BB962C8B-B14F-4D97-AF65-F5344CB8AC3E}">
        <p14:creationId xmlns:p14="http://schemas.microsoft.com/office/powerpoint/2010/main" val="1739464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accent-6">
            <a:extLst xmlns:a="http://schemas.openxmlformats.org/drawingml/2006/main">
              <a:ext uri="{FF2B5EF4-FFF2-40B4-BE49-F238E27FC236}">
                <a16:creationId xmlns:a16="http://schemas.microsoft.com/office/drawing/2014/main" id="{5A2BAB3E-30BE-4B22-BB6C-11252D94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6">
            <a:extLst xmlns:a="http://schemas.openxmlformats.org/drawingml/2006/main">
              <a:ext uri="{FF2B5EF4-FFF2-40B4-BE49-F238E27FC236}">
                <a16:creationId xmlns:a16="http://schemas.microsoft.com/office/drawing/2014/main" id="{6BCB8D0E-152B-4B35-9CAC-92EE7718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WIN STRATEGY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25136FD-9043-46B6-B42F-930AF5AD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E1A69EC7-9533-4F3A-BB2F-E0475251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DCED90C7-BE47-429A-8197-C2C6CA0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06</a:t>
            </a:r>
          </a:p>
        </p:txBody>
      </p:sp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2E763E0A-4D57-41AA-AB99-7EBD5F73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평가위원이 기억할 세 가지</a:t>
            </a:r>
          </a:p>
        </p:txBody>
      </p:sp>
      <p:sp>
        <p:nvSpPr>
          <p:cNvPr id="7" name="subtitle-6">
            <a:extLst xmlns:a="http://schemas.openxmlformats.org/drawingml/2006/main">
              <a:ext uri="{FF2B5EF4-FFF2-40B4-BE49-F238E27FC236}">
                <a16:creationId xmlns:a16="http://schemas.microsoft.com/office/drawing/2014/main" id="{E2FF44E1-94FB-47E9-B25F-0DBE360F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공고 요구사항과 회사 근거가 만나는 지점을 수주 전략으로 정의합니다.</a:t>
            </a:r>
          </a:p>
        </p:txBody>
      </p:sp>
      <p:sp>
        <p:nvSpPr>
          <p:cNvPr id="8" name="strategy-no-0">
            <a:extLst xmlns:a="http://schemas.openxmlformats.org/drawingml/2006/main">
              <a:ext uri="{FF2B5EF4-FFF2-40B4-BE49-F238E27FC236}">
                <a16:creationId xmlns:a16="http://schemas.microsoft.com/office/drawing/2014/main" id="{4CDF2EF4-CD72-4625-B164-D9B3298B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78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E88C7"/>
                </a:solidFill>
              </a:defRPr>
            </a:pPr>
            <a:r>
              <a:rPr sz="2400" b="1">
                <a:solidFill>
                  <a:srgbClr val="4E88C7"/>
                </a:solidFill>
              </a:rPr>
              <a:t>01</a:t>
            </a:r>
          </a:p>
        </p:txBody>
      </p:sp>
      <p:sp>
        <p:nvSpPr>
          <p:cNvPr id="9" name="strategy-title-0">
            <a:extLst xmlns:a="http://schemas.openxmlformats.org/drawingml/2006/main">
              <a:ext uri="{FF2B5EF4-FFF2-40B4-BE49-F238E27FC236}">
                <a16:creationId xmlns:a16="http://schemas.microsoft.com/office/drawing/2014/main" id="{8C069345-89EB-4BFF-B4AB-E366AC3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193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43A"/>
                </a:solidFill>
              </a:defRPr>
            </a:pPr>
            <a:r>
              <a:rPr sz="2100" b="1">
                <a:solidFill>
                  <a:srgbClr val="13243A"/>
                </a:solidFill>
              </a:rPr>
              <a:t>적합성</a:t>
            </a:r>
          </a:p>
        </p:txBody>
      </p:sp>
      <p:sp>
        <p:nvSpPr>
          <p:cNvPr id="10" name="strategy-copy-0">
            <a:extLst xmlns:a="http://schemas.openxmlformats.org/drawingml/2006/main">
              <a:ext uri="{FF2B5EF4-FFF2-40B4-BE49-F238E27FC236}">
                <a16:creationId xmlns:a16="http://schemas.microsoft.com/office/drawing/2014/main" id="{EFF5656E-A21B-4B1B-A6FC-0ABF9EDA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C"/>
                </a:solidFill>
              </a:defRPr>
            </a:pPr>
            <a:r>
              <a:rPr sz="1425" b="0">
                <a:solidFill>
                  <a:srgbClr val="1D2B3C"/>
                </a:solidFill>
              </a:rPr>
              <a:t>필수 요구사항을 빠짐없이 충족하고</a:t>
            </a:r>
          </a:p>
          <a:p xmlns:a="http://schemas.openxmlformats.org/drawingml/2006/main">
            <a:pPr algn="l">
              <a:defRPr sz="1425" b="0">
                <a:solidFill>
                  <a:srgbClr val="1D2B3C"/>
                </a:solidFill>
              </a:defRPr>
            </a:pPr>
            <a:r>
              <a:rPr sz="1425" b="0">
                <a:solidFill>
                  <a:srgbClr val="1D2B3C"/>
                </a:solidFill>
              </a:rPr>
              <a:t>평가 항목별 대응 근거를 제시</a:t>
            </a:r>
          </a:p>
        </p:txBody>
      </p:sp>
      <p:sp>
        <p:nvSpPr>
          <p:cNvPr id="11" name="strategy-rule-0">
            <a:extLst xmlns:a="http://schemas.openxmlformats.org/drawingml/2006/main">
              <a:ext uri="{FF2B5EF4-FFF2-40B4-BE49-F238E27FC236}">
                <a16:creationId xmlns:a16="http://schemas.microsoft.com/office/drawing/2014/main" id="{03895B11-15DF-42F6-B05F-E73074D0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strategy-no-1">
            <a:extLst xmlns:a="http://schemas.openxmlformats.org/drawingml/2006/main">
              <a:ext uri="{FF2B5EF4-FFF2-40B4-BE49-F238E27FC236}">
                <a16:creationId xmlns:a16="http://schemas.microsoft.com/office/drawing/2014/main" id="{8623C34D-6C14-4DF0-97F1-D04715BB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78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FA17D"/>
                </a:solidFill>
              </a:defRPr>
            </a:pPr>
            <a:r>
              <a:rPr sz="2400" b="1">
                <a:solidFill>
                  <a:srgbClr val="3FA17D"/>
                </a:solidFill>
              </a:rPr>
              <a:t>02</a:t>
            </a:r>
          </a:p>
        </p:txBody>
      </p:sp>
      <p:sp>
        <p:nvSpPr>
          <p:cNvPr id="13" name="strategy-title-1">
            <a:extLst xmlns:a="http://schemas.openxmlformats.org/drawingml/2006/main">
              <a:ext uri="{FF2B5EF4-FFF2-40B4-BE49-F238E27FC236}">
                <a16:creationId xmlns:a16="http://schemas.microsoft.com/office/drawing/2014/main" id="{80C112BE-F623-4B0F-B36F-880E7681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766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43A"/>
                </a:solidFill>
              </a:defRPr>
            </a:pPr>
            <a:r>
              <a:rPr sz="2100" b="1">
                <a:solidFill>
                  <a:srgbClr val="13243A"/>
                </a:solidFill>
              </a:rPr>
              <a:t>차별성</a:t>
            </a:r>
          </a:p>
        </p:txBody>
      </p:sp>
      <p:sp>
        <p:nvSpPr>
          <p:cNvPr id="14" name="strategy-copy-1">
            <a:extLst xmlns:a="http://schemas.openxmlformats.org/drawingml/2006/main">
              <a:ext uri="{FF2B5EF4-FFF2-40B4-BE49-F238E27FC236}">
                <a16:creationId xmlns:a16="http://schemas.microsoft.com/office/drawing/2014/main" id="{E194F5B8-D4A5-491D-A3C8-51B35CF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C"/>
                </a:solidFill>
              </a:defRPr>
            </a:pPr>
            <a:r>
              <a:rPr sz="1425" b="0">
                <a:solidFill>
                  <a:srgbClr val="1D2B3C"/>
                </a:solidFill>
              </a:rPr>
              <a:t>과거 수행 실적과 보유 역량을</a:t>
            </a:r>
          </a:p>
          <a:p xmlns:a="http://schemas.openxmlformats.org/drawingml/2006/main">
            <a:pPr algn="l">
              <a:defRPr sz="1425" b="0">
                <a:solidFill>
                  <a:srgbClr val="1D2B3C"/>
                </a:solidFill>
              </a:defRPr>
            </a:pPr>
            <a:r>
              <a:rPr sz="1425" b="0">
                <a:solidFill>
                  <a:srgbClr val="1D2B3C"/>
                </a:solidFill>
              </a:rPr>
              <a:t>이번 사업의 실행 방식으로 연결</a:t>
            </a:r>
          </a:p>
        </p:txBody>
      </p:sp>
      <p:sp>
        <p:nvSpPr>
          <p:cNvPr id="15" name="strategy-rule-1">
            <a:extLst xmlns:a="http://schemas.openxmlformats.org/drawingml/2006/main">
              <a:ext uri="{FF2B5EF4-FFF2-40B4-BE49-F238E27FC236}">
                <a16:creationId xmlns:a16="http://schemas.microsoft.com/office/drawing/2014/main" id="{CDA72B64-9D3A-4F52-8B20-C98A35C2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strategy-no-2">
            <a:extLst xmlns:a="http://schemas.openxmlformats.org/drawingml/2006/main">
              <a:ext uri="{FF2B5EF4-FFF2-40B4-BE49-F238E27FC236}">
                <a16:creationId xmlns:a16="http://schemas.microsoft.com/office/drawing/2014/main" id="{E262E62E-E572-44FC-AD21-679C8325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78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243A"/>
                </a:solidFill>
              </a:defRPr>
            </a:pPr>
            <a:r>
              <a:rPr sz="2400" b="1">
                <a:solidFill>
                  <a:srgbClr val="13243A"/>
                </a:solidFill>
              </a:rPr>
              <a:t>03</a:t>
            </a:r>
          </a:p>
        </p:txBody>
      </p:sp>
      <p:sp>
        <p:nvSpPr>
          <p:cNvPr id="17" name="strategy-title-2">
            <a:extLst xmlns:a="http://schemas.openxmlformats.org/drawingml/2006/main">
              <a:ext uri="{FF2B5EF4-FFF2-40B4-BE49-F238E27FC236}">
                <a16:creationId xmlns:a16="http://schemas.microsoft.com/office/drawing/2014/main" id="{DD6D336A-93CD-478A-9FF3-7D2525D2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33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43A"/>
                </a:solidFill>
              </a:defRPr>
            </a:pPr>
            <a:r>
              <a:rPr sz="2100" b="1">
                <a:solidFill>
                  <a:srgbClr val="13243A"/>
                </a:solidFill>
              </a:rPr>
              <a:t>실행력</a:t>
            </a:r>
          </a:p>
        </p:txBody>
      </p:sp>
      <p:sp>
        <p:nvSpPr>
          <p:cNvPr id="18" name="strategy-copy-2">
            <a:extLst xmlns:a="http://schemas.openxmlformats.org/drawingml/2006/main">
              <a:ext uri="{FF2B5EF4-FFF2-40B4-BE49-F238E27FC236}">
                <a16:creationId xmlns:a16="http://schemas.microsoft.com/office/drawing/2014/main" id="{4F70ABAD-8991-40FA-A69A-70CEDC9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958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B3C"/>
                </a:solidFill>
              </a:defRPr>
            </a:pPr>
            <a:r>
              <a:rPr sz="1425" b="0">
                <a:solidFill>
                  <a:srgbClr val="1D2B3C"/>
                </a:solidFill>
              </a:rPr>
              <a:t>인력·일정·품질·위험 관리를</a:t>
            </a:r>
          </a:p>
          <a:p xmlns:a="http://schemas.openxmlformats.org/drawingml/2006/main">
            <a:pPr algn="l">
              <a:defRPr sz="1425" b="0">
                <a:solidFill>
                  <a:srgbClr val="1D2B3C"/>
                </a:solidFill>
              </a:defRPr>
            </a:pPr>
            <a:r>
              <a:rPr sz="1425" b="0">
                <a:solidFill>
                  <a:srgbClr val="1D2B3C"/>
                </a:solidFill>
              </a:rPr>
              <a:t>측정 가능한 계획으로 구체화</a:t>
            </a:r>
          </a:p>
        </p:txBody>
      </p:sp>
      <p:sp>
        <p:nvSpPr>
          <p:cNvPr id="19" name="strategy-rule-2">
            <a:extLst xmlns:a="http://schemas.openxmlformats.org/drawingml/2006/main">
              <a:ext uri="{FF2B5EF4-FFF2-40B4-BE49-F238E27FC236}">
                <a16:creationId xmlns:a16="http://schemas.microsoft.com/office/drawing/2014/main" id="{CF1DCF22-390F-4871-9077-F4C22CA6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F4F7F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1469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accent-7">
            <a:extLst xmlns:a="http://schemas.openxmlformats.org/drawingml/2006/main">
              <a:ext uri="{FF2B5EF4-FFF2-40B4-BE49-F238E27FC236}">
                <a16:creationId xmlns:a16="http://schemas.microsoft.com/office/drawing/2014/main" id="{53018FD2-C5F3-46FA-9C22-6DEAB1DF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7">
            <a:extLst xmlns:a="http://schemas.openxmlformats.org/drawingml/2006/main">
              <a:ext uri="{FF2B5EF4-FFF2-40B4-BE49-F238E27FC236}">
                <a16:creationId xmlns:a16="http://schemas.microsoft.com/office/drawing/2014/main" id="{05ADFAD5-7DC6-4BA2-B26A-064F1FA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SOLUTION OVERVIEW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E4F4D810-466A-4987-98AC-A725B52B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F63B1BA6-E9B3-4030-A9F8-4F0DCAA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BCC6A7D-A106-4B12-A9DF-3DF2300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07</a:t>
            </a:r>
          </a:p>
        </p:txBody>
      </p:sp>
      <p:sp>
        <p:nvSpPr>
          <p:cNvPr id="6" name="title-7">
            <a:extLst xmlns:a="http://schemas.openxmlformats.org/drawingml/2006/main">
              <a:ext uri="{FF2B5EF4-FFF2-40B4-BE49-F238E27FC236}">
                <a16:creationId xmlns:a16="http://schemas.microsoft.com/office/drawing/2014/main" id="{970A5622-50D9-460E-A368-5B84005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요구사항을 실행 체계로 전환</a:t>
            </a:r>
          </a:p>
        </p:txBody>
      </p:sp>
      <p:sp>
        <p:nvSpPr>
          <p:cNvPr id="7" name="subtitle-7">
            <a:extLst xmlns:a="http://schemas.openxmlformats.org/drawingml/2006/main">
              <a:ext uri="{FF2B5EF4-FFF2-40B4-BE49-F238E27FC236}">
                <a16:creationId xmlns:a16="http://schemas.microsoft.com/office/drawing/2014/main" id="{244800B9-3B00-42D7-B8EC-33AF846E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각 단계의 산출물과 책임을 명확히 정의합니다.</a:t>
            </a:r>
          </a:p>
        </p:txBody>
      </p:sp>
      <p:sp>
        <p:nvSpPr>
          <p:cNvPr id="8" name="solution-node-0">
            <a:extLst xmlns:a="http://schemas.openxmlformats.org/drawingml/2006/main">
              <a:ext uri="{FF2B5EF4-FFF2-40B4-BE49-F238E27FC236}">
                <a16:creationId xmlns:a16="http://schemas.microsoft.com/office/drawing/2014/main" id="{5BCC5BFA-F2F5-43F3-9676-DFC61D55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9" name="solution-node-1">
            <a:extLst xmlns:a="http://schemas.openxmlformats.org/drawingml/2006/main">
              <a:ext uri="{FF2B5EF4-FFF2-40B4-BE49-F238E27FC236}">
                <a16:creationId xmlns:a16="http://schemas.microsoft.com/office/drawing/2014/main" id="{587960E9-D274-4D0A-8BD4-D4F9CCDE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3840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solution-node-2">
            <a:extLst xmlns:a="http://schemas.openxmlformats.org/drawingml/2006/main">
              <a:ext uri="{FF2B5EF4-FFF2-40B4-BE49-F238E27FC236}">
                <a16:creationId xmlns:a16="http://schemas.microsoft.com/office/drawing/2014/main" id="{4AA9ED76-68BA-4909-BC4E-33E0666E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1" name="solution-node-3">
            <a:extLst xmlns:a="http://schemas.openxmlformats.org/drawingml/2006/main">
              <a:ext uri="{FF2B5EF4-FFF2-40B4-BE49-F238E27FC236}">
                <a16:creationId xmlns:a16="http://schemas.microsoft.com/office/drawing/2014/main" id="{52594411-47EA-430E-A213-B791EEB4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38400"/>
            <a:ext cx="2095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765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E88C7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E88C7"/>
            </a:solidFill>
            <a:prstDash val="solid"/>
            <a:tail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334327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E88C7"/>
            </a:solidFill>
            <a:prstDash val="solid"/>
            <a:tailEnd type="arrow" w="med" len="med"/>
          </a:ln>
        </p:spPr>
      </p:cxnSp>
      <p:sp>
        <p:nvSpPr>
          <p:cNvPr id="15" name="number-1-106-278">
            <a:extLst xmlns:a="http://schemas.openxmlformats.org/drawingml/2006/main">
              <a:ext uri="{FF2B5EF4-FFF2-40B4-BE49-F238E27FC236}">
                <a16:creationId xmlns:a16="http://schemas.microsoft.com/office/drawing/2014/main" id="{4C02D615-578E-4DDC-B40E-39965651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0">
            <a:solidFill>
              <a:srgbClr val="4E88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solution-title-0">
            <a:extLst xmlns:a="http://schemas.openxmlformats.org/drawingml/2006/main">
              <a:ext uri="{FF2B5EF4-FFF2-40B4-BE49-F238E27FC236}">
                <a16:creationId xmlns:a16="http://schemas.microsoft.com/office/drawing/2014/main" id="{A05B5DFD-D665-4A45-8319-B1467331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진단</a:t>
            </a:r>
          </a:p>
        </p:txBody>
      </p:sp>
      <p:sp>
        <p:nvSpPr>
          <p:cNvPr id="17" name="solution-copy-0">
            <a:extLst xmlns:a="http://schemas.openxmlformats.org/drawingml/2006/main">
              <a:ext uri="{FF2B5EF4-FFF2-40B4-BE49-F238E27FC236}">
                <a16:creationId xmlns:a16="http://schemas.microsoft.com/office/drawing/2014/main" id="{5F346A29-D693-4B23-AC52-2CD69013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004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요구사항 분석</a:t>
            </a:r>
          </a:p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현황 확인</a:t>
            </a:r>
          </a:p>
        </p:txBody>
      </p:sp>
      <p:sp>
        <p:nvSpPr>
          <p:cNvPr id="18" name="number-2-384-278">
            <a:extLst xmlns:a="http://schemas.openxmlformats.org/drawingml/2006/main">
              <a:ext uri="{FF2B5EF4-FFF2-40B4-BE49-F238E27FC236}">
                <a16:creationId xmlns:a16="http://schemas.microsoft.com/office/drawing/2014/main" id="{ED60160F-C6BB-45DC-BEEB-E23C1A3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0">
            <a:solidFill>
              <a:srgbClr val="4E88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solution-title-1">
            <a:extLst xmlns:a="http://schemas.openxmlformats.org/drawingml/2006/main">
              <a:ext uri="{FF2B5EF4-FFF2-40B4-BE49-F238E27FC236}">
                <a16:creationId xmlns:a16="http://schemas.microsoft.com/office/drawing/2014/main" id="{8956BCAC-6291-4DD3-BD07-62144157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62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설계</a:t>
            </a:r>
          </a:p>
        </p:txBody>
      </p:sp>
      <p:sp>
        <p:nvSpPr>
          <p:cNvPr id="20" name="solution-copy-1">
            <a:extLst xmlns:a="http://schemas.openxmlformats.org/drawingml/2006/main">
              <a:ext uri="{FF2B5EF4-FFF2-40B4-BE49-F238E27FC236}">
                <a16:creationId xmlns:a16="http://schemas.microsoft.com/office/drawing/2014/main" id="{A0C905B4-FC09-469E-922A-6D524868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004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수행 방법 정의</a:t>
            </a:r>
          </a:p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세부 계획 수립</a:t>
            </a:r>
          </a:p>
        </p:txBody>
      </p:sp>
      <p:sp>
        <p:nvSpPr>
          <p:cNvPr id="21" name="number-3-662-278">
            <a:extLst xmlns:a="http://schemas.openxmlformats.org/drawingml/2006/main">
              <a:ext uri="{FF2B5EF4-FFF2-40B4-BE49-F238E27FC236}">
                <a16:creationId xmlns:a16="http://schemas.microsoft.com/office/drawing/2014/main" id="{E70DC0E5-7EAD-401B-8171-503599AE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0">
            <a:solidFill>
              <a:srgbClr val="4E88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solution-title-2">
            <a:extLst xmlns:a="http://schemas.openxmlformats.org/drawingml/2006/main">
              <a:ext uri="{FF2B5EF4-FFF2-40B4-BE49-F238E27FC236}">
                <a16:creationId xmlns:a16="http://schemas.microsoft.com/office/drawing/2014/main" id="{0B4EED00-0C67-45ED-85F6-78C9BFD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실행</a:t>
            </a:r>
          </a:p>
        </p:txBody>
      </p:sp>
      <p:sp>
        <p:nvSpPr>
          <p:cNvPr id="23" name="solution-copy-2">
            <a:extLst xmlns:a="http://schemas.openxmlformats.org/drawingml/2006/main">
              <a:ext uri="{FF2B5EF4-FFF2-40B4-BE49-F238E27FC236}">
                <a16:creationId xmlns:a16="http://schemas.microsoft.com/office/drawing/2014/main" id="{142C2905-5B62-4435-945F-7549D8A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04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단계별 과업 수행</a:t>
            </a:r>
          </a:p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중간 품질 검증</a:t>
            </a:r>
          </a:p>
        </p:txBody>
      </p:sp>
      <p:sp>
        <p:nvSpPr>
          <p:cNvPr id="24" name="number-4-940-278">
            <a:extLst xmlns:a="http://schemas.openxmlformats.org/drawingml/2006/main">
              <a:ext uri="{FF2B5EF4-FFF2-40B4-BE49-F238E27FC236}">
                <a16:creationId xmlns:a16="http://schemas.microsoft.com/office/drawing/2014/main" id="{A11A9989-80D4-4AD0-9357-A4698D8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0">
            <a:solidFill>
              <a:srgbClr val="3FA1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solution-title-3">
            <a:extLst xmlns:a="http://schemas.openxmlformats.org/drawingml/2006/main">
              <a:ext uri="{FF2B5EF4-FFF2-40B4-BE49-F238E27FC236}">
                <a16:creationId xmlns:a16="http://schemas.microsoft.com/office/drawing/2014/main" id="{BCC13272-BEDC-4DB5-8E9A-D3177C01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정착</a:t>
            </a:r>
          </a:p>
        </p:txBody>
      </p:sp>
      <p:sp>
        <p:nvSpPr>
          <p:cNvPr id="26" name="solution-copy-3">
            <a:extLst xmlns:a="http://schemas.openxmlformats.org/drawingml/2006/main">
              <a:ext uri="{FF2B5EF4-FFF2-40B4-BE49-F238E27FC236}">
                <a16:creationId xmlns:a16="http://schemas.microsoft.com/office/drawing/2014/main" id="{9BBAD65B-2617-40FC-BFAF-8A36CEE3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성과 측정</a:t>
            </a:r>
          </a:p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운영 이관</a:t>
            </a:r>
          </a:p>
        </p:txBody>
      </p:sp>
      <p:sp>
        <p:nvSpPr>
          <p:cNvPr id="27" name="solution-evidence">
            <a:extLst xmlns:a="http://schemas.openxmlformats.org/drawingml/2006/main">
              <a:ext uri="{FF2B5EF4-FFF2-40B4-BE49-F238E27FC236}">
                <a16:creationId xmlns:a16="http://schemas.microsoft.com/office/drawing/2014/main" id="{E931D754-43F7-409C-BA92-F29A080C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B3C"/>
                </a:solidFill>
              </a:defRPr>
            </a:pPr>
            <a:r>
              <a:rPr sz="1275" b="1">
                <a:solidFill>
                  <a:srgbClr val="1D2B3C"/>
                </a:solidFill>
              </a:rPr>
              <a:t>각 단계에는 공고 근거, 회사 근거, 담당 조직, 검수 기준을 함께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34170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accent-8">
            <a:extLst xmlns:a="http://schemas.openxmlformats.org/drawingml/2006/main">
              <a:ext uri="{FF2B5EF4-FFF2-40B4-BE49-F238E27FC236}">
                <a16:creationId xmlns:a16="http://schemas.microsoft.com/office/drawing/2014/main" id="{58103811-A474-40DC-AD69-094452A0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8">
            <a:extLst xmlns:a="http://schemas.openxmlformats.org/drawingml/2006/main">
              <a:ext uri="{FF2B5EF4-FFF2-40B4-BE49-F238E27FC236}">
                <a16:creationId xmlns:a16="http://schemas.microsoft.com/office/drawing/2014/main" id="{6A0F0F4B-DAEC-499C-9656-47AE5E61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IMPLEMENTATION PLAN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CE52FFA9-5A7B-4816-852C-1E7412AF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3A64DF47-3CFC-46F8-BE23-7406F473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32DD9B8-4C53-4D84-843E-1ADC16A7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08</a:t>
            </a:r>
          </a:p>
        </p:txBody>
      </p:sp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59A2572A-2468-4A4F-A85C-F72A3583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단계별 수행 방안</a:t>
            </a:r>
          </a:p>
        </p:txBody>
      </p:sp>
      <p:sp>
        <p:nvSpPr>
          <p:cNvPr id="7" name="subtitle-8">
            <a:extLst xmlns:a="http://schemas.openxmlformats.org/drawingml/2006/main">
              <a:ext uri="{FF2B5EF4-FFF2-40B4-BE49-F238E27FC236}">
                <a16:creationId xmlns:a16="http://schemas.microsoft.com/office/drawing/2014/main" id="{FABCA470-C9D5-445E-B4B0-D26980FC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계획, 실행, 검증, 이관의 흐름으로 과업을 관리합니다.</a:t>
            </a:r>
          </a:p>
        </p:txBody>
      </p:sp>
      <p:sp>
        <p:nvSpPr>
          <p:cNvPr id="8" name="phase-bar-0">
            <a:extLst xmlns:a="http://schemas.openxmlformats.org/drawingml/2006/main">
              <a:ext uri="{FF2B5EF4-FFF2-40B4-BE49-F238E27FC236}">
                <a16:creationId xmlns:a16="http://schemas.microsoft.com/office/drawing/2014/main" id="{DD3CF578-7E58-4172-98C2-F3B4ADEC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2400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9" name="phase-label-0">
            <a:extLst xmlns:a="http://schemas.openxmlformats.org/drawingml/2006/main">
              <a:ext uri="{FF2B5EF4-FFF2-40B4-BE49-F238E27FC236}">
                <a16:creationId xmlns:a16="http://schemas.microsoft.com/office/drawing/2014/main" id="{DA6ECE4B-AB47-4B48-91A0-AAAE708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88C7"/>
                </a:solidFill>
              </a:defRPr>
            </a:pPr>
            <a:r>
              <a:rPr sz="1500" b="1">
                <a:solidFill>
                  <a:srgbClr val="4E88C7"/>
                </a:solidFill>
              </a:rPr>
              <a:t>01</a:t>
            </a:r>
          </a:p>
        </p:txBody>
      </p:sp>
      <p:sp>
        <p:nvSpPr>
          <p:cNvPr id="10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6FF1D001-D1C7-4055-A5A5-97BA389F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착수</a:t>
            </a:r>
          </a:p>
        </p:txBody>
      </p:sp>
      <p:sp>
        <p:nvSpPr>
          <p:cNvPr id="11" name="phase-copy-0">
            <a:extLst xmlns:a="http://schemas.openxmlformats.org/drawingml/2006/main">
              <a:ext uri="{FF2B5EF4-FFF2-40B4-BE49-F238E27FC236}">
                <a16:creationId xmlns:a16="http://schemas.microsoft.com/office/drawing/2014/main" id="{98F05FA2-B035-45A4-9FBA-13B0090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요구사항 확정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추진 체계 수립</a:t>
            </a:r>
          </a:p>
        </p:txBody>
      </p:sp>
      <p:sp>
        <p:nvSpPr>
          <p:cNvPr id="12" name="phase-output-0">
            <a:extLst xmlns:a="http://schemas.openxmlformats.org/drawingml/2006/main">
              <a:ext uri="{FF2B5EF4-FFF2-40B4-BE49-F238E27FC236}">
                <a16:creationId xmlns:a16="http://schemas.microsoft.com/office/drawing/2014/main" id="{9B81DE5A-2A5F-4C68-A602-012D996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주요 산출물</a:t>
            </a:r>
          </a:p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[산출물명 입력]</a:t>
            </a:r>
          </a:p>
        </p:txBody>
      </p:sp>
      <p:sp>
        <p:nvSpPr>
          <p:cNvPr id="13" name="phase-bar-1">
            <a:extLst xmlns:a="http://schemas.openxmlformats.org/drawingml/2006/main">
              <a:ext uri="{FF2B5EF4-FFF2-40B4-BE49-F238E27FC236}">
                <a16:creationId xmlns:a16="http://schemas.microsoft.com/office/drawing/2014/main" id="{E3D7E7F1-EEA5-48D9-B0DB-E41191F8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52650"/>
            <a:ext cx="2400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14" name="phase-label-1">
            <a:extLst xmlns:a="http://schemas.openxmlformats.org/drawingml/2006/main">
              <a:ext uri="{FF2B5EF4-FFF2-40B4-BE49-F238E27FC236}">
                <a16:creationId xmlns:a16="http://schemas.microsoft.com/office/drawing/2014/main" id="{8A10B8AF-C68C-4576-B0E3-1ADEB118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57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88C7"/>
                </a:solidFill>
              </a:defRPr>
            </a:pPr>
            <a:r>
              <a:rPr sz="1500" b="1">
                <a:solidFill>
                  <a:srgbClr val="4E88C7"/>
                </a:solidFill>
              </a:rPr>
              <a:t>02</a:t>
            </a:r>
          </a:p>
        </p:txBody>
      </p:sp>
      <p:sp>
        <p:nvSpPr>
          <p:cNvPr id="15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535016CB-C196-4E2A-AE89-5E1FBC35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분석·설계</a:t>
            </a:r>
          </a:p>
        </p:txBody>
      </p:sp>
      <p:sp>
        <p:nvSpPr>
          <p:cNvPr id="16" name="phase-copy-1">
            <a:extLst xmlns:a="http://schemas.openxmlformats.org/drawingml/2006/main">
              <a:ext uri="{FF2B5EF4-FFF2-40B4-BE49-F238E27FC236}">
                <a16:creationId xmlns:a16="http://schemas.microsoft.com/office/drawing/2014/main" id="{9010C0BC-1EFA-4785-8A56-BA6C4F50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48615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업무 분석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세부 수행안 설계</a:t>
            </a:r>
          </a:p>
        </p:txBody>
      </p:sp>
      <p:sp>
        <p:nvSpPr>
          <p:cNvPr id="17" name="phase-output-1">
            <a:extLst xmlns:a="http://schemas.openxmlformats.org/drawingml/2006/main">
              <a:ext uri="{FF2B5EF4-FFF2-40B4-BE49-F238E27FC236}">
                <a16:creationId xmlns:a16="http://schemas.microsoft.com/office/drawing/2014/main" id="{321F70B6-F2D2-4EB5-915C-B33BE813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6101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주요 산출물</a:t>
            </a:r>
          </a:p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[산출물명 입력]</a:t>
            </a:r>
          </a:p>
        </p:txBody>
      </p:sp>
      <p:sp>
        <p:nvSpPr>
          <p:cNvPr id="18" name="phase-bar-2">
            <a:extLst xmlns:a="http://schemas.openxmlformats.org/drawingml/2006/main">
              <a:ext uri="{FF2B5EF4-FFF2-40B4-BE49-F238E27FC236}">
                <a16:creationId xmlns:a16="http://schemas.microsoft.com/office/drawing/2014/main" id="{8678751D-167B-4341-9CF7-1FC6E9B8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52650"/>
            <a:ext cx="2400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19" name="phase-label-2">
            <a:extLst xmlns:a="http://schemas.openxmlformats.org/drawingml/2006/main">
              <a:ext uri="{FF2B5EF4-FFF2-40B4-BE49-F238E27FC236}">
                <a16:creationId xmlns:a16="http://schemas.microsoft.com/office/drawing/2014/main" id="{4F4BBFDA-FC7F-490F-B03A-2BA2CBD0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A17D"/>
                </a:solidFill>
              </a:defRPr>
            </a:pPr>
            <a:r>
              <a:rPr sz="1500" b="1">
                <a:solidFill>
                  <a:srgbClr val="3FA17D"/>
                </a:solidFill>
              </a:rPr>
              <a:t>03</a:t>
            </a:r>
          </a:p>
        </p:txBody>
      </p:sp>
      <p:sp>
        <p:nvSpPr>
          <p:cNvPr id="20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27140DC5-50BE-4B99-B3FC-37F33B7D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구축·운영</a:t>
            </a:r>
          </a:p>
        </p:txBody>
      </p:sp>
      <p:sp>
        <p:nvSpPr>
          <p:cNvPr id="21" name="phase-copy-2">
            <a:extLst xmlns:a="http://schemas.openxmlformats.org/drawingml/2006/main">
              <a:ext uri="{FF2B5EF4-FFF2-40B4-BE49-F238E27FC236}">
                <a16:creationId xmlns:a16="http://schemas.microsoft.com/office/drawing/2014/main" id="{D85638E4-7111-4AF7-A556-17D5F9A2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과업 실행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중간 산출물 검증</a:t>
            </a:r>
          </a:p>
        </p:txBody>
      </p:sp>
      <p:sp>
        <p:nvSpPr>
          <p:cNvPr id="22" name="phase-output-2">
            <a:extLst xmlns:a="http://schemas.openxmlformats.org/drawingml/2006/main">
              <a:ext uri="{FF2B5EF4-FFF2-40B4-BE49-F238E27FC236}">
                <a16:creationId xmlns:a16="http://schemas.microsoft.com/office/drawing/2014/main" id="{A7761741-186E-4A3E-B0A1-691F625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주요 산출물</a:t>
            </a:r>
          </a:p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[산출물명 입력]</a:t>
            </a:r>
          </a:p>
        </p:txBody>
      </p:sp>
      <p:sp>
        <p:nvSpPr>
          <p:cNvPr id="23" name="phase-bar-3">
            <a:extLst xmlns:a="http://schemas.openxmlformats.org/drawingml/2006/main">
              <a:ext uri="{FF2B5EF4-FFF2-40B4-BE49-F238E27FC236}">
                <a16:creationId xmlns:a16="http://schemas.microsoft.com/office/drawing/2014/main" id="{23B949E0-1F69-41D5-9C9B-E47AFC4F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400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24" name="phase-label-3">
            <a:extLst xmlns:a="http://schemas.openxmlformats.org/drawingml/2006/main">
              <a:ext uri="{FF2B5EF4-FFF2-40B4-BE49-F238E27FC236}">
                <a16:creationId xmlns:a16="http://schemas.microsoft.com/office/drawing/2014/main" id="{E388A9C0-7722-46A8-A980-5EAA48E3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FA17D"/>
                </a:solidFill>
              </a:defRPr>
            </a:pPr>
            <a:r>
              <a:rPr sz="1500" b="1">
                <a:solidFill>
                  <a:srgbClr val="3FA17D"/>
                </a:solidFill>
              </a:rPr>
              <a:t>04</a:t>
            </a:r>
          </a:p>
        </p:txBody>
      </p:sp>
      <p:sp>
        <p:nvSpPr>
          <p:cNvPr id="25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88950BBE-346D-418F-9DCA-7B3CFA5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43A"/>
                </a:solidFill>
              </a:defRPr>
            </a:pPr>
            <a:r>
              <a:rPr sz="1875" b="1">
                <a:solidFill>
                  <a:srgbClr val="13243A"/>
                </a:solidFill>
              </a:rPr>
              <a:t>검수·이관</a:t>
            </a:r>
          </a:p>
        </p:txBody>
      </p:sp>
      <p:sp>
        <p:nvSpPr>
          <p:cNvPr id="26" name="phase-copy-3">
            <a:extLst xmlns:a="http://schemas.openxmlformats.org/drawingml/2006/main">
              <a:ext uri="{FF2B5EF4-FFF2-40B4-BE49-F238E27FC236}">
                <a16:creationId xmlns:a16="http://schemas.microsoft.com/office/drawing/2014/main" id="{398541BA-D747-4151-9948-82B0D528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성과 측정</a:t>
            </a:r>
          </a:p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운영 안정화</a:t>
            </a:r>
          </a:p>
        </p:txBody>
      </p:sp>
      <p:sp>
        <p:nvSpPr>
          <p:cNvPr id="27" name="phase-output-3">
            <a:extLst xmlns:a="http://schemas.openxmlformats.org/drawingml/2006/main">
              <a:ext uri="{FF2B5EF4-FFF2-40B4-BE49-F238E27FC236}">
                <a16:creationId xmlns:a16="http://schemas.microsoft.com/office/drawing/2014/main" id="{A92693C2-C8C8-4E81-B6D2-0A7F803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01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주요 산출물</a:t>
            </a:r>
          </a:p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[산출물명 입력]</a:t>
            </a:r>
          </a:p>
        </p:txBody>
      </p:sp>
    </p:spTree>
    <p:extLst>
      <p:ext uri="{BB962C8B-B14F-4D97-AF65-F5344CB8AC3E}">
        <p14:creationId xmlns:p14="http://schemas.microsoft.com/office/powerpoint/2010/main" val="1192532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-9">
            <a:extLst xmlns:a="http://schemas.openxmlformats.org/drawingml/2006/main">
              <a:ext uri="{FF2B5EF4-FFF2-40B4-BE49-F238E27FC236}">
                <a16:creationId xmlns:a16="http://schemas.microsoft.com/office/drawing/2014/main" id="{4AB28580-1874-4FB9-90B1-F91AF955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9">
            <a:extLst xmlns:a="http://schemas.openxmlformats.org/drawingml/2006/main">
              <a:ext uri="{FF2B5EF4-FFF2-40B4-BE49-F238E27FC236}">
                <a16:creationId xmlns:a16="http://schemas.microsoft.com/office/drawing/2014/main" id="{E4D43EDB-DACB-45B9-B0A6-00B2C18B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PROJECT ORGANIZATION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49E08392-38D1-4E5A-816B-A82B4BE4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440C210A-BA05-489C-BF09-89B5D8AF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601C35CD-374C-4E0A-A34B-54311B37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09</a:t>
            </a:r>
          </a:p>
        </p:txBody>
      </p:sp>
      <p:sp>
        <p:nvSpPr>
          <p:cNvPr id="6" name="title-9">
            <a:extLst xmlns:a="http://schemas.openxmlformats.org/drawingml/2006/main">
              <a:ext uri="{FF2B5EF4-FFF2-40B4-BE49-F238E27FC236}">
                <a16:creationId xmlns:a16="http://schemas.microsoft.com/office/drawing/2014/main" id="{CC553592-502C-4DD7-85A6-BF30D851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책임이 분명한 수행 조직</a:t>
            </a:r>
          </a:p>
        </p:txBody>
      </p:sp>
      <p:sp>
        <p:nvSpPr>
          <p:cNvPr id="7" name="subtitle-9">
            <a:extLst xmlns:a="http://schemas.openxmlformats.org/drawingml/2006/main">
              <a:ext uri="{FF2B5EF4-FFF2-40B4-BE49-F238E27FC236}">
                <a16:creationId xmlns:a16="http://schemas.microsoft.com/office/drawing/2014/main" id="{8C49A63B-2FDC-4BCF-BD8D-3D52EB2E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의사결정과 실무 수행의 연결 구조를 한눈에 보여줍니다.</a:t>
            </a:r>
          </a:p>
        </p:txBody>
      </p:sp>
      <p:sp>
        <p:nvSpPr>
          <p:cNvPr id="8" name="org-pm">
            <a:extLst xmlns:a="http://schemas.openxmlformats.org/drawingml/2006/main">
              <a:ext uri="{FF2B5EF4-FFF2-40B4-BE49-F238E27FC236}">
                <a16:creationId xmlns:a16="http://schemas.microsoft.com/office/drawing/2014/main" id="{F1160AC9-CD15-45DD-B373-D11FD3A3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47850"/>
            <a:ext cx="266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9" name="org-team-0">
            <a:extLst xmlns:a="http://schemas.openxmlformats.org/drawingml/2006/main">
              <a:ext uri="{FF2B5EF4-FFF2-40B4-BE49-F238E27FC236}">
                <a16:creationId xmlns:a16="http://schemas.microsoft.com/office/drawing/2014/main" id="{78E9196D-F29B-45A3-8ADA-0F038937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0" name="org-team-1">
            <a:extLst xmlns:a="http://schemas.openxmlformats.org/drawingml/2006/main">
              <a:ext uri="{FF2B5EF4-FFF2-40B4-BE49-F238E27FC236}">
                <a16:creationId xmlns:a16="http://schemas.microsoft.com/office/drawing/2014/main" id="{6D9F5669-B8FC-4E13-9B4C-BB73C856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1" name="org-team-2">
            <a:extLst xmlns:a="http://schemas.openxmlformats.org/drawingml/2006/main">
              <a:ext uri="{FF2B5EF4-FFF2-40B4-BE49-F238E27FC236}">
                <a16:creationId xmlns:a16="http://schemas.microsoft.com/office/drawing/2014/main" id="{285A48F8-3E22-4A72-96CC-4DC7E9EF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2" name="org-team-3">
            <a:extLst xmlns:a="http://schemas.openxmlformats.org/drawingml/2006/main">
              <a:ext uri="{FF2B5EF4-FFF2-40B4-BE49-F238E27FC236}">
                <a16:creationId xmlns:a16="http://schemas.microsoft.com/office/drawing/2014/main" id="{24EE6E66-35BF-4944-824D-57DEC648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0955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cxnSp>
        <p:nvCxnSpPr>
          <p:cNvPr id="38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924050" y="2686050"/>
            <a:ext cx="4171950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8C5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4476750" y="2686050"/>
            <a:ext cx="1619250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8C5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686050"/>
            <a:ext cx="933450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8C5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2686050"/>
            <a:ext cx="3486150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AB8C5"/>
            </a:solidFill>
            <a:prstDash val="solid"/>
          </a:ln>
        </p:spPr>
      </p:cxnSp>
      <p:sp>
        <p:nvSpPr>
          <p:cNvPr id="17" name="org-pm-title">
            <a:extLst xmlns:a="http://schemas.openxmlformats.org/drawingml/2006/main">
              <a:ext uri="{FF2B5EF4-FFF2-40B4-BE49-F238E27FC236}">
                <a16:creationId xmlns:a16="http://schemas.microsoft.com/office/drawing/2014/main" id="{FE360095-188F-408A-8C0A-A8CB5AFE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76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총괄 책임자 · PM</a:t>
            </a:r>
          </a:p>
        </p:txBody>
      </p:sp>
      <p:sp>
        <p:nvSpPr>
          <p:cNvPr id="18" name="org-team-title-0">
            <a:extLst xmlns:a="http://schemas.openxmlformats.org/drawingml/2006/main">
              <a:ext uri="{FF2B5EF4-FFF2-40B4-BE49-F238E27FC236}">
                <a16:creationId xmlns:a16="http://schemas.microsoft.com/office/drawing/2014/main" id="{87CF979F-2A1F-4056-8E32-2FDD3952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43A"/>
                </a:solidFill>
              </a:defRPr>
            </a:pPr>
            <a:r>
              <a:rPr sz="1575" b="1">
                <a:solidFill>
                  <a:srgbClr val="13243A"/>
                </a:solidFill>
              </a:rPr>
              <a:t>기획·관리</a:t>
            </a:r>
          </a:p>
        </p:txBody>
      </p:sp>
      <p:sp>
        <p:nvSpPr>
          <p:cNvPr id="19" name="org-team-copy-0">
            <a:extLst xmlns:a="http://schemas.openxmlformats.org/drawingml/2006/main">
              <a:ext uri="{FF2B5EF4-FFF2-40B4-BE49-F238E27FC236}">
                <a16:creationId xmlns:a16="http://schemas.microsoft.com/office/drawing/2014/main" id="{6B02CA36-9AEB-46DC-A20F-D04295A9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일정·예산·보고</a:t>
            </a:r>
          </a:p>
        </p:txBody>
      </p:sp>
      <p:sp>
        <p:nvSpPr>
          <p:cNvPr id="20" name="org-team-title-1">
            <a:extLst xmlns:a="http://schemas.openxmlformats.org/drawingml/2006/main">
              <a:ext uri="{FF2B5EF4-FFF2-40B4-BE49-F238E27FC236}">
                <a16:creationId xmlns:a16="http://schemas.microsoft.com/office/drawing/2014/main" id="{47EE028A-15E3-4AA5-A5B1-4960B801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386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43A"/>
                </a:solidFill>
              </a:defRPr>
            </a:pPr>
            <a:r>
              <a:rPr sz="1575" b="1">
                <a:solidFill>
                  <a:srgbClr val="13243A"/>
                </a:solidFill>
              </a:rPr>
              <a:t>핵심 수행</a:t>
            </a:r>
          </a:p>
        </p:txBody>
      </p:sp>
      <p:sp>
        <p:nvSpPr>
          <p:cNvPr id="21" name="org-team-copy-1">
            <a:extLst xmlns:a="http://schemas.openxmlformats.org/drawingml/2006/main">
              <a:ext uri="{FF2B5EF4-FFF2-40B4-BE49-F238E27FC236}">
                <a16:creationId xmlns:a16="http://schemas.microsoft.com/office/drawing/2014/main" id="{7A3AF8AC-632A-41B5-8502-6CC4D13A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148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주요 과업 실행</a:t>
            </a:r>
          </a:p>
        </p:txBody>
      </p:sp>
      <p:sp>
        <p:nvSpPr>
          <p:cNvPr id="22" name="org-team-title-2">
            <a:extLst xmlns:a="http://schemas.openxmlformats.org/drawingml/2006/main">
              <a:ext uri="{FF2B5EF4-FFF2-40B4-BE49-F238E27FC236}">
                <a16:creationId xmlns:a16="http://schemas.microsoft.com/office/drawing/2014/main" id="{9A03DBA6-72FE-46F2-92C9-4AD61F9B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386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43A"/>
                </a:solidFill>
              </a:defRPr>
            </a:pPr>
            <a:r>
              <a:rPr sz="1575" b="1">
                <a:solidFill>
                  <a:srgbClr val="13243A"/>
                </a:solidFill>
              </a:rPr>
              <a:t>품질 관리</a:t>
            </a:r>
          </a:p>
        </p:txBody>
      </p:sp>
      <p:sp>
        <p:nvSpPr>
          <p:cNvPr id="23" name="org-team-copy-2">
            <a:extLst xmlns:a="http://schemas.openxmlformats.org/drawingml/2006/main">
              <a:ext uri="{FF2B5EF4-FFF2-40B4-BE49-F238E27FC236}">
                <a16:creationId xmlns:a16="http://schemas.microsoft.com/office/drawing/2014/main" id="{B785F34A-FE89-456B-A652-7E08F002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검수·개선 관리</a:t>
            </a:r>
          </a:p>
        </p:txBody>
      </p:sp>
      <p:sp>
        <p:nvSpPr>
          <p:cNvPr id="24" name="org-team-title-3">
            <a:extLst xmlns:a="http://schemas.openxmlformats.org/drawingml/2006/main">
              <a:ext uri="{FF2B5EF4-FFF2-40B4-BE49-F238E27FC236}">
                <a16:creationId xmlns:a16="http://schemas.microsoft.com/office/drawing/2014/main" id="{E56CDE8B-665B-4479-966B-F6FE86B3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386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3243A"/>
                </a:solidFill>
              </a:defRPr>
            </a:pPr>
            <a:r>
              <a:rPr sz="1575" b="1">
                <a:solidFill>
                  <a:srgbClr val="13243A"/>
                </a:solidFill>
              </a:rPr>
              <a:t>운영 지원</a:t>
            </a:r>
          </a:p>
        </p:txBody>
      </p:sp>
      <p:sp>
        <p:nvSpPr>
          <p:cNvPr id="25" name="org-team-copy-3">
            <a:extLst xmlns:a="http://schemas.openxmlformats.org/drawingml/2006/main">
              <a:ext uri="{FF2B5EF4-FFF2-40B4-BE49-F238E27FC236}">
                <a16:creationId xmlns:a16="http://schemas.microsoft.com/office/drawing/2014/main" id="{CC4168BE-4F2E-48C2-ABFE-924CCF5A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148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이슈·변경 대응</a:t>
            </a:r>
          </a:p>
        </p:txBody>
      </p:sp>
    </p:spTree>
    <p:extLst>
      <p:ext uri="{BB962C8B-B14F-4D97-AF65-F5344CB8AC3E}">
        <p14:creationId xmlns:p14="http://schemas.microsoft.com/office/powerpoint/2010/main" val="1688101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accent-10">
            <a:extLst xmlns:a="http://schemas.openxmlformats.org/drawingml/2006/main">
              <a:ext uri="{FF2B5EF4-FFF2-40B4-BE49-F238E27FC236}">
                <a16:creationId xmlns:a16="http://schemas.microsoft.com/office/drawing/2014/main" id="{01DBA3CC-4A30-4074-96AC-FA0323E5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10">
            <a:extLst xmlns:a="http://schemas.openxmlformats.org/drawingml/2006/main">
              <a:ext uri="{FF2B5EF4-FFF2-40B4-BE49-F238E27FC236}">
                <a16:creationId xmlns:a16="http://schemas.microsoft.com/office/drawing/2014/main" id="{558AED8C-7043-4656-B8D8-F3255681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PROJECT SCHEDULE</a:t>
            </a:r>
          </a:p>
        </p:txBody>
      </p:sp>
      <p:sp>
        <p:nvSpPr>
          <p:cNvPr id="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02386824-3D97-421A-BA04-60DF23E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3FDF77BD-E52B-4499-913C-E3FADDDE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AE9DCFF0-2DB2-4C6C-9BFC-B0BDAF6D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10</a:t>
            </a:r>
          </a:p>
        </p:txBody>
      </p:sp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17067E26-EA3A-4624-A61A-138FFC1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주차별 수행 일정</a:t>
            </a:r>
          </a:p>
        </p:txBody>
      </p:sp>
      <p:sp>
        <p:nvSpPr>
          <p:cNvPr id="7" name="subtitle-10">
            <a:extLst xmlns:a="http://schemas.openxmlformats.org/drawingml/2006/main">
              <a:ext uri="{FF2B5EF4-FFF2-40B4-BE49-F238E27FC236}">
                <a16:creationId xmlns:a16="http://schemas.microsoft.com/office/drawing/2014/main" id="{C34C5EAA-A11E-4248-A57F-C20B95BF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핵심 산출물과 검수 시점을 일정에 연결합니다.</a:t>
            </a:r>
          </a:p>
        </p:txBody>
      </p:sp>
      <p:sp>
        <p:nvSpPr>
          <p:cNvPr id="8" name="schedule-header">
            <a:extLst xmlns:a="http://schemas.openxmlformats.org/drawingml/2006/main">
              <a:ext uri="{FF2B5EF4-FFF2-40B4-BE49-F238E27FC236}">
                <a16:creationId xmlns:a16="http://schemas.microsoft.com/office/drawing/2014/main" id="{AA3F4399-6610-4C4A-B3E0-F3FDB13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40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9" name="schedule-header-label">
            <a:extLst xmlns:a="http://schemas.openxmlformats.org/drawingml/2006/main">
              <a:ext uri="{FF2B5EF4-FFF2-40B4-BE49-F238E27FC236}">
                <a16:creationId xmlns:a16="http://schemas.microsoft.com/office/drawing/2014/main" id="{D6A9FA4B-E21D-45EB-A2DC-9C509580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0" name="week-0">
            <a:extLst xmlns:a="http://schemas.openxmlformats.org/drawingml/2006/main">
              <a:ext uri="{FF2B5EF4-FFF2-40B4-BE49-F238E27FC236}">
                <a16:creationId xmlns:a16="http://schemas.microsoft.com/office/drawing/2014/main" id="{FC602BB8-3F01-447D-AE4A-140E2109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1주</a:t>
            </a:r>
          </a:p>
        </p:txBody>
      </p:sp>
      <p:sp>
        <p:nvSpPr>
          <p:cNvPr id="11" name="week-1">
            <a:extLst xmlns:a="http://schemas.openxmlformats.org/drawingml/2006/main">
              <a:ext uri="{FF2B5EF4-FFF2-40B4-BE49-F238E27FC236}">
                <a16:creationId xmlns:a16="http://schemas.microsoft.com/office/drawing/2014/main" id="{5156285A-0BF8-405D-B778-F595741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2주</a:t>
            </a:r>
          </a:p>
        </p:txBody>
      </p:sp>
      <p:sp>
        <p:nvSpPr>
          <p:cNvPr id="12" name="week-2">
            <a:extLst xmlns:a="http://schemas.openxmlformats.org/drawingml/2006/main">
              <a:ext uri="{FF2B5EF4-FFF2-40B4-BE49-F238E27FC236}">
                <a16:creationId xmlns:a16="http://schemas.microsoft.com/office/drawing/2014/main" id="{FCC9E1F8-F354-466D-8431-D3307625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3주</a:t>
            </a:r>
          </a:p>
        </p:txBody>
      </p:sp>
      <p:sp>
        <p:nvSpPr>
          <p:cNvPr id="13" name="week-3">
            <a:extLst xmlns:a="http://schemas.openxmlformats.org/drawingml/2006/main">
              <a:ext uri="{FF2B5EF4-FFF2-40B4-BE49-F238E27FC236}">
                <a16:creationId xmlns:a16="http://schemas.microsoft.com/office/drawing/2014/main" id="{FA451168-98F3-42B5-A7A3-DD054099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4주</a:t>
            </a:r>
          </a:p>
        </p:txBody>
      </p:sp>
      <p:sp>
        <p:nvSpPr>
          <p:cNvPr id="14" name="week-4">
            <a:extLst xmlns:a="http://schemas.openxmlformats.org/drawingml/2006/main">
              <a:ext uri="{FF2B5EF4-FFF2-40B4-BE49-F238E27FC236}">
                <a16:creationId xmlns:a16="http://schemas.microsoft.com/office/drawing/2014/main" id="{00A571FF-631D-47A5-9314-4DC3EC6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5주</a:t>
            </a:r>
          </a:p>
        </p:txBody>
      </p:sp>
      <p:sp>
        <p:nvSpPr>
          <p:cNvPr id="15" name="week-5">
            <a:extLst xmlns:a="http://schemas.openxmlformats.org/drawingml/2006/main">
              <a:ext uri="{FF2B5EF4-FFF2-40B4-BE49-F238E27FC236}">
                <a16:creationId xmlns:a16="http://schemas.microsoft.com/office/drawing/2014/main" id="{48128BEE-904C-46D6-AEE1-1ED3B751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6주</a:t>
            </a:r>
          </a:p>
        </p:txBody>
      </p:sp>
      <p:sp>
        <p:nvSpPr>
          <p:cNvPr id="16" name="week-6">
            <a:extLst xmlns:a="http://schemas.openxmlformats.org/drawingml/2006/main">
              <a:ext uri="{FF2B5EF4-FFF2-40B4-BE49-F238E27FC236}">
                <a16:creationId xmlns:a16="http://schemas.microsoft.com/office/drawing/2014/main" id="{9ADD81D0-5245-4BBC-892A-6E303D7F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7주</a:t>
            </a:r>
          </a:p>
        </p:txBody>
      </p:sp>
      <p:sp>
        <p:nvSpPr>
          <p:cNvPr id="17" name="week-7">
            <a:extLst xmlns:a="http://schemas.openxmlformats.org/drawingml/2006/main">
              <a:ext uri="{FF2B5EF4-FFF2-40B4-BE49-F238E27FC236}">
                <a16:creationId xmlns:a16="http://schemas.microsoft.com/office/drawing/2014/main" id="{47FFA17E-CE22-4B3F-9545-FBCDEC29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8주</a:t>
            </a:r>
          </a:p>
        </p:txBody>
      </p:sp>
      <p:sp>
        <p:nvSpPr>
          <p:cNvPr id="18" name="week-8">
            <a:extLst xmlns:a="http://schemas.openxmlformats.org/drawingml/2006/main">
              <a:ext uri="{FF2B5EF4-FFF2-40B4-BE49-F238E27FC236}">
                <a16:creationId xmlns:a16="http://schemas.microsoft.com/office/drawing/2014/main" id="{85E34082-1969-45A0-9A16-9DF4759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9주</a:t>
            </a:r>
          </a:p>
        </p:txBody>
      </p:sp>
      <p:sp>
        <p:nvSpPr>
          <p:cNvPr id="19" name="week-9">
            <a:extLst xmlns:a="http://schemas.openxmlformats.org/drawingml/2006/main">
              <a:ext uri="{FF2B5EF4-FFF2-40B4-BE49-F238E27FC236}">
                <a16:creationId xmlns:a16="http://schemas.microsoft.com/office/drawing/2014/main" id="{CDB34624-38CA-433C-AB9F-53C63E91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10주</a:t>
            </a:r>
          </a:p>
        </p:txBody>
      </p:sp>
      <p:sp>
        <p:nvSpPr>
          <p:cNvPr id="20" name="week-10">
            <a:extLst xmlns:a="http://schemas.openxmlformats.org/drawingml/2006/main">
              <a:ext uri="{FF2B5EF4-FFF2-40B4-BE49-F238E27FC236}">
                <a16:creationId xmlns:a16="http://schemas.microsoft.com/office/drawing/2014/main" id="{5B84419E-0B8D-414F-89EB-B2A45ADB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11주</a:t>
            </a:r>
          </a:p>
        </p:txBody>
      </p:sp>
      <p:sp>
        <p:nvSpPr>
          <p:cNvPr id="21" name="week-11">
            <a:extLst xmlns:a="http://schemas.openxmlformats.org/drawingml/2006/main">
              <a:ext uri="{FF2B5EF4-FFF2-40B4-BE49-F238E27FC236}">
                <a16:creationId xmlns:a16="http://schemas.microsoft.com/office/drawing/2014/main" id="{3BC61A03-BA08-4B1B-BEB8-B280E333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669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12주</a:t>
            </a:r>
          </a:p>
        </p:txBody>
      </p:sp>
      <p:sp>
        <p:nvSpPr>
          <p:cNvPr id="22" name="schedule-row-0">
            <a:extLst xmlns:a="http://schemas.openxmlformats.org/drawingml/2006/main">
              <a:ext uri="{FF2B5EF4-FFF2-40B4-BE49-F238E27FC236}">
                <a16:creationId xmlns:a16="http://schemas.microsoft.com/office/drawing/2014/main" id="{E6D56877-1369-4A4E-8B6B-E0180211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40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3" name="schedule-label-0">
            <a:extLst xmlns:a="http://schemas.openxmlformats.org/drawingml/2006/main">
              <a:ext uri="{FF2B5EF4-FFF2-40B4-BE49-F238E27FC236}">
                <a16:creationId xmlns:a16="http://schemas.microsoft.com/office/drawing/2014/main" id="{0470CEAB-071E-452E-A3CE-9C272498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착수·계획</a:t>
            </a:r>
          </a:p>
        </p:txBody>
      </p:sp>
      <p:sp>
        <p:nvSpPr>
          <p:cNvPr id="24" name="schedule-bar-0">
            <a:extLst xmlns:a="http://schemas.openxmlformats.org/drawingml/2006/main">
              <a:ext uri="{FF2B5EF4-FFF2-40B4-BE49-F238E27FC236}">
                <a16:creationId xmlns:a16="http://schemas.microsoft.com/office/drawing/2014/main" id="{41B5C0CF-06DA-459F-9080-52AB78D9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90800"/>
            <a:ext cx="5334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25" name="schedule-row-1">
            <a:extLst xmlns:a="http://schemas.openxmlformats.org/drawingml/2006/main">
              <a:ext uri="{FF2B5EF4-FFF2-40B4-BE49-F238E27FC236}">
                <a16:creationId xmlns:a16="http://schemas.microsoft.com/office/drawing/2014/main" id="{C402DF6C-681D-4AB9-B476-2239082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40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6" name="schedule-label-1">
            <a:extLst xmlns:a="http://schemas.openxmlformats.org/drawingml/2006/main">
              <a:ext uri="{FF2B5EF4-FFF2-40B4-BE49-F238E27FC236}">
                <a16:creationId xmlns:a16="http://schemas.microsoft.com/office/drawing/2014/main" id="{56D53EF0-7F27-44BE-85C9-F34099D9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분석·설계</a:t>
            </a:r>
          </a:p>
        </p:txBody>
      </p:sp>
      <p:sp>
        <p:nvSpPr>
          <p:cNvPr id="27" name="schedule-bar-1">
            <a:extLst xmlns:a="http://schemas.openxmlformats.org/drawingml/2006/main">
              <a:ext uri="{FF2B5EF4-FFF2-40B4-BE49-F238E27FC236}">
                <a16:creationId xmlns:a16="http://schemas.microsoft.com/office/drawing/2014/main" id="{D6198F4C-EC11-4BC7-8A3C-1E69FB64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28" name="schedule-row-2">
            <a:extLst xmlns:a="http://schemas.openxmlformats.org/drawingml/2006/main">
              <a:ext uri="{FF2B5EF4-FFF2-40B4-BE49-F238E27FC236}">
                <a16:creationId xmlns:a16="http://schemas.microsoft.com/office/drawing/2014/main" id="{4DF99478-C77B-42E9-A09E-752FDF5F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40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9" name="schedule-label-2">
            <a:extLst xmlns:a="http://schemas.openxmlformats.org/drawingml/2006/main">
              <a:ext uri="{FF2B5EF4-FFF2-40B4-BE49-F238E27FC236}">
                <a16:creationId xmlns:a16="http://schemas.microsoft.com/office/drawing/2014/main" id="{1FC7032F-D17C-4769-AB71-C7178B37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구축·운영</a:t>
            </a:r>
          </a:p>
        </p:txBody>
      </p:sp>
      <p:sp>
        <p:nvSpPr>
          <p:cNvPr id="30" name="schedule-bar-2">
            <a:extLst xmlns:a="http://schemas.openxmlformats.org/drawingml/2006/main">
              <a:ext uri="{FF2B5EF4-FFF2-40B4-BE49-F238E27FC236}">
                <a16:creationId xmlns:a16="http://schemas.microsoft.com/office/drawing/2014/main" id="{2CD07D47-4779-41AF-8532-D9A2596A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86200"/>
            <a:ext cx="3276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31" name="schedule-row-3">
            <a:extLst xmlns:a="http://schemas.openxmlformats.org/drawingml/2006/main">
              <a:ext uri="{FF2B5EF4-FFF2-40B4-BE49-F238E27FC236}">
                <a16:creationId xmlns:a16="http://schemas.microsoft.com/office/drawing/2014/main" id="{BCF61AF9-BC68-4B80-B9E5-609B2A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40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32" name="schedule-label-3">
            <a:extLst xmlns:a="http://schemas.openxmlformats.org/drawingml/2006/main">
              <a:ext uri="{FF2B5EF4-FFF2-40B4-BE49-F238E27FC236}">
                <a16:creationId xmlns:a16="http://schemas.microsoft.com/office/drawing/2014/main" id="{DAF7BDAF-CFCB-4E4F-8D24-35976387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검수·이관</a:t>
            </a:r>
          </a:p>
        </p:txBody>
      </p:sp>
      <p:sp>
        <p:nvSpPr>
          <p:cNvPr id="33" name="schedule-bar-3">
            <a:extLst xmlns:a="http://schemas.openxmlformats.org/drawingml/2006/main">
              <a:ext uri="{FF2B5EF4-FFF2-40B4-BE49-F238E27FC236}">
                <a16:creationId xmlns:a16="http://schemas.microsoft.com/office/drawing/2014/main" id="{A9674EEA-2FF6-4802-8D59-7B3C911E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34" name="schedule-row-4">
            <a:extLst xmlns:a="http://schemas.openxmlformats.org/drawingml/2006/main">
              <a:ext uri="{FF2B5EF4-FFF2-40B4-BE49-F238E27FC236}">
                <a16:creationId xmlns:a16="http://schemas.microsoft.com/office/drawing/2014/main" id="{D4B380AF-1D02-4BFA-822B-B91173B0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401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35" name="schedule-label-4">
            <a:extLst xmlns:a="http://schemas.openxmlformats.org/drawingml/2006/main">
              <a:ext uri="{FF2B5EF4-FFF2-40B4-BE49-F238E27FC236}">
                <a16:creationId xmlns:a16="http://schemas.microsoft.com/office/drawing/2014/main" id="{6FD5B8A6-F474-49A3-93C2-20786F99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성과 보고</a:t>
            </a:r>
          </a:p>
        </p:txBody>
      </p:sp>
      <p:sp>
        <p:nvSpPr>
          <p:cNvPr id="36" name="schedule-bar-4">
            <a:extLst xmlns:a="http://schemas.openxmlformats.org/drawingml/2006/main">
              <a:ext uri="{FF2B5EF4-FFF2-40B4-BE49-F238E27FC236}">
                <a16:creationId xmlns:a16="http://schemas.microsoft.com/office/drawing/2014/main" id="{6A7B071D-FC41-4F17-B817-CB750484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181600"/>
            <a:ext cx="1219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85797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accent-11">
            <a:extLst xmlns:a="http://schemas.openxmlformats.org/drawingml/2006/main">
              <a:ext uri="{FF2B5EF4-FFF2-40B4-BE49-F238E27FC236}">
                <a16:creationId xmlns:a16="http://schemas.microsoft.com/office/drawing/2014/main" id="{1E42756A-609C-43AA-A520-1FA0D47A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11">
            <a:extLst xmlns:a="http://schemas.openxmlformats.org/drawingml/2006/main">
              <a:ext uri="{FF2B5EF4-FFF2-40B4-BE49-F238E27FC236}">
                <a16:creationId xmlns:a16="http://schemas.microsoft.com/office/drawing/2014/main" id="{97A516A5-A62D-4270-82FB-D76AB265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CAPABILITIES &amp; EVIDENCE</a:t>
            </a:r>
          </a:p>
        </p:txBody>
      </p:sp>
      <p:sp>
        <p:nvSpPr>
          <p:cNvPr id="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F917AE65-6165-42F4-B1F3-C7687F69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1462D928-A677-4229-A539-DB2284CF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05AC89E9-CC43-4115-A02C-ABF537D7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11</a:t>
            </a:r>
          </a:p>
        </p:txBody>
      </p:sp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E77236AB-8B5A-4323-B7F1-6FF3DAD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주장을 증명하는 회사 근거</a:t>
            </a:r>
          </a:p>
        </p:txBody>
      </p:sp>
      <p:sp>
        <p:nvSpPr>
          <p:cNvPr id="7" name="subtitle-11">
            <a:extLst xmlns:a="http://schemas.openxmlformats.org/drawingml/2006/main">
              <a:ext uri="{FF2B5EF4-FFF2-40B4-BE49-F238E27FC236}">
                <a16:creationId xmlns:a16="http://schemas.microsoft.com/office/drawing/2014/main" id="{8CA26FDE-3A00-429F-905A-DBB515D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모든 강점은 수행 실적, 보유 인력, 인증 또는 정량 수치로 뒷받침합니다.</a:t>
            </a:r>
          </a:p>
        </p:txBody>
      </p:sp>
      <p:sp>
        <p:nvSpPr>
          <p:cNvPr id="8" name="capability-statement">
            <a:extLst xmlns:a="http://schemas.openxmlformats.org/drawingml/2006/main">
              <a:ext uri="{FF2B5EF4-FFF2-40B4-BE49-F238E27FC236}">
                <a16:creationId xmlns:a16="http://schemas.microsoft.com/office/drawing/2014/main" id="{DC750F0A-26C5-4B2A-9B45-29C7C4C3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43A"/>
                </a:solidFill>
              </a:defRPr>
            </a:pPr>
            <a:r>
              <a:rPr sz="2325" b="1">
                <a:solidFill>
                  <a:srgbClr val="13243A"/>
                </a:solidFill>
              </a:rPr>
              <a:t>제안의 설득력은</a:t>
            </a:r>
          </a:p>
          <a:p xmlns:a="http://schemas.openxmlformats.org/drawingml/2006/main">
            <a:pPr algn="l">
              <a:defRPr sz="2325" b="1">
                <a:solidFill>
                  <a:srgbClr val="13243A"/>
                </a:solidFill>
              </a:defRPr>
            </a:pPr>
            <a:r>
              <a:rPr sz="2325" b="1">
                <a:solidFill>
                  <a:srgbClr val="13243A"/>
                </a:solidFill>
              </a:rPr>
              <a:t>‘잘할 수 있다’가 아니라</a:t>
            </a:r>
          </a:p>
          <a:p xmlns:a="http://schemas.openxmlformats.org/drawingml/2006/main">
            <a:pPr algn="l">
              <a:defRPr sz="2325" b="1">
                <a:solidFill>
                  <a:srgbClr val="13243A"/>
                </a:solidFill>
              </a:defRPr>
            </a:pPr>
            <a:r>
              <a:rPr sz="2325" b="1">
                <a:solidFill>
                  <a:srgbClr val="13243A"/>
                </a:solidFill>
              </a:rPr>
              <a:t>‘이미 해냈다’에서 나옵니다.</a:t>
            </a:r>
          </a:p>
        </p:txBody>
      </p:sp>
      <p:sp>
        <p:nvSpPr>
          <p:cNvPr id="9" name="capability-points-dot-0">
            <a:extLst xmlns:a="http://schemas.openxmlformats.org/drawingml/2006/main">
              <a:ext uri="{FF2B5EF4-FFF2-40B4-BE49-F238E27FC236}">
                <a16:creationId xmlns:a16="http://schemas.microsoft.com/office/drawing/2014/main" id="{67CB80FE-01B3-4D99-B263-8EE1F65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14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10" name="capability-points-0">
            <a:extLst xmlns:a="http://schemas.openxmlformats.org/drawingml/2006/main">
              <a:ext uri="{FF2B5EF4-FFF2-40B4-BE49-F238E27FC236}">
                <a16:creationId xmlns:a16="http://schemas.microsoft.com/office/drawing/2014/main" id="{4B159598-C983-427A-AE59-B8DE3F92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유사 사업 수행 실적과 발주처</a:t>
            </a:r>
          </a:p>
        </p:txBody>
      </p:sp>
      <p:sp>
        <p:nvSpPr>
          <p:cNvPr id="11" name="capability-points-dot-1">
            <a:extLst xmlns:a="http://schemas.openxmlformats.org/drawingml/2006/main">
              <a:ext uri="{FF2B5EF4-FFF2-40B4-BE49-F238E27FC236}">
                <a16:creationId xmlns:a16="http://schemas.microsoft.com/office/drawing/2014/main" id="{7E8FA358-0ABE-4E8A-981A-37BDB454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12" name="capability-points-1">
            <a:extLst xmlns:a="http://schemas.openxmlformats.org/drawingml/2006/main">
              <a:ext uri="{FF2B5EF4-FFF2-40B4-BE49-F238E27FC236}">
                <a16:creationId xmlns:a16="http://schemas.microsoft.com/office/drawing/2014/main" id="{35B9AFAA-CCDD-453A-965B-05CD9C4C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핵심 인력의 역할과 검증된 경험</a:t>
            </a:r>
          </a:p>
        </p:txBody>
      </p:sp>
      <p:sp>
        <p:nvSpPr>
          <p:cNvPr id="13" name="capability-points-dot-2">
            <a:extLst xmlns:a="http://schemas.openxmlformats.org/drawingml/2006/main">
              <a:ext uri="{FF2B5EF4-FFF2-40B4-BE49-F238E27FC236}">
                <a16:creationId xmlns:a16="http://schemas.microsoft.com/office/drawing/2014/main" id="{3B338ACE-67C8-4987-B886-7CABDF2D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14" name="capability-points-2">
            <a:extLst xmlns:a="http://schemas.openxmlformats.org/drawingml/2006/main">
              <a:ext uri="{FF2B5EF4-FFF2-40B4-BE49-F238E27FC236}">
                <a16:creationId xmlns:a16="http://schemas.microsoft.com/office/drawing/2014/main" id="{AB102F3C-55E0-40BF-966C-1E4CCBFD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보유 기술·면허·인증의 적용 근거</a:t>
            </a:r>
          </a:p>
        </p:txBody>
      </p:sp>
      <p:sp>
        <p:nvSpPr>
          <p:cNvPr id="15" name="capability-points-dot-3">
            <a:extLst xmlns:a="http://schemas.openxmlformats.org/drawingml/2006/main">
              <a:ext uri="{FF2B5EF4-FFF2-40B4-BE49-F238E27FC236}">
                <a16:creationId xmlns:a16="http://schemas.microsoft.com/office/drawing/2014/main" id="{073206EF-6D23-4315-8CB0-A8FF89D3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17D"/>
          </a:solidFill>
          <a:ln xmlns:a="http://schemas.openxmlformats.org/drawingml/2006/main" w="9525">
            <a:solidFill>
              <a:srgbClr val="3FA17D"/>
            </a:solidFill>
            <a:prstDash val="solid"/>
          </a:ln>
        </p:spPr>
      </p:sp>
      <p:sp>
        <p:nvSpPr>
          <p:cNvPr id="16" name="capability-points-3">
            <a:extLst xmlns:a="http://schemas.openxmlformats.org/drawingml/2006/main">
              <a:ext uri="{FF2B5EF4-FFF2-40B4-BE49-F238E27FC236}">
                <a16:creationId xmlns:a16="http://schemas.microsoft.com/office/drawing/2014/main" id="{084C8FA4-67E5-4FEB-9B2B-318B1C1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B3C"/>
                </a:solidFill>
              </a:defRPr>
            </a:pPr>
            <a:r>
              <a:rPr sz="1275" b="0">
                <a:solidFill>
                  <a:srgbClr val="1D2B3C"/>
                </a:solidFill>
              </a:rPr>
              <a:t>정량 성과와 고객 평가 자료</a:t>
            </a:r>
          </a:p>
        </p:txBody>
      </p:sp>
      <p:sp>
        <p:nvSpPr>
          <p:cNvPr id="17" name="capability-image-placeholder">
            <a:extLst xmlns:a="http://schemas.openxmlformats.org/drawingml/2006/main">
              <a:ext uri="{FF2B5EF4-FFF2-40B4-BE49-F238E27FC236}">
                <a16:creationId xmlns:a16="http://schemas.microsoft.com/office/drawing/2014/main" id="{A36685CB-F62E-4BA7-91AF-F125B5DF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2387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AAB8C5"/>
            </a:solidFill>
            <a:prstDash val="solid"/>
          </a:ln>
        </p:spPr>
      </p:sp>
      <p:sp>
        <p:nvSpPr>
          <p:cNvPr id="18" name="capability-image-label">
            <a:extLst xmlns:a="http://schemas.openxmlformats.org/drawingml/2006/main">
              <a:ext uri="{FF2B5EF4-FFF2-40B4-BE49-F238E27FC236}">
                <a16:creationId xmlns:a16="http://schemas.microsoft.com/office/drawing/2014/main" id="{F21583DC-AD0D-4927-94F9-74FC40F8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405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667587"/>
                </a:solidFill>
              </a:defRPr>
            </a:pPr>
            <a:r>
              <a:rPr sz="1575" b="1">
                <a:solidFill>
                  <a:srgbClr val="667587"/>
                </a:solidFill>
              </a:rPr>
              <a:t>회사 이미지 · 수행 실적 · 인증 자료</a:t>
            </a:r>
          </a:p>
        </p:txBody>
      </p:sp>
      <p:sp>
        <p:nvSpPr>
          <p:cNvPr id="19" name="capability-image-caption">
            <a:extLst xmlns:a="http://schemas.openxmlformats.org/drawingml/2006/main">
              <a:ext uri="{FF2B5EF4-FFF2-40B4-BE49-F238E27FC236}">
                <a16:creationId xmlns:a16="http://schemas.microsoft.com/office/drawing/2014/main" id="{FEC73DA1-12E5-427D-86F0-B204C251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사업과 직접 관련된 자료만 배치합니다.</a:t>
            </a:r>
          </a:p>
        </p:txBody>
      </p:sp>
    </p:spTree>
    <p:extLst>
      <p:ext uri="{BB962C8B-B14F-4D97-AF65-F5344CB8AC3E}">
        <p14:creationId xmlns:p14="http://schemas.microsoft.com/office/powerpoint/2010/main" val="1554109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op-accent-12">
            <a:extLst xmlns:a="http://schemas.openxmlformats.org/drawingml/2006/main">
              <a:ext uri="{FF2B5EF4-FFF2-40B4-BE49-F238E27FC236}">
                <a16:creationId xmlns:a16="http://schemas.microsoft.com/office/drawing/2014/main" id="{1CC5D0C2-11E1-4916-B75B-D7B09246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43A"/>
          </a:solidFill>
          <a:ln xmlns:a="http://schemas.openxmlformats.org/drawingml/2006/main" w="9525">
            <a:solidFill>
              <a:srgbClr val="13243A"/>
            </a:solidFill>
            <a:prstDash val="solid"/>
          </a:ln>
        </p:spPr>
      </p:sp>
      <p:sp>
        <p:nvSpPr>
          <p:cNvPr id="2" name="section-label-12">
            <a:extLst xmlns:a="http://schemas.openxmlformats.org/drawingml/2006/main">
              <a:ext uri="{FF2B5EF4-FFF2-40B4-BE49-F238E27FC236}">
                <a16:creationId xmlns:a16="http://schemas.microsoft.com/office/drawing/2014/main" id="{0E906930-A2C8-4D0A-8903-79AE4589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E88C7"/>
                </a:solidFill>
              </a:defRPr>
            </a:pPr>
            <a:r>
              <a:rPr sz="975" b="1">
                <a:solidFill>
                  <a:srgbClr val="4E88C7"/>
                </a:solidFill>
              </a:rPr>
              <a:t>QUALITY &amp; RISK MANAGEMENT</a:t>
            </a:r>
          </a:p>
        </p:txBody>
      </p:sp>
      <p:sp>
        <p:nvSpPr>
          <p:cNvPr id="3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B7BF271A-F473-4E5B-A7CD-1A52BBBB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4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2F938AFE-5C39-49A0-933B-68692AE8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사업명 제안서</a:t>
            </a:r>
          </a:p>
        </p:txBody>
      </p:sp>
      <p:sp>
        <p:nvSpPr>
          <p:cNvPr id="5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1EF558EE-BE07-4E5F-947D-F782021B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587"/>
                </a:solidFill>
              </a:defRPr>
            </a:pPr>
            <a:r>
              <a:rPr sz="825" b="0">
                <a:solidFill>
                  <a:srgbClr val="667587"/>
                </a:solidFill>
              </a:rPr>
              <a:t>12</a:t>
            </a:r>
          </a:p>
        </p:txBody>
      </p:sp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A15FA23A-C193-434E-925A-731383F3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43A"/>
                </a:solidFill>
              </a:defRPr>
            </a:pPr>
            <a:r>
              <a:rPr sz="2700" b="1">
                <a:solidFill>
                  <a:srgbClr val="13243A"/>
                </a:solidFill>
              </a:rPr>
              <a:t>품질은 사전에 설계하고 위험은 조기에 통제</a:t>
            </a:r>
          </a:p>
        </p:txBody>
      </p:sp>
      <p:sp>
        <p:nvSpPr>
          <p:cNvPr id="7" name="subtitle-12">
            <a:extLst xmlns:a="http://schemas.openxmlformats.org/drawingml/2006/main">
              <a:ext uri="{FF2B5EF4-FFF2-40B4-BE49-F238E27FC236}">
                <a16:creationId xmlns:a16="http://schemas.microsoft.com/office/drawing/2014/main" id="{146C84F5-BE49-40A5-BCCD-DB96A815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7"/>
                </a:solidFill>
              </a:defRPr>
            </a:pPr>
            <a:r>
              <a:rPr sz="1275" b="0">
                <a:solidFill>
                  <a:srgbClr val="667587"/>
                </a:solidFill>
              </a:rPr>
              <a:t>검수 기준과 대응 책임을 과업 시작 전에 합의합니다.</a:t>
            </a:r>
          </a:p>
        </p:txBody>
      </p:sp>
      <p:sp>
        <p:nvSpPr>
          <p:cNvPr id="8" name="quality-heading">
            <a:extLst xmlns:a="http://schemas.openxmlformats.org/drawingml/2006/main">
              <a:ext uri="{FF2B5EF4-FFF2-40B4-BE49-F238E27FC236}">
                <a16:creationId xmlns:a16="http://schemas.microsoft.com/office/drawing/2014/main" id="{558C247C-856E-45BA-9A9A-6ADAA5D9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E88C7"/>
                </a:solidFill>
              </a:defRPr>
            </a:pPr>
            <a:r>
              <a:rPr sz="1875" b="1">
                <a:solidFill>
                  <a:srgbClr val="4E88C7"/>
                </a:solidFill>
              </a:rPr>
              <a:t>품질 관리</a:t>
            </a:r>
          </a:p>
        </p:txBody>
      </p:sp>
      <p:sp>
        <p:nvSpPr>
          <p:cNvPr id="9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2F96942A-26B2-4008-98A1-365418F6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75B56"/>
                </a:solidFill>
              </a:defRPr>
            </a:pPr>
            <a:r>
              <a:rPr sz="1875" b="1">
                <a:solidFill>
                  <a:srgbClr val="C75B56"/>
                </a:solidFill>
              </a:rPr>
              <a:t>주요 위험과 대응</a:t>
            </a:r>
          </a:p>
        </p:txBody>
      </p:sp>
      <p:sp>
        <p:nvSpPr>
          <p:cNvPr id="10" name="quality-label-0">
            <a:extLst xmlns:a="http://schemas.openxmlformats.org/drawingml/2006/main">
              <a:ext uri="{FF2B5EF4-FFF2-40B4-BE49-F238E27FC236}">
                <a16:creationId xmlns:a16="http://schemas.microsoft.com/office/drawing/2014/main" id="{1A770332-D0F2-4403-A9E5-E7FF8F3A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3A"/>
                </a:solidFill>
              </a:defRPr>
            </a:pPr>
            <a:r>
              <a:rPr sz="1200" b="1">
                <a:solidFill>
                  <a:srgbClr val="13243A"/>
                </a:solidFill>
              </a:rPr>
              <a:t>착수</a:t>
            </a:r>
          </a:p>
        </p:txBody>
      </p:sp>
      <p:sp>
        <p:nvSpPr>
          <p:cNvPr id="11" name="quality-copy-0">
            <a:extLst xmlns:a="http://schemas.openxmlformats.org/drawingml/2006/main">
              <a:ext uri="{FF2B5EF4-FFF2-40B4-BE49-F238E27FC236}">
                <a16:creationId xmlns:a16="http://schemas.microsoft.com/office/drawing/2014/main" id="{9603BB05-AA5E-4CE1-B5FB-FAB11B5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5527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B3C"/>
                </a:solidFill>
              </a:defRPr>
            </a:pPr>
            <a:r>
              <a:rPr sz="1200" b="0">
                <a:solidFill>
                  <a:srgbClr val="1D2B3C"/>
                </a:solidFill>
              </a:rPr>
              <a:t>검수 기준·책임자 확정</a:t>
            </a:r>
          </a:p>
        </p:txBody>
      </p:sp>
      <p:sp>
        <p:nvSpPr>
          <p:cNvPr id="12" name="quality-rule-0">
            <a:extLst xmlns:a="http://schemas.openxmlformats.org/drawingml/2006/main">
              <a:ext uri="{FF2B5EF4-FFF2-40B4-BE49-F238E27FC236}">
                <a16:creationId xmlns:a16="http://schemas.microsoft.com/office/drawing/2014/main" id="{D66141C2-60C9-496F-A104-53C1C61F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3" name="quality-label-1">
            <a:extLst xmlns:a="http://schemas.openxmlformats.org/drawingml/2006/main">
              <a:ext uri="{FF2B5EF4-FFF2-40B4-BE49-F238E27FC236}">
                <a16:creationId xmlns:a16="http://schemas.microsoft.com/office/drawing/2014/main" id="{2A810498-1419-4FA5-8225-F9FF8C2A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3A"/>
                </a:solidFill>
              </a:defRPr>
            </a:pPr>
            <a:r>
              <a:rPr sz="1200" b="1">
                <a:solidFill>
                  <a:srgbClr val="13243A"/>
                </a:solidFill>
              </a:rPr>
              <a:t>수행</a:t>
            </a:r>
          </a:p>
        </p:txBody>
      </p:sp>
      <p:sp>
        <p:nvSpPr>
          <p:cNvPr id="14" name="quality-copy-1">
            <a:extLst xmlns:a="http://schemas.openxmlformats.org/drawingml/2006/main">
              <a:ext uri="{FF2B5EF4-FFF2-40B4-BE49-F238E27FC236}">
                <a16:creationId xmlns:a16="http://schemas.microsoft.com/office/drawing/2014/main" id="{97FB04CD-CAE6-46B1-9D21-E5FDB475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B3C"/>
                </a:solidFill>
              </a:defRPr>
            </a:pPr>
            <a:r>
              <a:rPr sz="1200" b="0">
                <a:solidFill>
                  <a:srgbClr val="1D2B3C"/>
                </a:solidFill>
              </a:rPr>
              <a:t>단계별 산출물 자체 검토</a:t>
            </a:r>
          </a:p>
        </p:txBody>
      </p:sp>
      <p:sp>
        <p:nvSpPr>
          <p:cNvPr id="15" name="quality-rule-1">
            <a:extLst xmlns:a="http://schemas.openxmlformats.org/drawingml/2006/main">
              <a:ext uri="{FF2B5EF4-FFF2-40B4-BE49-F238E27FC236}">
                <a16:creationId xmlns:a16="http://schemas.microsoft.com/office/drawing/2014/main" id="{774936AE-DF21-40E2-825C-61309023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6" name="quality-label-2">
            <a:extLst xmlns:a="http://schemas.openxmlformats.org/drawingml/2006/main">
              <a:ext uri="{FF2B5EF4-FFF2-40B4-BE49-F238E27FC236}">
                <a16:creationId xmlns:a16="http://schemas.microsoft.com/office/drawing/2014/main" id="{7A0BF47B-D866-476B-B149-C84BBA88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3A"/>
                </a:solidFill>
              </a:defRPr>
            </a:pPr>
            <a:r>
              <a:rPr sz="1200" b="1">
                <a:solidFill>
                  <a:srgbClr val="13243A"/>
                </a:solidFill>
              </a:rPr>
              <a:t>검수</a:t>
            </a:r>
          </a:p>
        </p:txBody>
      </p:sp>
      <p:sp>
        <p:nvSpPr>
          <p:cNvPr id="17" name="quality-copy-2">
            <a:extLst xmlns:a="http://schemas.openxmlformats.org/drawingml/2006/main">
              <a:ext uri="{FF2B5EF4-FFF2-40B4-BE49-F238E27FC236}">
                <a16:creationId xmlns:a16="http://schemas.microsoft.com/office/drawing/2014/main" id="{064064FC-E24E-4F66-982E-CE5D901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924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B3C"/>
                </a:solidFill>
              </a:defRPr>
            </a:pPr>
            <a:r>
              <a:rPr sz="1200" b="0">
                <a:solidFill>
                  <a:srgbClr val="1D2B3C"/>
                </a:solidFill>
              </a:rPr>
              <a:t>발주기관 피드백 반영</a:t>
            </a:r>
          </a:p>
        </p:txBody>
      </p:sp>
      <p:sp>
        <p:nvSpPr>
          <p:cNvPr id="18" name="quality-rule-2">
            <a:extLst xmlns:a="http://schemas.openxmlformats.org/drawingml/2006/main">
              <a:ext uri="{FF2B5EF4-FFF2-40B4-BE49-F238E27FC236}">
                <a16:creationId xmlns:a16="http://schemas.microsoft.com/office/drawing/2014/main" id="{83F6615C-54C6-4FCE-87C1-B6E9D3B3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19" name="quality-label-3">
            <a:extLst xmlns:a="http://schemas.openxmlformats.org/drawingml/2006/main">
              <a:ext uri="{FF2B5EF4-FFF2-40B4-BE49-F238E27FC236}">
                <a16:creationId xmlns:a16="http://schemas.microsoft.com/office/drawing/2014/main" id="{672D0E81-4732-4D8B-827E-350DDED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43A"/>
                </a:solidFill>
              </a:defRPr>
            </a:pPr>
            <a:r>
              <a:rPr sz="1200" b="1">
                <a:solidFill>
                  <a:srgbClr val="13243A"/>
                </a:solidFill>
              </a:rPr>
              <a:t>종료</a:t>
            </a:r>
          </a:p>
        </p:txBody>
      </p:sp>
      <p:sp>
        <p:nvSpPr>
          <p:cNvPr id="20" name="quality-copy-3">
            <a:extLst xmlns:a="http://schemas.openxmlformats.org/drawingml/2006/main">
              <a:ext uri="{FF2B5EF4-FFF2-40B4-BE49-F238E27FC236}">
                <a16:creationId xmlns:a16="http://schemas.microsoft.com/office/drawing/2014/main" id="{3CA816A2-0993-44FE-A560-6F1C5318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10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B3C"/>
                </a:solidFill>
              </a:defRPr>
            </a:pPr>
            <a:r>
              <a:rPr sz="1200" b="0">
                <a:solidFill>
                  <a:srgbClr val="1D2B3C"/>
                </a:solidFill>
              </a:rPr>
              <a:t>성과 측정·운영 이관</a:t>
            </a:r>
          </a:p>
        </p:txBody>
      </p:sp>
      <p:sp>
        <p:nvSpPr>
          <p:cNvPr id="21" name="quality-rule-3">
            <a:extLst xmlns:a="http://schemas.openxmlformats.org/drawingml/2006/main">
              <a:ext uri="{FF2B5EF4-FFF2-40B4-BE49-F238E27FC236}">
                <a16:creationId xmlns:a16="http://schemas.microsoft.com/office/drawing/2014/main" id="{6EA04F6B-64D4-499A-9121-8F95816D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2" name="risk-label-0">
            <a:extLst xmlns:a="http://schemas.openxmlformats.org/drawingml/2006/main">
              <a:ext uri="{FF2B5EF4-FFF2-40B4-BE49-F238E27FC236}">
                <a16:creationId xmlns:a16="http://schemas.microsoft.com/office/drawing/2014/main" id="{004A8984-3321-4A11-9C41-B592FEDC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일정 지연</a:t>
            </a:r>
          </a:p>
        </p:txBody>
      </p:sp>
      <p:sp>
        <p:nvSpPr>
          <p:cNvPr id="23" name="risk-response-0">
            <a:extLst xmlns:a="http://schemas.openxmlformats.org/drawingml/2006/main">
              <a:ext uri="{FF2B5EF4-FFF2-40B4-BE49-F238E27FC236}">
                <a16:creationId xmlns:a16="http://schemas.microsoft.com/office/drawing/2014/main" id="{8C8FAD86-FA11-442C-AD26-D0CAC855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주간 점검·선행 과업 관리</a:t>
            </a:r>
          </a:p>
        </p:txBody>
      </p:sp>
      <p:sp>
        <p:nvSpPr>
          <p:cNvPr id="24" name="risk-track-0">
            <a:extLst xmlns:a="http://schemas.openxmlformats.org/drawingml/2006/main">
              <a:ext uri="{FF2B5EF4-FFF2-40B4-BE49-F238E27FC236}">
                <a16:creationId xmlns:a16="http://schemas.microsoft.com/office/drawing/2014/main" id="{69286FBD-8B04-4095-9605-0A431A0A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34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5" name="risk-value-0">
            <a:extLst xmlns:a="http://schemas.openxmlformats.org/drawingml/2006/main">
              <a:ext uri="{FF2B5EF4-FFF2-40B4-BE49-F238E27FC236}">
                <a16:creationId xmlns:a16="http://schemas.microsoft.com/office/drawing/2014/main" id="{D75B5BB5-2748-4EDF-AD0D-505DCCA9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312724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5B56"/>
          </a:solidFill>
          <a:ln xmlns:a="http://schemas.openxmlformats.org/drawingml/2006/main" w="9525">
            <a:solidFill>
              <a:srgbClr val="C75B56"/>
            </a:solidFill>
            <a:prstDash val="solid"/>
          </a:ln>
        </p:spPr>
      </p:sp>
      <p:sp>
        <p:nvSpPr>
          <p:cNvPr id="26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CD75E1C7-361E-4432-86DB-39AC8EA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요구 변경</a:t>
            </a:r>
          </a:p>
        </p:txBody>
      </p:sp>
      <p:sp>
        <p:nvSpPr>
          <p:cNvPr id="27" name="risk-response-1">
            <a:extLst xmlns:a="http://schemas.openxmlformats.org/drawingml/2006/main">
              <a:ext uri="{FF2B5EF4-FFF2-40B4-BE49-F238E27FC236}">
                <a16:creationId xmlns:a16="http://schemas.microsoft.com/office/drawing/2014/main" id="{F6E1B061-E434-49D8-962F-D1AF6C02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변경 영향 분석·승인 절차</a:t>
            </a:r>
          </a:p>
        </p:txBody>
      </p:sp>
      <p:sp>
        <p:nvSpPr>
          <p:cNvPr id="28" name="risk-track-1">
            <a:extLst xmlns:a="http://schemas.openxmlformats.org/drawingml/2006/main">
              <a:ext uri="{FF2B5EF4-FFF2-40B4-BE49-F238E27FC236}">
                <a16:creationId xmlns:a16="http://schemas.microsoft.com/office/drawing/2014/main" id="{5A20A138-4E95-43A0-963A-AC5E73B4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34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29" name="risk-value-1">
            <a:extLst xmlns:a="http://schemas.openxmlformats.org/drawingml/2006/main">
              <a:ext uri="{FF2B5EF4-FFF2-40B4-BE49-F238E27FC236}">
                <a16:creationId xmlns:a16="http://schemas.microsoft.com/office/drawing/2014/main" id="{8EE6131B-2EA8-41C9-BC19-1470946F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2432304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30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C1571975-2A35-4693-9BE9-872EFB84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품질 편차</a:t>
            </a:r>
          </a:p>
        </p:txBody>
      </p:sp>
      <p:sp>
        <p:nvSpPr>
          <p:cNvPr id="31" name="risk-response-2">
            <a:extLst xmlns:a="http://schemas.openxmlformats.org/drawingml/2006/main">
              <a:ext uri="{FF2B5EF4-FFF2-40B4-BE49-F238E27FC236}">
                <a16:creationId xmlns:a16="http://schemas.microsoft.com/office/drawing/2014/main" id="{6A7FD153-5F24-453F-BAB0-C2FE949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표준 검수표·교차 검토</a:t>
            </a:r>
          </a:p>
        </p:txBody>
      </p:sp>
      <p:sp>
        <p:nvSpPr>
          <p:cNvPr id="32" name="risk-track-2">
            <a:extLst xmlns:a="http://schemas.openxmlformats.org/drawingml/2006/main">
              <a:ext uri="{FF2B5EF4-FFF2-40B4-BE49-F238E27FC236}">
                <a16:creationId xmlns:a16="http://schemas.microsoft.com/office/drawing/2014/main" id="{62467BCF-9461-4266-93AB-C6014BE3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34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33" name="risk-value-2">
            <a:extLst xmlns:a="http://schemas.openxmlformats.org/drawingml/2006/main">
              <a:ext uri="{FF2B5EF4-FFF2-40B4-BE49-F238E27FC236}">
                <a16:creationId xmlns:a16="http://schemas.microsoft.com/office/drawing/2014/main" id="{C95FEEB3-D6EF-4104-9DDB-E86FC9AF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997964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  <p:sp>
        <p:nvSpPr>
          <p:cNvPr id="34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23B0A998-F0E9-42F0-B9F6-DD307AC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29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인력 공백</a:t>
            </a:r>
          </a:p>
        </p:txBody>
      </p:sp>
      <p:sp>
        <p:nvSpPr>
          <p:cNvPr id="35" name="risk-response-3">
            <a:extLst xmlns:a="http://schemas.openxmlformats.org/drawingml/2006/main">
              <a:ext uri="{FF2B5EF4-FFF2-40B4-BE49-F238E27FC236}">
                <a16:creationId xmlns:a16="http://schemas.microsoft.com/office/drawing/2014/main" id="{CC0C03AE-789C-44CF-93D9-C1B58EA4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7"/>
                </a:solidFill>
              </a:defRPr>
            </a:pPr>
            <a:r>
              <a:rPr sz="1125" b="0">
                <a:solidFill>
                  <a:srgbClr val="667587"/>
                </a:solidFill>
              </a:rPr>
              <a:t>대체 인력 사전 지정</a:t>
            </a:r>
          </a:p>
        </p:txBody>
      </p:sp>
      <p:sp>
        <p:nvSpPr>
          <p:cNvPr id="36" name="risk-track-3">
            <a:extLst xmlns:a="http://schemas.openxmlformats.org/drawingml/2006/main">
              <a:ext uri="{FF2B5EF4-FFF2-40B4-BE49-F238E27FC236}">
                <a16:creationId xmlns:a16="http://schemas.microsoft.com/office/drawing/2014/main" id="{3CC96661-A075-4363-A14E-412866C1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4343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DEE5"/>
          </a:solidFill>
          <a:ln xmlns:a="http://schemas.openxmlformats.org/drawingml/2006/main" w="9525">
            <a:solidFill>
              <a:srgbClr val="D5DEE5"/>
            </a:solidFill>
            <a:prstDash val="solid"/>
          </a:ln>
        </p:spPr>
      </p:sp>
      <p:sp>
        <p:nvSpPr>
          <p:cNvPr id="37" name="risk-value-3">
            <a:extLst xmlns:a="http://schemas.openxmlformats.org/drawingml/2006/main">
              <a:ext uri="{FF2B5EF4-FFF2-40B4-BE49-F238E27FC236}">
                <a16:creationId xmlns:a16="http://schemas.microsoft.com/office/drawing/2014/main" id="{0BF108B5-E024-48C9-AA6B-2D37B12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72050"/>
            <a:ext cx="1476756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88C7"/>
          </a:solidFill>
          <a:ln xmlns:a="http://schemas.openxmlformats.org/drawingml/2006/main" w="9525">
            <a:solidFill>
              <a:srgbClr val="4E88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68598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383dfb6fb402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9FFEC906-2E06-4BE1-A132-2573A93A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D632371D-A39D-4BD9-9263-C05595B2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88C7"/>
                </a:solidFill>
              </a:defRPr>
            </a:pPr>
            <a:r>
              <a:rPr sz="1050" b="1">
                <a:solidFill>
                  <a:srgbClr val="4E88C7"/>
                </a:solidFill>
              </a:rPr>
              <a:t>EXPECTED OUTCOMES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ABEE148F-4914-4045-B2C5-D3BFC394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243A"/>
                </a:solidFill>
              </a:defRPr>
            </a:pPr>
            <a:r>
              <a:rPr sz="3150" b="1">
                <a:solidFill>
                  <a:srgbClr val="13243A"/>
                </a:solidFill>
              </a:rPr>
              <a:t>사업의 성공을</a:t>
            </a:r>
          </a:p>
          <a:p xmlns:a="http://schemas.openxmlformats.org/drawingml/2006/main">
            <a:pPr algn="l">
              <a:defRPr sz="3150" b="1">
                <a:solidFill>
                  <a:srgbClr val="13243A"/>
                </a:solidFill>
              </a:defRPr>
            </a:pPr>
            <a:r>
              <a:rPr sz="3150" b="1">
                <a:solidFill>
                  <a:srgbClr val="13243A"/>
                </a:solidFill>
              </a:rPr>
              <a:t>측정 가능한 결과로 남깁니다</a:t>
            </a:r>
          </a:p>
        </p:txBody>
      </p:sp>
      <p:sp>
        <p:nvSpPr>
          <p:cNvPr id="5" name="metric-value-76">
            <a:extLst xmlns:a="http://schemas.openxmlformats.org/drawingml/2006/main">
              <a:ext uri="{FF2B5EF4-FFF2-40B4-BE49-F238E27FC236}">
                <a16:creationId xmlns:a16="http://schemas.microsoft.com/office/drawing/2014/main" id="{F23BDB49-3A46-4BBC-8402-17BD8075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E88C7"/>
                </a:solidFill>
              </a:defRPr>
            </a:pPr>
            <a:r>
              <a:rPr sz="2850" b="1">
                <a:solidFill>
                  <a:srgbClr val="4E88C7"/>
                </a:solidFill>
              </a:rPr>
              <a:t>[수치]</a:t>
            </a:r>
          </a:p>
        </p:txBody>
      </p:sp>
      <p:sp>
        <p:nvSpPr>
          <p:cNvPr id="6" name="metric-label-76">
            <a:extLst xmlns:a="http://schemas.openxmlformats.org/drawingml/2006/main">
              <a:ext uri="{FF2B5EF4-FFF2-40B4-BE49-F238E27FC236}">
                <a16:creationId xmlns:a16="http://schemas.microsoft.com/office/drawing/2014/main" id="{4C112290-0F12-4D35-9615-9510BF80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핵심 성과 지표</a:t>
            </a:r>
          </a:p>
        </p:txBody>
      </p:sp>
      <p:sp>
        <p:nvSpPr>
          <p:cNvPr id="7" name="metric-value-298">
            <a:extLst xmlns:a="http://schemas.openxmlformats.org/drawingml/2006/main">
              <a:ext uri="{FF2B5EF4-FFF2-40B4-BE49-F238E27FC236}">
                <a16:creationId xmlns:a16="http://schemas.microsoft.com/office/drawing/2014/main" id="{74D69DB0-B302-486B-BB2B-5D4443C6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17D"/>
                </a:solidFill>
              </a:defRPr>
            </a:pPr>
            <a:r>
              <a:rPr sz="2850" b="1">
                <a:solidFill>
                  <a:srgbClr val="3FA17D"/>
                </a:solidFill>
              </a:rPr>
              <a:t>[수치]</a:t>
            </a:r>
          </a:p>
        </p:txBody>
      </p:sp>
      <p:sp>
        <p:nvSpPr>
          <p:cNvPr id="8" name="metric-label-298">
            <a:extLst xmlns:a="http://schemas.openxmlformats.org/drawingml/2006/main">
              <a:ext uri="{FF2B5EF4-FFF2-40B4-BE49-F238E27FC236}">
                <a16:creationId xmlns:a16="http://schemas.microsoft.com/office/drawing/2014/main" id="{F982A90E-DB38-4040-8AD1-69011BFE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57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운영 효율 개선</a:t>
            </a:r>
          </a:p>
        </p:txBody>
      </p:sp>
      <p:sp>
        <p:nvSpPr>
          <p:cNvPr id="9" name="metric-value-520">
            <a:extLst xmlns:a="http://schemas.openxmlformats.org/drawingml/2006/main">
              <a:ext uri="{FF2B5EF4-FFF2-40B4-BE49-F238E27FC236}">
                <a16:creationId xmlns:a16="http://schemas.microsoft.com/office/drawing/2014/main" id="{F0354162-79AF-4CE3-A60B-6E48F47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43A"/>
                </a:solidFill>
              </a:defRPr>
            </a:pPr>
            <a:r>
              <a:rPr sz="2850" b="1">
                <a:solidFill>
                  <a:srgbClr val="13243A"/>
                </a:solidFill>
              </a:rPr>
              <a:t>[수치]</a:t>
            </a:r>
          </a:p>
        </p:txBody>
      </p:sp>
      <p:sp>
        <p:nvSpPr>
          <p:cNvPr id="10" name="metric-label-520">
            <a:extLst xmlns:a="http://schemas.openxmlformats.org/drawingml/2006/main">
              <a:ext uri="{FF2B5EF4-FFF2-40B4-BE49-F238E27FC236}">
                <a16:creationId xmlns:a16="http://schemas.microsoft.com/office/drawing/2014/main" id="{AEC8BC00-2A16-4BE0-8A87-34ACB6ED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B3C"/>
                </a:solidFill>
              </a:defRPr>
            </a:pPr>
            <a:r>
              <a:rPr sz="1200" b="1">
                <a:solidFill>
                  <a:srgbClr val="1D2B3C"/>
                </a:solidFill>
              </a:rPr>
              <a:t>이용자 만족도</a:t>
            </a:r>
          </a:p>
        </p:txBody>
      </p:sp>
      <p:sp>
        <p:nvSpPr>
          <p:cNvPr id="11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EEA76497-5A39-4EEC-9B37-02562D9E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8C5"/>
          </a:solidFill>
          <a:ln xmlns:a="http://schemas.openxmlformats.org/drawingml/2006/main" w="9525">
            <a:solidFill>
              <a:srgbClr val="AAB8C5"/>
            </a:solidFill>
            <a:prstDash val="solid"/>
          </a:ln>
        </p:spPr>
      </p:sp>
      <p:sp>
        <p:nvSpPr>
          <p:cNvPr id="12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A558F274-E380-4CE7-B3FC-EFFD4146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2B3C"/>
                </a:solidFill>
              </a:defRPr>
            </a:pPr>
            <a:r>
              <a:rPr sz="1725" b="1">
                <a:solidFill>
                  <a:srgbClr val="1D2B3C"/>
                </a:solidFill>
              </a:rPr>
              <a:t>발주기관의 목표를 정확히 이해하고,</a:t>
            </a:r>
          </a:p>
          <a:p xmlns:a="http://schemas.openxmlformats.org/drawingml/2006/main">
            <a:pPr algn="l">
              <a:defRPr sz="1725" b="1">
                <a:solidFill>
                  <a:srgbClr val="1D2B3C"/>
                </a:solidFill>
              </a:defRPr>
            </a:pPr>
            <a:r>
              <a:rPr sz="1725" b="1">
                <a:solidFill>
                  <a:srgbClr val="1D2B3C"/>
                </a:solidFill>
              </a:rPr>
              <a:t>끝까지 책임지는 수행 파트너가 되겠습니다.</a:t>
            </a:r>
          </a:p>
        </p:txBody>
      </p:sp>
      <p:sp>
        <p:nvSpPr>
          <p:cNvPr id="13" name="closing-company">
            <a:extLst xmlns:a="http://schemas.openxmlformats.org/drawingml/2006/main">
              <a:ext uri="{FF2B5EF4-FFF2-40B4-BE49-F238E27FC236}">
                <a16:creationId xmlns:a16="http://schemas.microsoft.com/office/drawing/2014/main" id="{CAFDFB14-C3A7-4EAA-814B-73574AE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53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587"/>
                </a:solidFill>
              </a:defRPr>
            </a:pPr>
            <a:r>
              <a:rPr sz="1200" b="0">
                <a:solidFill>
                  <a:srgbClr val="667587"/>
                </a:solidFill>
              </a:rPr>
              <a:t>제안사명</a:t>
            </a:r>
          </a:p>
        </p:txBody>
      </p:sp>
    </p:spTree>
    <p:extLst>
      <p:ext uri="{BB962C8B-B14F-4D97-AF65-F5344CB8AC3E}">
        <p14:creationId xmlns:p14="http://schemas.microsoft.com/office/powerpoint/2010/main" val="375887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2026-07-28T08:24:42.9620000Z</dcterms:created>
  <dcterms:modified xsi:type="dcterms:W3CDTF">2026-07-28T08:24:42.9630000Z</dcterms:modified>
</coreProperties>
</file>