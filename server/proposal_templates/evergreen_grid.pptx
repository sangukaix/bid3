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82c49e72c245f5" /><Relationship Type="http://schemas.openxmlformats.org/officeDocument/2006/relationships/extended-properties" Target="/docProps/app.xml" Id="Rdfb79b46504c4b3f" /><Relationship Type="http://schemas.openxmlformats.org/officeDocument/2006/relationships/officeDocument" Target="/ppt/presentation.xml" Id="R89d7b6ddcadd4e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914839b0c94d98"/>
  </p:sldMasterIdLst>
  <p:notesMasterIdLst>
    <p:notesMasterId xmlns:r="http://schemas.openxmlformats.org/officeDocument/2006/relationships" r:id="Re7910eb5f7c0465d"/>
  </p:notesMasterIdLst>
  <p:sldIdLst>
    <p:sldId xmlns:r="http://schemas.openxmlformats.org/officeDocument/2006/relationships" id="256" r:id="Ra794a808166a4066"/>
    <p:sldId xmlns:r="http://schemas.openxmlformats.org/officeDocument/2006/relationships" id="257" r:id="R23c3c8bb076642f1"/>
    <p:sldId xmlns:r="http://schemas.openxmlformats.org/officeDocument/2006/relationships" id="258" r:id="R869aabaaa6104956"/>
    <p:sldId xmlns:r="http://schemas.openxmlformats.org/officeDocument/2006/relationships" id="259" r:id="R6148b4c07d8f4b70"/>
    <p:sldId xmlns:r="http://schemas.openxmlformats.org/officeDocument/2006/relationships" id="260" r:id="R0fc4a530d4634130"/>
    <p:sldId xmlns:r="http://schemas.openxmlformats.org/officeDocument/2006/relationships" id="261" r:id="Re26a6bae0d4a41bf"/>
    <p:sldId xmlns:r="http://schemas.openxmlformats.org/officeDocument/2006/relationships" id="262" r:id="R0e9c59531c6749a9"/>
    <p:sldId xmlns:r="http://schemas.openxmlformats.org/officeDocument/2006/relationships" id="263" r:id="Rb412eb5f3a824a89"/>
    <p:sldId xmlns:r="http://schemas.openxmlformats.org/officeDocument/2006/relationships" id="264" r:id="R1d3c9a02fafd453a"/>
    <p:sldId xmlns:r="http://schemas.openxmlformats.org/officeDocument/2006/relationships" id="265" r:id="R23f1dc70025c42f6"/>
    <p:sldId xmlns:r="http://schemas.openxmlformats.org/officeDocument/2006/relationships" id="266" r:id="Ra2a95127900b4ed0"/>
    <p:sldId xmlns:r="http://schemas.openxmlformats.org/officeDocument/2006/relationships" id="267" r:id="R3dce4419acc74f72"/>
    <p:sldId xmlns:r="http://schemas.openxmlformats.org/officeDocument/2006/relationships" id="268" r:id="R76f2f2155c224d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345d0e7dc34759" /><Relationship Type="http://schemas.openxmlformats.org/officeDocument/2006/relationships/slideMaster" Target="/ppt/slideMasters/slideMaster1.xml" Id="R0f914839b0c94d98" /><Relationship Type="http://schemas.openxmlformats.org/officeDocument/2006/relationships/notesMaster" Target="/ppt/notesMasters/notesMaster1.xml" Id="Re7910eb5f7c0465d" /><Relationship Type="http://schemas.openxmlformats.org/officeDocument/2006/relationships/presProps" Target="/ppt/presProps.xml" Id="Ra02747e1fedb427f" /><Relationship Type="http://schemas.openxmlformats.org/officeDocument/2006/relationships/tableStyles" Target="/ppt/tableStyles.xml" Id="R1200ed3cafae432a" /><Relationship Type="http://schemas.openxmlformats.org/officeDocument/2006/relationships/slide" Target="/ppt/slides/slide1.xml" Id="Ra794a808166a4066" /><Relationship Type="http://schemas.openxmlformats.org/officeDocument/2006/relationships/slide" Target="/ppt/slides/slide2.xml" Id="R23c3c8bb076642f1" /><Relationship Type="http://schemas.openxmlformats.org/officeDocument/2006/relationships/slide" Target="/ppt/slides/slide3.xml" Id="R869aabaaa6104956" /><Relationship Type="http://schemas.openxmlformats.org/officeDocument/2006/relationships/slide" Target="/ppt/slides/slide4.xml" Id="R6148b4c07d8f4b70" /><Relationship Type="http://schemas.openxmlformats.org/officeDocument/2006/relationships/slide" Target="/ppt/slides/slide5.xml" Id="R0fc4a530d4634130" /><Relationship Type="http://schemas.openxmlformats.org/officeDocument/2006/relationships/slide" Target="/ppt/slides/slide6.xml" Id="Re26a6bae0d4a41bf" /><Relationship Type="http://schemas.openxmlformats.org/officeDocument/2006/relationships/slide" Target="/ppt/slides/slide7.xml" Id="R0e9c59531c6749a9" /><Relationship Type="http://schemas.openxmlformats.org/officeDocument/2006/relationships/slide" Target="/ppt/slides/slide8.xml" Id="Rb412eb5f3a824a89" /><Relationship Type="http://schemas.openxmlformats.org/officeDocument/2006/relationships/slide" Target="/ppt/slides/slide9.xml" Id="R1d3c9a02fafd453a" /><Relationship Type="http://schemas.openxmlformats.org/officeDocument/2006/relationships/slide" Target="/ppt/slides/slide10.xml" Id="R23f1dc70025c42f6" /><Relationship Type="http://schemas.openxmlformats.org/officeDocument/2006/relationships/slide" Target="/ppt/slides/slide11.xml" Id="Ra2a95127900b4ed0" /><Relationship Type="http://schemas.openxmlformats.org/officeDocument/2006/relationships/slide" Target="/ppt/slides/slide12.xml" Id="R3dce4419acc74f72" /><Relationship Type="http://schemas.openxmlformats.org/officeDocument/2006/relationships/slide" Target="/ppt/slides/slide13.xml" Id="R76f2f2155c224d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50d21a6c4c48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660d0be3914fb4" /><Relationship Type="http://schemas.openxmlformats.org/officeDocument/2006/relationships/notesMaster" Target="/ppt/notesMasters/notesMaster1.xml" Id="R758c1f4ddd9b4e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aaaef8c8cc4019" /><Relationship Type="http://schemas.openxmlformats.org/officeDocument/2006/relationships/notesMaster" Target="/ppt/notesMasters/notesMaster1.xml" Id="R1f85001c4acd47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a2e849802b423f" /><Relationship Type="http://schemas.openxmlformats.org/officeDocument/2006/relationships/notesMaster" Target="/ppt/notesMasters/notesMaster1.xml" Id="R5729a39dddf44e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29a43965d545e4" /><Relationship Type="http://schemas.openxmlformats.org/officeDocument/2006/relationships/notesMaster" Target="/ppt/notesMasters/notesMaster1.xml" Id="R77eb6c6c335a49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e538223ef248d6" /><Relationship Type="http://schemas.openxmlformats.org/officeDocument/2006/relationships/notesMaster" Target="/ppt/notesMasters/notesMaster1.xml" Id="R81870aa065ab46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386362cb294357" /><Relationship Type="http://schemas.openxmlformats.org/officeDocument/2006/relationships/notesMaster" Target="/ppt/notesMasters/notesMaster1.xml" Id="R17f3d3090e0b46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7a7c6ea4484c9f" /><Relationship Type="http://schemas.openxmlformats.org/officeDocument/2006/relationships/notesMaster" Target="/ppt/notesMasters/notesMaster1.xml" Id="R9f394b7afaf042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aea9fd44df4e65" /><Relationship Type="http://schemas.openxmlformats.org/officeDocument/2006/relationships/notesMaster" Target="/ppt/notesMasters/notesMaster1.xml" Id="R68b4cae74c5e48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758764b5c64fed" /><Relationship Type="http://schemas.openxmlformats.org/officeDocument/2006/relationships/notesMaster" Target="/ppt/notesMasters/notesMaster1.xml" Id="Rb1005c97b16a46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ea2a6c4367413b" /><Relationship Type="http://schemas.openxmlformats.org/officeDocument/2006/relationships/notesMaster" Target="/ppt/notesMasters/notesMaster1.xml" Id="Rf71f69d1778240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f8503939cb4acd" /><Relationship Type="http://schemas.openxmlformats.org/officeDocument/2006/relationships/notesMaster" Target="/ppt/notesMasters/notesMaster1.xml" Id="R504b7ec6f74b41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5466e88a9943a3" /><Relationship Type="http://schemas.openxmlformats.org/officeDocument/2006/relationships/notesMaster" Target="/ppt/notesMasters/notesMaster1.xml" Id="R7aaed7b865f148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e07f95134840dd" /><Relationship Type="http://schemas.openxmlformats.org/officeDocument/2006/relationships/notesMaster" Target="/ppt/notesMasters/notesMaster1.xml" Id="R04f40aa8b7974d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2563d445847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e82bb61eb145a4" /><Relationship Type="http://schemas.openxmlformats.org/officeDocument/2006/relationships/slideLayout" Target="/ppt/slideLayouts/slideLayout1.xml" Id="R395b550d2ead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5b550d2ead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b0aca59b6453b" /><Relationship Type="http://schemas.openxmlformats.org/officeDocument/2006/relationships/notesSlide" Target="/ppt/notesSlides/notesSlide1.xml" Id="R84cca0e5eb1940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415d230bd465f" /><Relationship Type="http://schemas.openxmlformats.org/officeDocument/2006/relationships/notesSlide" Target="/ppt/notesSlides/notesSlide2.xml" Id="R9578591a04a745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ce53d5fe14bda" /><Relationship Type="http://schemas.openxmlformats.org/officeDocument/2006/relationships/notesSlide" Target="/ppt/notesSlides/notesSlide3.xml" Id="Rd26aec2f23b848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6d6a9ce2c4fc7" /><Relationship Type="http://schemas.openxmlformats.org/officeDocument/2006/relationships/notesSlide" Target="/ppt/notesSlides/notesSlide4.xml" Id="Rfff9721df89143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7e4af730841bc" /><Relationship Type="http://schemas.openxmlformats.org/officeDocument/2006/relationships/notesSlide" Target="/ppt/notesSlides/notesSlide5.xml" Id="R561df91d615f45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78f725c124621" /><Relationship Type="http://schemas.openxmlformats.org/officeDocument/2006/relationships/notesSlide" Target="/ppt/notesSlides/notesSlide6.xml" Id="R9bb912dc0e6941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7cf2a5ab04356" /><Relationship Type="http://schemas.openxmlformats.org/officeDocument/2006/relationships/notesSlide" Target="/ppt/notesSlides/notesSlide7.xml" Id="R028ec7d1770b4a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ed938029a4ce2" /><Relationship Type="http://schemas.openxmlformats.org/officeDocument/2006/relationships/notesSlide" Target="/ppt/notesSlides/notesSlide8.xml" Id="Rdee16e29fca646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438be799d4f5b" /><Relationship Type="http://schemas.openxmlformats.org/officeDocument/2006/relationships/notesSlide" Target="/ppt/notesSlides/notesSlide9.xml" Id="Rd6f13c3652f445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0d49f19d54348" /><Relationship Type="http://schemas.openxmlformats.org/officeDocument/2006/relationships/notesSlide" Target="/ppt/notesSlides/notesSlide10.xml" Id="Re3f3b925b8e24f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3c5e0fe334035" /><Relationship Type="http://schemas.openxmlformats.org/officeDocument/2006/relationships/notesSlide" Target="/ppt/notesSlides/notesSlide11.xml" Id="R974f98c5373142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1f516dbc84dfc" /><Relationship Type="http://schemas.openxmlformats.org/officeDocument/2006/relationships/notesSlide" Target="/ppt/notesSlides/notesSlide12.xml" Id="R15d2d542cb0845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9d1bde60246bf" /><Relationship Type="http://schemas.openxmlformats.org/officeDocument/2006/relationships/notesSlide" Target="/ppt/notesSlides/notesSlide13.xml" Id="R1fdb9220e9ff4e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5F1CB-F9B3-4EB1-B47B-373BCEB7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49476-77FC-49F1-8526-F6F6012B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097EF-2FB8-4125-85EA-CD85AE7A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입찰 제안서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7EABE-9A34-40F1-B2F1-53D598A4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11D"/>
                </a:solidFill>
              </a:defRPr>
            </a:pPr>
            <a:r>
              <a:rPr sz="4350" b="1">
                <a:solidFill>
                  <a:srgbClr val="17211D"/>
                </a:solidFill>
              </a:rPr>
              <a:t>사업명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AE6E9-0D54-475B-9C5E-ED9367E9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33750"/>
            <a:ext cx="647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756B"/>
                </a:solidFill>
              </a:defRPr>
            </a:pPr>
            <a:r>
              <a:rPr sz="1875" b="0">
                <a:solidFill>
                  <a:srgbClr val="60756B"/>
                </a:solidFill>
              </a:rPr>
              <a:t>발주처의 목표를 실행 가능한 성과로 연결하는 제안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27EE9-5532-46BF-8C71-624EFA40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33900"/>
            <a:ext cx="1257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B4994-D86F-4531-B798-5EA69CB4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57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4D3A"/>
                </a:solidFill>
              </a:defRPr>
            </a:pPr>
            <a:r>
              <a:rPr sz="1500" b="1">
                <a:solidFill>
                  <a:srgbClr val="174D3A"/>
                </a:solidFill>
              </a:rPr>
              <a:t>제안사명</a:t>
            </a:r>
          </a:p>
        </p:txBody>
      </p:sp>
    </p:spTree>
    <p:extLst>
      <p:ext uri="{BB962C8B-B14F-4D97-AF65-F5344CB8AC3E}">
        <p14:creationId xmlns:p14="http://schemas.microsoft.com/office/powerpoint/2010/main" val="1829213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F4DD9-1170-44E9-B9F8-ED42F165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4C7C0-75E5-4CD8-9F17-7F2CC8E9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</a:defRPr>
            </a:pPr>
            <a:r>
              <a:rPr sz="2850" b="1">
                <a:solidFill>
                  <a:srgbClr val="17211D"/>
                </a:solidFill>
              </a:rPr>
              <a:t>제안의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2E1FB-87FB-42A7-865C-49F3E18E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3824E-F6D3-4E3E-BB6A-226EEA83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15B10-8B6B-4A36-9AF6-4372D8F6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5DB42-CF24-429D-BD0A-723F358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14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</a:defRPr>
            </a:pPr>
            <a:r>
              <a:rPr sz="1800" b="1">
                <a:solidFill>
                  <a:srgbClr val="17211D"/>
                </a:solidFill>
              </a:rPr>
              <a:t>사업 이해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E322A-2BFF-4961-BC7E-3A656A5C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431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6B"/>
                </a:solidFill>
              </a:defRPr>
            </a:pPr>
            <a:r>
              <a:rPr sz="1350" b="0">
                <a:solidFill>
                  <a:srgbClr val="60756B"/>
                </a:solidFill>
              </a:rPr>
              <a:t>핵심 내용을 한 문장으로 정리합니다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E862E-DE60-4504-8EEE-5AA83EC0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BAA78-03ED-4307-8126-39E67576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</a:defRPr>
            </a:pPr>
            <a:r>
              <a:rPr sz="1800" b="1">
                <a:solidFill>
                  <a:srgbClr val="17211D"/>
                </a:solidFill>
              </a:rPr>
              <a:t>제안 전략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DA610-AA7E-421E-83B0-434B4969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6B"/>
                </a:solidFill>
              </a:defRPr>
            </a:pPr>
            <a:r>
              <a:rPr sz="1350" b="0">
                <a:solidFill>
                  <a:srgbClr val="60756B"/>
                </a:solidFill>
              </a:rPr>
              <a:t>핵심 내용을 한 문장으로 정리합니다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29E51-4AF3-4C7D-A48D-C2B51ABB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A8010-84D6-42E0-8658-D81491CE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909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</a:defRPr>
            </a:pPr>
            <a:r>
              <a:rPr sz="1800" b="1">
                <a:solidFill>
                  <a:srgbClr val="17211D"/>
                </a:solidFill>
              </a:rPr>
              <a:t>수행 방안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66378-1267-4600-9D18-CB0AC9E1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195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6B"/>
                </a:solidFill>
              </a:defRPr>
            </a:pPr>
            <a:r>
              <a:rPr sz="1350" b="0">
                <a:solidFill>
                  <a:srgbClr val="60756B"/>
                </a:solidFill>
              </a:rPr>
              <a:t>핵심 내용을 한 문장으로 정리합니다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27555-1514-4D4E-AD95-FB4678AD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A6EDF-05DC-4978-A7D2-25E7DBD7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291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</a:defRPr>
            </a:pPr>
            <a:r>
              <a:rPr sz="1800" b="1">
                <a:solidFill>
                  <a:srgbClr val="17211D"/>
                </a:solidFill>
              </a:rPr>
              <a:t>관리 체계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E8501-375D-4BB0-91CE-E0A285CE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577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6B"/>
                </a:solidFill>
              </a:defRPr>
            </a:pPr>
            <a:r>
              <a:rPr sz="1350" b="0">
                <a:solidFill>
                  <a:srgbClr val="60756B"/>
                </a:solidFill>
              </a:rPr>
              <a:t>핵심 내용을 한 문장으로 정리합니다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D42DB-4DF7-4D84-80D5-F40E892E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A3208-1921-4A3D-93F7-07AA56A5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673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</a:defRPr>
            </a:pPr>
            <a:r>
              <a:rPr sz="1800" b="1">
                <a:solidFill>
                  <a:srgbClr val="17211D"/>
                </a:solidFill>
              </a:rPr>
              <a:t>회사 역량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05670-E214-4196-A86D-2CABE2BE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959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6B"/>
                </a:solidFill>
              </a:defRPr>
            </a:pPr>
            <a:r>
              <a:rPr sz="1350" b="0">
                <a:solidFill>
                  <a:srgbClr val="60756B"/>
                </a:solidFill>
              </a:rPr>
              <a:t>핵심 내용을 한 문장으로 정리합니다</a:t>
            </a:r>
          </a:p>
        </p:txBody>
      </p:sp>
    </p:spTree>
    <p:extLst>
      <p:ext uri="{BB962C8B-B14F-4D97-AF65-F5344CB8AC3E}">
        <p14:creationId xmlns:p14="http://schemas.microsoft.com/office/powerpoint/2010/main" val="11424076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4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DEE69-8C03-4855-A3F6-7CC77489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E677C-AF1E-404C-AE98-DAF20721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사업 이해와 제안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033CD-731A-4D06-BB65-F1CE2415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FE4DA"/>
                </a:solidFill>
              </a:defRPr>
            </a:pPr>
            <a:r>
              <a:rPr sz="1800" b="0">
                <a:solidFill>
                  <a:srgbClr val="CFE4DA"/>
                </a:solidFill>
              </a:rPr>
              <a:t>발주처의 요구를 정확히 이해하고 실행 방향을 제시합니다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A900C-9E4B-43C1-80A4-41542136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685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4593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9864B-4578-4F36-8A47-D9FA48CE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1C340-7272-45ED-BCAE-50E3B84E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</a:defRPr>
            </a:pPr>
            <a:r>
              <a:rPr sz="2850" b="1">
                <a:solidFill>
                  <a:srgbClr val="17211D"/>
                </a:solidFill>
              </a:rPr>
              <a:t>제안 핵심을 한눈에 보여드립니다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F3B5C-2094-42CD-9B26-1F5AAEC0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3D441-A1B5-44DD-82C3-FDD83170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A80BA-C432-43F1-A83E-70AA9909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47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4D3A"/>
                </a:solidFill>
              </a:defRPr>
            </a:pPr>
            <a:r>
              <a:rPr sz="2550" b="1">
                <a:solidFill>
                  <a:srgbClr val="174D3A"/>
                </a:solidFill>
              </a:rPr>
              <a:t>발주처의 핵심 과제를 해결하는 단 하나의 제안 메시지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12508-AE21-4591-AD1C-977C809F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56B"/>
                </a:solidFill>
              </a:defRPr>
            </a:pPr>
            <a:r>
              <a:rPr sz="1500" b="0">
                <a:solidFill>
                  <a:srgbClr val="60756B"/>
                </a:solidFill>
              </a:rPr>
              <a:t>문제 인식과 해결 방향, 기대 성과를 간결하게 설명합니다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E27C7-7E78-4825-AEEA-8ABDFBC8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257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4FBC0-3110-42E5-96B6-6472A0FC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</a:defRPr>
            </a:pPr>
            <a:r>
              <a:rPr sz="1575" b="1">
                <a:solidFill>
                  <a:srgbClr val="17211D"/>
                </a:solidFill>
              </a:rPr>
              <a:t>핵심 목표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859FE-63DD-4828-8062-9A19D65B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측정 가능한 결과를 기입합니다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91DC2-F33E-40BC-9192-642E96C1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3257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03AF9-7983-4217-A38C-EEEE6C27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244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차별화 전략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0C7E9-D81A-4BA6-8C78-93EE13B1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19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E4DA"/>
                </a:solidFill>
              </a:defRPr>
            </a:pPr>
            <a:r>
              <a:rPr sz="1275" b="0">
                <a:solidFill>
                  <a:srgbClr val="CFE4DA"/>
                </a:solidFill>
              </a:rPr>
              <a:t>측정 가능한 결과를 기입합니다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F36EA-2795-4D2E-B50B-4EA0D286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257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94DD0-57D7-42B7-A1C9-942803BD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244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</a:defRPr>
            </a:pPr>
            <a:r>
              <a:rPr sz="1575" b="1">
                <a:solidFill>
                  <a:srgbClr val="17211D"/>
                </a:solidFill>
              </a:rPr>
              <a:t>기대 성과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2234B-EA63-4A1B-B93C-52BE5EB6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9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측정 가능한 결과를 기입합니다</a:t>
            </a:r>
          </a:p>
        </p:txBody>
      </p:sp>
    </p:spTree>
    <p:extLst>
      <p:ext uri="{BB962C8B-B14F-4D97-AF65-F5344CB8AC3E}">
        <p14:creationId xmlns:p14="http://schemas.microsoft.com/office/powerpoint/2010/main" val="29278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BD0C8-2BFE-4E67-956B-6288D745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544FF-3871-42B2-9D3E-DE131CCD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</a:defRPr>
            </a:pPr>
            <a:r>
              <a:rPr sz="2850" b="1">
                <a:solidFill>
                  <a:srgbClr val="17211D"/>
                </a:solidFill>
              </a:rPr>
              <a:t>현재의 과제를 실행 목표로 전환합니다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4E25C-B354-4CA9-B759-22C9ED00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EBE29-623E-4283-A0CE-822010FC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ADABB-1188-4185-BB25-608BD10F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</a:defRPr>
            </a:pPr>
            <a:r>
              <a:rPr sz="1875" b="1">
                <a:solidFill>
                  <a:srgbClr val="17211D"/>
                </a:solidFill>
              </a:rPr>
              <a:t>현재 상황과 핵심 과제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93957-A851-40BC-8C7D-D5354418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56B"/>
                </a:solidFill>
              </a:defRPr>
            </a:pPr>
            <a:r>
              <a:rPr sz="1500" b="0">
                <a:solidFill>
                  <a:srgbClr val="60756B"/>
                </a:solidFill>
              </a:rPr>
              <a:t>공고에서 확인한 현황과 해결해야 할 문제를 근거 중심으로 정리합니다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DE7C9-8877-4DD0-8308-0DB0C1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09750"/>
            <a:ext cx="565785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A1A1F-3A9B-41E7-BFEE-AEB180B5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목표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48D71-ECBB-48B4-B979-F750F606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1D"/>
                </a:solidFill>
              </a:defRPr>
            </a:pPr>
            <a:r>
              <a:rPr sz="1575" b="0">
                <a:solidFill>
                  <a:srgbClr val="17211D"/>
                </a:solidFill>
              </a:rPr>
              <a:t>제안 이후 발주처가 얻게 될 변화와 완료 기준을 명확하게 제시합니다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A37C6-C581-43AD-B222-E1313A32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839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19526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52508-13C1-49EB-AC8C-A4CDC4C1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90728-3E02-416B-A599-17987F4E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</a:defRPr>
            </a:pPr>
            <a:r>
              <a:rPr sz="2850" b="1">
                <a:solidFill>
                  <a:srgbClr val="17211D"/>
                </a:solidFill>
              </a:rPr>
              <a:t>평가기준마다 분명한 대응 근거를 제시합니다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071E6-C711-4077-AA79-AA5ABDBD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06BA9-45B2-4372-A887-B8675F04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9EEF2-9D4E-4EFA-A261-5311E2F9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D3A"/>
                </a:solidFill>
              </a:defRPr>
            </a:pPr>
            <a:r>
              <a:rPr sz="1650" b="1">
                <a:solidFill>
                  <a:srgbClr val="174D3A"/>
                </a:solidFill>
              </a:rPr>
              <a:t>고배점 평가항목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E1A31-6FE5-41F9-AB5A-3CE5F064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8401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FA6CB-328C-45ED-AFE1-1AFF6AFA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</a:defRPr>
            </a:pPr>
            <a:r>
              <a:rPr sz="1500" b="0">
                <a:solidFill>
                  <a:srgbClr val="17211D"/>
                </a:solidFill>
              </a:rPr>
              <a:t>평가항목에 대응하는 전략과 회사의 증빙 내용을 작성합니다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0ACEE-7463-4EDD-8C16-9C1567A6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D3A"/>
                </a:solidFill>
              </a:defRPr>
            </a:pPr>
            <a:r>
              <a:rPr sz="1650" b="1">
                <a:solidFill>
                  <a:srgbClr val="174D3A"/>
                </a:solidFill>
              </a:rPr>
              <a:t>제안 대응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B9169-418A-434C-AF23-4E65B063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8401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71D41-DAAA-4EED-990C-E26E6FA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052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평가항목에 대응하는 전략과 회사의 증빙 내용을 작성합니다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E259E-ED99-4EF6-9AC9-0F1C71FD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4D3A"/>
                </a:solidFill>
              </a:defRPr>
            </a:pPr>
            <a:r>
              <a:rPr sz="1650" b="1">
                <a:solidFill>
                  <a:srgbClr val="174D3A"/>
                </a:solidFill>
              </a:rPr>
              <a:t>검증 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C5553-AC86-4208-8957-B077BB31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8401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DA723-35A8-46EE-85AD-242EBFDE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577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</a:defRPr>
            </a:pPr>
            <a:r>
              <a:rPr sz="1500" b="0">
                <a:solidFill>
                  <a:srgbClr val="17211D"/>
                </a:solidFill>
              </a:rPr>
              <a:t>평가항목에 대응하는 전략과 회사의 증빙 내용을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1969111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46A26-3DA7-481F-A4D5-80984752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CB15C-FB19-4A83-BDCE-3AAD9A0E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</a:defRPr>
            </a:pPr>
            <a:r>
              <a:rPr sz="2850" b="1">
                <a:solidFill>
                  <a:srgbClr val="17211D"/>
                </a:solidFill>
              </a:rPr>
              <a:t>수행 절차는 단계와 산출물로 증명합니다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752C3-E583-4A12-AAF6-2FE24718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A7119-F490-4FD5-8E0E-7651F616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50886-1F82-4620-A7CD-14CC3C42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049A2-AF0B-4852-952F-C95CF6C1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8605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CC43B-F2C5-42C0-8030-6761A026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1D"/>
                </a:solidFill>
              </a:defRPr>
            </a:pPr>
            <a:r>
              <a:rPr sz="1725" b="1">
                <a:solidFill>
                  <a:srgbClr val="17211D"/>
                </a:solidFill>
              </a:rPr>
              <a:t>착수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DCEA1-4480-4E8D-8B59-680D71E0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56B"/>
                </a:solidFill>
              </a:defRPr>
            </a:pPr>
            <a:r>
              <a:rPr sz="1350" b="0">
                <a:solidFill>
                  <a:srgbClr val="60756B"/>
                </a:solidFill>
              </a:rPr>
              <a:t>핵심 활동과 산출물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B28B6-2CAD-41A6-A401-726A81E1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2466E-2230-4AD1-A48E-E06C9FEC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338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1D"/>
                </a:solidFill>
              </a:defRPr>
            </a:pPr>
            <a:r>
              <a:rPr sz="1725" b="1">
                <a:solidFill>
                  <a:srgbClr val="17211D"/>
                </a:solidFill>
              </a:rPr>
              <a:t>분석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9EC26-3FAE-4D67-9A7C-54C9C733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243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56B"/>
                </a:solidFill>
              </a:defRPr>
            </a:pPr>
            <a:r>
              <a:rPr sz="1350" b="0">
                <a:solidFill>
                  <a:srgbClr val="60756B"/>
                </a:solidFill>
              </a:rPr>
              <a:t>핵심 활동과 산출물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CA129-DEC6-40AB-9904-9C89042F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8605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4B775-6448-4D1A-A1A1-137E5FCB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1D"/>
                </a:solidFill>
              </a:defRPr>
            </a:pPr>
            <a:r>
              <a:rPr sz="1725" b="1">
                <a:solidFill>
                  <a:srgbClr val="17211D"/>
                </a:solidFill>
              </a:rPr>
              <a:t>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E5295-D861-46DD-87F9-41DC065C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243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56B"/>
                </a:solidFill>
              </a:defRPr>
            </a:pPr>
            <a:r>
              <a:rPr sz="1350" b="0">
                <a:solidFill>
                  <a:srgbClr val="60756B"/>
                </a:solidFill>
              </a:rPr>
              <a:t>핵심 활동과 산출물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D5996-F7FA-4D47-BC86-6EE323F1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8605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5E4CF-761C-4037-BC51-23CF7853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38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11D"/>
                </a:solidFill>
              </a:defRPr>
            </a:pPr>
            <a:r>
              <a:rPr sz="1725" b="1">
                <a:solidFill>
                  <a:srgbClr val="17211D"/>
                </a:solidFill>
              </a:rPr>
              <a:t>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49DEE-4021-4513-AA7A-FBBE1DFC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56B"/>
                </a:solidFill>
              </a:defRPr>
            </a:pPr>
            <a:r>
              <a:rPr sz="1350" b="0">
                <a:solidFill>
                  <a:srgbClr val="60756B"/>
                </a:solidFill>
              </a:rPr>
              <a:t>핵심 활동과 산출물</a:t>
            </a:r>
          </a:p>
        </p:txBody>
      </p:sp>
    </p:spTree>
    <p:extLst>
      <p:ext uri="{BB962C8B-B14F-4D97-AF65-F5344CB8AC3E}">
        <p14:creationId xmlns:p14="http://schemas.microsoft.com/office/powerpoint/2010/main" val="1208857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FA245-CC6E-4289-9AB1-891DC7CF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C91A9-ED58-46FA-8D7E-9BD3C8E4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</a:defRPr>
            </a:pPr>
            <a:r>
              <a:rPr sz="2850" b="1">
                <a:solidFill>
                  <a:srgbClr val="17211D"/>
                </a:solidFill>
              </a:rPr>
              <a:t>핵심 과업은 책임과 완료기준까지 설계합니다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A3A8C-F595-417F-977B-4C841E38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49698-BF2F-4C69-B1D1-B0E7C530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1126F-F03A-428F-8725-F3818FEE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29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2692A-4B1F-46F8-BA0A-D4D819A6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핵심 수행 방안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46C1C-B114-435D-BE25-8EC5C2BD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FE4DA"/>
                </a:solidFill>
              </a:defRPr>
            </a:pPr>
            <a:r>
              <a:rPr sz="1575" b="0">
                <a:solidFill>
                  <a:srgbClr val="CFE4DA"/>
                </a:solidFill>
              </a:rPr>
              <a:t>수행 단계, 담당 역할, 협의 방식과 주요 산출물을 구체적으로 작성합니다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3E810-C993-46F2-A8D6-80C32A70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1D"/>
                </a:solidFill>
              </a:defRPr>
            </a:pPr>
            <a:r>
              <a:rPr sz="2100" b="1">
                <a:solidFill>
                  <a:srgbClr val="17211D"/>
                </a:solidFill>
              </a:rPr>
              <a:t>완료 및 검증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32D68-0AAE-4A60-B54D-0496D0EC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56B"/>
                </a:solidFill>
              </a:defRPr>
            </a:pPr>
            <a:r>
              <a:rPr sz="1575" b="0">
                <a:solidFill>
                  <a:srgbClr val="60756B"/>
                </a:solidFill>
              </a:rPr>
              <a:t>정량 지표와 승인 절차를 기준으로 과업 완료 여부를 검증합니다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1AD2C-7608-437E-9274-B18F3E48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4095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20133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9175B-607B-4D90-99E4-6E20A21D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20300-5738-4F53-8DBA-E9C3A62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</a:defRPr>
            </a:pPr>
            <a:r>
              <a:rPr sz="2850" b="1">
                <a:solidFill>
                  <a:srgbClr val="17211D"/>
                </a:solidFill>
              </a:rPr>
              <a:t>책임이 분명한 수행 조직으로 의사결정을 단축합니다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819E4-46A6-45FC-BE5A-638B4CC2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0A11A-1D15-4FD7-92AB-E07B10A5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52012-0528-442E-806A-17C37BDC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3619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FAE18-6C3D-4DEC-8F3C-D3ADA7D1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총괄 책임자와 핵심 역할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6A932-B307-4EC1-A7C8-256F957F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65A7C-7989-4C4C-ADF5-B22D2E23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D"/>
                </a:solidFill>
              </a:defRPr>
            </a:pPr>
            <a:r>
              <a:rPr sz="1575" b="1">
                <a:solidFill>
                  <a:srgbClr val="17211D"/>
                </a:solidFill>
              </a:rPr>
              <a:t>사업관리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A525F-C278-43B3-858C-3D08144A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담당 역할과 책임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AD55F-7A85-4688-B11F-3963AEFE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0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E4BAD-97F9-43E8-9710-ECD183D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57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D"/>
                </a:solidFill>
              </a:defRPr>
            </a:pPr>
            <a:r>
              <a:rPr sz="1575" b="1">
                <a:solidFill>
                  <a:srgbClr val="17211D"/>
                </a:solidFill>
              </a:rPr>
              <a:t>전문 수행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C78E2-7D13-45C2-96F5-0ADBE2B4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52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담당 역할과 책임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7360F-8EC3-4921-8715-879CFE0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4BB4B-D54B-4ABE-B496-9E9949AC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D"/>
                </a:solidFill>
              </a:defRPr>
            </a:pPr>
            <a:r>
              <a:rPr sz="1575" b="1">
                <a:solidFill>
                  <a:srgbClr val="17211D"/>
                </a:solidFill>
              </a:rPr>
              <a:t>품질관리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B7091-1615-4E8B-9247-68A134FC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52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담당 역할과 책임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3CCD8-76D9-4DD2-B7A7-53F0F129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1000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C9576-DC76-4F19-9E30-00173E37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11D"/>
                </a:solidFill>
              </a:defRPr>
            </a:pPr>
            <a:r>
              <a:rPr sz="1575" b="1">
                <a:solidFill>
                  <a:srgbClr val="17211D"/>
                </a:solidFill>
              </a:rPr>
              <a:t>운영지원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7B6EC-72F5-4871-951C-356C5B18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52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담당 역할과 책임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FF100-B476-407F-AC42-5405473F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9645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D3369-1A70-4A95-A74F-B71F8526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9D3B0-1CB4-4ECC-897D-28C2BA45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</a:defRPr>
            </a:pPr>
            <a:r>
              <a:rPr sz="2850" b="1">
                <a:solidFill>
                  <a:srgbClr val="17211D"/>
                </a:solidFill>
              </a:rPr>
              <a:t>마일스톤마다 검토와 승인 시점을 명확히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25586-0E75-46C6-9DF8-2D97237A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F8219-103E-48B0-AB5E-1F817A98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5AD1D-3226-4EC5-A32B-7F648549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962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BE29C-DDB2-4867-A117-B6EA894D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BA877-D41B-46CA-B3ED-383AA653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착수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ED55D-F786-40A4-AD70-046180ED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주요 산출물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658A1-314E-4953-94E2-58FC0DB2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765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3DCA5-35B6-4DE6-A08F-8EF66D9E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0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분석 완료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BEE1E-5418-45D3-B623-556766D4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주요 산출물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531A8-BA8E-466B-8B04-5DC7CD68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765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30F82-47CC-41C5-8FF5-D8D9F226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10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중간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01871-A72C-43E7-B80A-77A9D44C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05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주요 산출물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527D4-A319-4E14-9543-1826779B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52A40-57EA-4076-9FD0-1552F4DE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10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최종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79A66-9352-4B71-9F9C-3CBBC815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주요 산출물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92398-FF97-40B5-A742-C82676D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765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63DF5-27CE-494C-807B-67011EB1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10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완료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53EAE-FA7A-41A5-8BFA-95E617FF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05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주요 산출물</a:t>
            </a:r>
          </a:p>
        </p:txBody>
      </p:sp>
    </p:spTree>
    <p:extLst>
      <p:ext uri="{BB962C8B-B14F-4D97-AF65-F5344CB8AC3E}">
        <p14:creationId xmlns:p14="http://schemas.microsoft.com/office/powerpoint/2010/main" val="1509384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30C16-97A7-4856-A2B0-51BE2DC3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AD8B0-6D1C-430A-99D3-F0A1EA2B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</a:defRPr>
            </a:pPr>
            <a:r>
              <a:rPr sz="2850" b="1">
                <a:solidFill>
                  <a:srgbClr val="17211D"/>
                </a:solidFill>
              </a:rPr>
              <a:t>검증된 수행 경험을 이번 사업의 성과로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591F3-8FEE-4428-9A6F-94B90DD0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9D56C-B3EA-4196-948C-8931429C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67477-261D-403D-88C4-56897841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D3A"/>
                </a:solidFill>
              </a:defRPr>
            </a:pPr>
            <a:r>
              <a:rPr sz="2400" b="1">
                <a:solidFill>
                  <a:srgbClr val="174D3A"/>
                </a:solidFill>
              </a:rPr>
              <a:t>회사의 핵심 역량과 유사 수행실적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08738-27B7-47AC-AB9A-B535C58B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56B"/>
                </a:solidFill>
              </a:defRPr>
            </a:pPr>
            <a:r>
              <a:rPr sz="1500" b="0">
                <a:solidFill>
                  <a:srgbClr val="60756B"/>
                </a:solidFill>
              </a:rPr>
              <a:t>공고 요구사항과 직접 연결되는 실적만 선별해 제시합니다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87F1B-7505-4C08-B1D8-6E7C2540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5295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FECF3-A914-4A09-9D72-DBD9A841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19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전문 역량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7D3B3-A2A1-4B0D-9B0F-F3C6677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E4DA"/>
                </a:solidFill>
              </a:defRPr>
            </a:pPr>
            <a:r>
              <a:rPr sz="1275" b="0">
                <a:solidFill>
                  <a:srgbClr val="CFE4DA"/>
                </a:solidFill>
              </a:rPr>
              <a:t>검증 가능한 근거를 작성합니다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255D5-0D14-4A92-96B3-C9F78B29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5295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E4DE5-FDDD-48A6-9A05-3367B844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</a:defRPr>
            </a:pPr>
            <a:r>
              <a:rPr sz="1575" b="1">
                <a:solidFill>
                  <a:srgbClr val="17211D"/>
                </a:solidFill>
              </a:rPr>
              <a:t>유사 실적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A87F0-A6F1-4913-AAD4-82B2AC69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0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검증 가능한 근거를 작성합니다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299F8-F2A6-4C0D-B672-6B821EF5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5295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8E25B-8FB6-4B67-AF9A-18806924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</a:defRPr>
            </a:pPr>
            <a:r>
              <a:rPr sz="1575" b="1">
                <a:solidFill>
                  <a:srgbClr val="17211D"/>
                </a:solidFill>
              </a:rPr>
              <a:t>품질 기반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C2B23-53EF-464A-886C-C3755E40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529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56B"/>
                </a:solidFill>
              </a:defRPr>
            </a:pPr>
            <a:r>
              <a:rPr sz="1275" b="0">
                <a:solidFill>
                  <a:srgbClr val="60756B"/>
                </a:solidFill>
              </a:rPr>
              <a:t>검증 가능한 근거를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15836306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8991A-3549-43FD-BF90-8C5E7194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003F6-212A-4BEB-A475-53EA1948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</a:defRPr>
            </a:pPr>
            <a:r>
              <a:rPr sz="2850" b="1">
                <a:solidFill>
                  <a:srgbClr val="17211D"/>
                </a:solidFill>
              </a:rPr>
              <a:t>품질과 위험을 사전에 통제하는 운영 체계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39DE8-7CC6-4034-99A1-999AEC13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CC831-A3FB-4442-9074-471AEFC7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1E0F6-D186-40BB-9629-99C70910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4D3A"/>
                </a:solidFill>
              </a:defRPr>
            </a:pPr>
            <a:r>
              <a:rPr sz="1950" b="1">
                <a:solidFill>
                  <a:srgbClr val="174D3A"/>
                </a:solidFill>
              </a:rPr>
              <a:t>품질관리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27ADD-448C-4811-9546-DA698E25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56B"/>
                </a:solidFill>
              </a:defRPr>
            </a:pPr>
            <a:r>
              <a:rPr sz="1500" b="0">
                <a:solidFill>
                  <a:srgbClr val="60756B"/>
                </a:solidFill>
              </a:rPr>
              <a:t>예방·점검·개선의 품질관리 절차와 승인 기준을 작성합니다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B471F-BE4D-430C-8279-9FB2EBE7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1650"/>
            <a:ext cx="190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C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617F3-848A-44A5-955C-276B2DD0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4D3A"/>
                </a:solidFill>
              </a:defRPr>
            </a:pPr>
            <a:r>
              <a:rPr sz="1950" b="1">
                <a:solidFill>
                  <a:srgbClr val="174D3A"/>
                </a:solidFill>
              </a:rPr>
              <a:t>위험관리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0DC1C-D6D7-472B-8CCF-CD3E8892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56B"/>
                </a:solidFill>
              </a:defRPr>
            </a:pPr>
            <a:r>
              <a:rPr sz="1500" b="0">
                <a:solidFill>
                  <a:srgbClr val="60756B"/>
                </a:solidFill>
              </a:rPr>
              <a:t>주요 위험, 예방조치, 발생 시 대응과 책임자를 명확히 작성합니다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2454D-4125-42A0-81FC-C9F1C151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10172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5F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E8E1F-CE6E-4F06-890A-23514E2B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960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1D"/>
                </a:solidFill>
              </a:defRPr>
            </a:pPr>
            <a:r>
              <a:rPr sz="1350" b="1">
                <a:solidFill>
                  <a:srgbClr val="17211D"/>
                </a:solidFill>
              </a:rPr>
              <a:t>보고 · 협의 · 승인 · 변경관리</a:t>
            </a:r>
          </a:p>
        </p:txBody>
      </p:sp>
    </p:spTree>
    <p:extLst>
      <p:ext uri="{BB962C8B-B14F-4D97-AF65-F5344CB8AC3E}">
        <p14:creationId xmlns:p14="http://schemas.microsoft.com/office/powerpoint/2010/main" val="9855650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4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897A2-806F-4138-846D-ADFE7AF7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EAE76-61E6-40C6-9EBA-47FBF2B0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실행으로 증명하는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46E40-E647-486D-BB76-730F88AF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FE4DA"/>
                </a:solidFill>
              </a:defRPr>
            </a:pPr>
            <a:r>
              <a:rPr sz="1875" b="0">
                <a:solidFill>
                  <a:srgbClr val="CFE4DA"/>
                </a:solidFill>
              </a:rPr>
              <a:t>발주처의 성공 기준을 끝까지 책임지겠습니다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6B05F-A655-493D-A624-00C4318A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028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A68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7DEC8-7C3C-494A-88E4-CD7816EA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정확한 이해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B77B0-D8B4-4691-BCD7-1928677C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05300"/>
            <a:ext cx="3028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A68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76553-68EA-4068-86BE-6EB67D01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10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책임 있는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A48FF-B76C-4DBF-B15D-733B3A6D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3028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A68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4C9C3-1598-4313-AD92-6D4B9742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10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검증 가능한 성과</a:t>
            </a:r>
          </a:p>
        </p:txBody>
      </p:sp>
    </p:spTree>
    <p:extLst>
      <p:ext uri="{BB962C8B-B14F-4D97-AF65-F5344CB8AC3E}">
        <p14:creationId xmlns:p14="http://schemas.microsoft.com/office/powerpoint/2010/main" val="56920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2026-08-22T05:47:21.6610000Z</dcterms:created>
  <dcterms:modified xsi:type="dcterms:W3CDTF">2026-08-22T05:47:21.6620000Z</dcterms:modified>
</coreProperties>
</file>