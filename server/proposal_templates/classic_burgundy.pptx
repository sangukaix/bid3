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2db42476d4966" /><Relationship Type="http://schemas.openxmlformats.org/officeDocument/2006/relationships/extended-properties" Target="/docProps/app.xml" Id="R9b1dfeef1eb9465e" /><Relationship Type="http://schemas.openxmlformats.org/officeDocument/2006/relationships/officeDocument" Target="/ppt/presentation.xml" Id="R634d8b6dd79c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8e288518da4a2a"/>
  </p:sldMasterIdLst>
  <p:notesMasterIdLst>
    <p:notesMasterId xmlns:r="http://schemas.openxmlformats.org/officeDocument/2006/relationships" r:id="R39790748b49a441f"/>
  </p:notesMasterIdLst>
  <p:sldIdLst>
    <p:sldId xmlns:r="http://schemas.openxmlformats.org/officeDocument/2006/relationships" id="256" r:id="R9b93dd0fa180460a"/>
    <p:sldId xmlns:r="http://schemas.openxmlformats.org/officeDocument/2006/relationships" id="257" r:id="R8c2f7a6792fe495a"/>
    <p:sldId xmlns:r="http://schemas.openxmlformats.org/officeDocument/2006/relationships" id="258" r:id="R8c159483e711435a"/>
    <p:sldId xmlns:r="http://schemas.openxmlformats.org/officeDocument/2006/relationships" id="259" r:id="Re3947c9938f04dc5"/>
    <p:sldId xmlns:r="http://schemas.openxmlformats.org/officeDocument/2006/relationships" id="260" r:id="Rc5046249b570411e"/>
    <p:sldId xmlns:r="http://schemas.openxmlformats.org/officeDocument/2006/relationships" id="261" r:id="Rcd2c433934aa476a"/>
    <p:sldId xmlns:r="http://schemas.openxmlformats.org/officeDocument/2006/relationships" id="262" r:id="Rd44643b1ec4041fa"/>
    <p:sldId xmlns:r="http://schemas.openxmlformats.org/officeDocument/2006/relationships" id="263" r:id="Re60d89a2f72542e6"/>
    <p:sldId xmlns:r="http://schemas.openxmlformats.org/officeDocument/2006/relationships" id="264" r:id="R57aad5c98ce04635"/>
    <p:sldId xmlns:r="http://schemas.openxmlformats.org/officeDocument/2006/relationships" id="265" r:id="Rf94ea7ec912e4493"/>
    <p:sldId xmlns:r="http://schemas.openxmlformats.org/officeDocument/2006/relationships" id="266" r:id="Rb5ee62017c8649ae"/>
    <p:sldId xmlns:r="http://schemas.openxmlformats.org/officeDocument/2006/relationships" id="267" r:id="Re9fc2aa0a9d34350"/>
    <p:sldId xmlns:r="http://schemas.openxmlformats.org/officeDocument/2006/relationships" id="268" r:id="R8313941c869e42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3cc7ec3aab44fb" /><Relationship Type="http://schemas.openxmlformats.org/officeDocument/2006/relationships/slideMaster" Target="/ppt/slideMasters/slideMaster1.xml" Id="Rd58e288518da4a2a" /><Relationship Type="http://schemas.openxmlformats.org/officeDocument/2006/relationships/notesMaster" Target="/ppt/notesMasters/notesMaster1.xml" Id="R39790748b49a441f" /><Relationship Type="http://schemas.openxmlformats.org/officeDocument/2006/relationships/presProps" Target="/ppt/presProps.xml" Id="R61b102f5f7d04318" /><Relationship Type="http://schemas.openxmlformats.org/officeDocument/2006/relationships/tableStyles" Target="/ppt/tableStyles.xml" Id="R31b0ae7053ad4a00" /><Relationship Type="http://schemas.openxmlformats.org/officeDocument/2006/relationships/slide" Target="/ppt/slides/slide1.xml" Id="R9b93dd0fa180460a" /><Relationship Type="http://schemas.openxmlformats.org/officeDocument/2006/relationships/slide" Target="/ppt/slides/slide2.xml" Id="R8c2f7a6792fe495a" /><Relationship Type="http://schemas.openxmlformats.org/officeDocument/2006/relationships/slide" Target="/ppt/slides/slide3.xml" Id="R8c159483e711435a" /><Relationship Type="http://schemas.openxmlformats.org/officeDocument/2006/relationships/slide" Target="/ppt/slides/slide4.xml" Id="Re3947c9938f04dc5" /><Relationship Type="http://schemas.openxmlformats.org/officeDocument/2006/relationships/slide" Target="/ppt/slides/slide5.xml" Id="Rc5046249b570411e" /><Relationship Type="http://schemas.openxmlformats.org/officeDocument/2006/relationships/slide" Target="/ppt/slides/slide6.xml" Id="Rcd2c433934aa476a" /><Relationship Type="http://schemas.openxmlformats.org/officeDocument/2006/relationships/slide" Target="/ppt/slides/slide7.xml" Id="Rd44643b1ec4041fa" /><Relationship Type="http://schemas.openxmlformats.org/officeDocument/2006/relationships/slide" Target="/ppt/slides/slide8.xml" Id="Re60d89a2f72542e6" /><Relationship Type="http://schemas.openxmlformats.org/officeDocument/2006/relationships/slide" Target="/ppt/slides/slide9.xml" Id="R57aad5c98ce04635" /><Relationship Type="http://schemas.openxmlformats.org/officeDocument/2006/relationships/slide" Target="/ppt/slides/slide10.xml" Id="Rf94ea7ec912e4493" /><Relationship Type="http://schemas.openxmlformats.org/officeDocument/2006/relationships/slide" Target="/ppt/slides/slide11.xml" Id="Rb5ee62017c8649ae" /><Relationship Type="http://schemas.openxmlformats.org/officeDocument/2006/relationships/slide" Target="/ppt/slides/slide12.xml" Id="Re9fc2aa0a9d34350" /><Relationship Type="http://schemas.openxmlformats.org/officeDocument/2006/relationships/slide" Target="/ppt/slides/slide13.xml" Id="R8313941c869e42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1e40c6130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fac2587964655" /><Relationship Type="http://schemas.openxmlformats.org/officeDocument/2006/relationships/notesMaster" Target="/ppt/notesMasters/notesMaster1.xml" Id="Ra493c2b629884f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a065747a194486" /><Relationship Type="http://schemas.openxmlformats.org/officeDocument/2006/relationships/notesMaster" Target="/ppt/notesMasters/notesMaster1.xml" Id="Rbe56c1f1f142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a95d98bcde459e" /><Relationship Type="http://schemas.openxmlformats.org/officeDocument/2006/relationships/notesMaster" Target="/ppt/notesMasters/notesMaster1.xml" Id="R0e78922cf2a1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211873a04a45c6" /><Relationship Type="http://schemas.openxmlformats.org/officeDocument/2006/relationships/notesMaster" Target="/ppt/notesMasters/notesMaster1.xml" Id="R707648ed4798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0b04457554927" /><Relationship Type="http://schemas.openxmlformats.org/officeDocument/2006/relationships/notesMaster" Target="/ppt/notesMasters/notesMaster1.xml" Id="R869d16dc2efe4f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a19b889dc74f89" /><Relationship Type="http://schemas.openxmlformats.org/officeDocument/2006/relationships/notesMaster" Target="/ppt/notesMasters/notesMaster1.xml" Id="R024ae76adaf140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7dcc5a3091491f" /><Relationship Type="http://schemas.openxmlformats.org/officeDocument/2006/relationships/notesMaster" Target="/ppt/notesMasters/notesMaster1.xml" Id="R866b497b2f5c4f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3db74f1b24dde" /><Relationship Type="http://schemas.openxmlformats.org/officeDocument/2006/relationships/notesMaster" Target="/ppt/notesMasters/notesMaster1.xml" Id="R290fb5a9f2a348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b535b953f9427b" /><Relationship Type="http://schemas.openxmlformats.org/officeDocument/2006/relationships/notesMaster" Target="/ppt/notesMasters/notesMaster1.xml" Id="Re5d76c3a96804e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c78a3ccad04853" /><Relationship Type="http://schemas.openxmlformats.org/officeDocument/2006/relationships/notesMaster" Target="/ppt/notesMasters/notesMaster1.xml" Id="R24070f87965741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d7a717425d4887" /><Relationship Type="http://schemas.openxmlformats.org/officeDocument/2006/relationships/notesMaster" Target="/ppt/notesMasters/notesMaster1.xml" Id="Rc28a7d5c6423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d1189bf98141b2" /><Relationship Type="http://schemas.openxmlformats.org/officeDocument/2006/relationships/notesMaster" Target="/ppt/notesMasters/notesMaster1.xml" Id="Rd89a8b7e2b0b46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615cd29e09499d" /><Relationship Type="http://schemas.openxmlformats.org/officeDocument/2006/relationships/notesMaster" Target="/ppt/notesMasters/notesMaster1.xml" Id="R140d47d5ff3d43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4e1c2e45b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f1c81252c4470" /><Relationship Type="http://schemas.openxmlformats.org/officeDocument/2006/relationships/slideLayout" Target="/ppt/slideLayouts/slideLayout1.xml" Id="Rd794b53f43f8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94b53f43f8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df7651c8e4b5a" /><Relationship Type="http://schemas.openxmlformats.org/officeDocument/2006/relationships/notesSlide" Target="/ppt/notesSlides/notesSlide1.xml" Id="Re0dcf15d7ca64b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e2f40ffd64918" /><Relationship Type="http://schemas.openxmlformats.org/officeDocument/2006/relationships/notesSlide" Target="/ppt/notesSlides/notesSlide2.xml" Id="Rc2286cce95b14e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2925ccb7b4093" /><Relationship Type="http://schemas.openxmlformats.org/officeDocument/2006/relationships/notesSlide" Target="/ppt/notesSlides/notesSlide3.xml" Id="Rad1499df0ff342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a02960c4046ae" /><Relationship Type="http://schemas.openxmlformats.org/officeDocument/2006/relationships/notesSlide" Target="/ppt/notesSlides/notesSlide4.xml" Id="Rf04c3c9ae82146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5d27a1e3244e3" /><Relationship Type="http://schemas.openxmlformats.org/officeDocument/2006/relationships/notesSlide" Target="/ppt/notesSlides/notesSlide5.xml" Id="Re16fdbaaedd0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f95f34d1c4008" /><Relationship Type="http://schemas.openxmlformats.org/officeDocument/2006/relationships/notesSlide" Target="/ppt/notesSlides/notesSlide6.xml" Id="R59f445241069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09281bfef42a5" /><Relationship Type="http://schemas.openxmlformats.org/officeDocument/2006/relationships/notesSlide" Target="/ppt/notesSlides/notesSlide7.xml" Id="Rb22c46fe2b364a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e67d3a0744036" /><Relationship Type="http://schemas.openxmlformats.org/officeDocument/2006/relationships/notesSlide" Target="/ppt/notesSlides/notesSlide8.xml" Id="Ree4f1bfc75fb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979a0a02e405b" /><Relationship Type="http://schemas.openxmlformats.org/officeDocument/2006/relationships/notesSlide" Target="/ppt/notesSlides/notesSlide9.xml" Id="Rc2b58d31963040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1370738e94792" /><Relationship Type="http://schemas.openxmlformats.org/officeDocument/2006/relationships/notesSlide" Target="/ppt/notesSlides/notesSlide10.xml" Id="Re1a3745c1c8447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e58388f4a4484" /><Relationship Type="http://schemas.openxmlformats.org/officeDocument/2006/relationships/notesSlide" Target="/ppt/notesSlides/notesSlide11.xml" Id="Rff98f1436a4f44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c9df9c6644069" /><Relationship Type="http://schemas.openxmlformats.org/officeDocument/2006/relationships/notesSlide" Target="/ppt/notesSlides/notesSlide12.xml" Id="R6688ee12acd340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4c75a99334e44" /><Relationship Type="http://schemas.openxmlformats.org/officeDocument/2006/relationships/notesSlide" Target="/ppt/notesSlides/notesSlide13.xml" Id="Rc4c762fcd57b4b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7287E-24C4-4E85-B195-6DD2EE3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2FDEB-78E3-4377-8225-967782FE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EEA0C-ED8A-4C7D-A980-A6066197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입찰 제안서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3C6FC-F82B-4CDA-96CC-F835F580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71C22"/>
                </a:solidFill>
              </a:defRPr>
            </a:pPr>
            <a:r>
              <a:rPr sz="4350" b="1">
                <a:solidFill>
                  <a:srgbClr val="271C22"/>
                </a:solidFill>
              </a:rPr>
              <a:t>사업명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5710-4449-4A93-B42D-EB81C81E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5656E"/>
                </a:solidFill>
              </a:defRPr>
            </a:pPr>
            <a:r>
              <a:rPr sz="1875" b="0">
                <a:solidFill>
                  <a:srgbClr val="75656E"/>
                </a:solidFill>
              </a:rPr>
              <a:t>발주처의 목표를 실행 가능한 성과로 연결하는 제안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629D5-ADD0-4A81-84DB-A37F4BE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257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283F4-9190-4AB2-BFB6-9EA2F0B2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C2446"/>
                </a:solidFill>
              </a:defRPr>
            </a:pPr>
            <a:r>
              <a:rPr sz="1500" b="1">
                <a:solidFill>
                  <a:srgbClr val="6C2446"/>
                </a:solidFill>
              </a:rPr>
              <a:t>제안사명</a:t>
            </a:r>
          </a:p>
        </p:txBody>
      </p:sp>
    </p:spTree>
    <p:extLst>
      <p:ext uri="{BB962C8B-B14F-4D97-AF65-F5344CB8AC3E}">
        <p14:creationId xmlns:p14="http://schemas.microsoft.com/office/powerpoint/2010/main" val="1294462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D8CBC-F8B5-40F4-95BC-6084522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2F43-F782-47E5-B887-DA77B7EF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제안의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4AE25-E588-4A8F-92FA-EEE61E24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1DC5C-BC6F-4272-80B8-19CA43E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F1CDA-4470-4DEE-AE48-C5091D7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32EB1-90CE-465B-B1CB-74B8301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14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1C22"/>
                </a:solidFill>
              </a:defRPr>
            </a:pPr>
            <a:r>
              <a:rPr sz="1800" b="1">
                <a:solidFill>
                  <a:srgbClr val="271C22"/>
                </a:solidFill>
              </a:rPr>
              <a:t>사업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0D47-9127-4E45-98F5-CCEC66C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내용을 한 문장으로 정리합니다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515FF-B8BB-4F80-B195-A2159B41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7D16C-F775-4905-B9B8-FB39C889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1C22"/>
                </a:solidFill>
              </a:defRPr>
            </a:pPr>
            <a:r>
              <a:rPr sz="1800" b="1">
                <a:solidFill>
                  <a:srgbClr val="271C22"/>
                </a:solidFill>
              </a:rPr>
              <a:t>제안 전략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4033F-B938-48F4-9422-43F8351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내용을 한 문장으로 정리합니다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41B20-0800-4753-B063-61CA0C01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11AD8-98B9-4B8B-AF2C-68DF0076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1C22"/>
                </a:solidFill>
              </a:defRPr>
            </a:pPr>
            <a:r>
              <a:rPr sz="1800" b="1">
                <a:solidFill>
                  <a:srgbClr val="271C22"/>
                </a:solidFill>
              </a:rPr>
              <a:t>수행 방안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551C2-20BE-415B-99C4-AAE5A9F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내용을 한 문장으로 정리합니다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4D51F-64F9-47EF-B032-D9BB2727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1ACCA-22C0-4A42-9277-7B035F1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29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1C22"/>
                </a:solidFill>
              </a:defRPr>
            </a:pPr>
            <a:r>
              <a:rPr sz="1800" b="1">
                <a:solidFill>
                  <a:srgbClr val="271C22"/>
                </a:solidFill>
              </a:rPr>
              <a:t>관리 체계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7102D-7960-40EB-A6C9-66408FF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내용을 한 문장으로 정리합니다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C3083-B9B6-4B4E-B257-1C6B72E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4BC1E-7006-4E35-BD0C-3DA286B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1C22"/>
                </a:solidFill>
              </a:defRPr>
            </a:pPr>
            <a:r>
              <a:rPr sz="1800" b="1">
                <a:solidFill>
                  <a:srgbClr val="271C22"/>
                </a:solidFill>
              </a:rPr>
              <a:t>회사 역량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0C148-518A-4F12-A70D-382C2A5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959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내용을 한 문장으로 정리합니다</a:t>
            </a:r>
          </a:p>
        </p:txBody>
      </p:sp>
    </p:spTree>
    <p:extLst>
      <p:ext uri="{BB962C8B-B14F-4D97-AF65-F5344CB8AC3E}">
        <p14:creationId xmlns:p14="http://schemas.microsoft.com/office/powerpoint/2010/main" val="191901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6C24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694BC-62D9-4615-974F-12EA5F96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7CF41-720F-4E6E-86EA-87A08449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사업 이해와 제안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E6224-07FF-47BA-BEA8-0F30BDE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CD4DE"/>
                </a:solidFill>
              </a:defRPr>
            </a:pPr>
            <a:r>
              <a:rPr sz="1800" b="0">
                <a:solidFill>
                  <a:srgbClr val="ECD4DE"/>
                </a:solidFill>
              </a:rPr>
              <a:t>발주처의 요구를 정확히 이해하고 실행 방향을 제시합니다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4263A-CA9D-448A-A673-C18366F8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85395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8754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B38F8-A4CB-4550-B66F-691AE58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D72A1-80CD-4874-B185-5E83594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제안 핵심을 한눈에 보여드립니다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84489-147D-49D8-B496-D51BF226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1792C-7D27-4E6D-B282-E8530B91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5421-69A4-4940-8E9A-20F4174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47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C2446"/>
                </a:solidFill>
              </a:defRPr>
            </a:pPr>
            <a:r>
              <a:rPr sz="2550" b="1">
                <a:solidFill>
                  <a:srgbClr val="6C2446"/>
                </a:solidFill>
              </a:rPr>
              <a:t>발주처의 핵심 과제를 해결하는 단 하나의 제안 메시지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37DDB-CBAD-4E50-9B22-E8018C35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5656E"/>
                </a:solidFill>
              </a:defRPr>
            </a:pPr>
            <a:r>
              <a:rPr sz="1500" b="0">
                <a:solidFill>
                  <a:srgbClr val="75656E"/>
                </a:solidFill>
              </a:rPr>
              <a:t>문제 인식과 해결 방향, 기대 성과를 간결하게 설명합니다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EA99D-4A1C-424F-93AB-764046FE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9C79-2D8F-4EA4-83D0-FE8E7CD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핵심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23892-FAA6-4649-9A42-76CB4499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측정 가능한 결과를 기입합니다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D4D87-FE16-4C76-BC0B-E77F09A9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E386C-E6F8-4578-A102-363A709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차별화 전략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39AA0-8805-4E63-AF7A-9384CECF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D4DE"/>
                </a:solidFill>
              </a:defRPr>
            </a:pPr>
            <a:r>
              <a:rPr sz="1275" b="0">
                <a:solidFill>
                  <a:srgbClr val="ECD4DE"/>
                </a:solidFill>
              </a:rPr>
              <a:t>측정 가능한 결과를 기입합니다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70E42-2142-4C50-A8CA-FFC3332E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257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0580D-D785-4268-93F6-0552977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기대 성과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B789D-8E14-4B29-BA80-1EDDFB3C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측정 가능한 결과를 기입합니다</a:t>
            </a:r>
          </a:p>
        </p:txBody>
      </p:sp>
    </p:spTree>
    <p:extLst>
      <p:ext uri="{BB962C8B-B14F-4D97-AF65-F5344CB8AC3E}">
        <p14:creationId xmlns:p14="http://schemas.microsoft.com/office/powerpoint/2010/main" val="2037201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F51B-0654-42E0-872B-FD0E0D75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B0B64-F2EE-4237-AD48-5CDFCE1A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현재의 과제를 실행 목표로 전환합니다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47A3E-B598-42E5-AA37-1E70544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AF544-A80A-4167-94AE-5C47F8D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BE501-7F70-4E94-AA6F-1800E533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1C22"/>
                </a:solidFill>
              </a:defRPr>
            </a:pPr>
            <a:r>
              <a:rPr sz="1875" b="1">
                <a:solidFill>
                  <a:srgbClr val="271C22"/>
                </a:solidFill>
              </a:rPr>
              <a:t>현재 상황과 핵심 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FDFE3-8F53-4430-96B2-B1DE44A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5656E"/>
                </a:solidFill>
              </a:defRPr>
            </a:pPr>
            <a:r>
              <a:rPr sz="1500" b="0">
                <a:solidFill>
                  <a:srgbClr val="75656E"/>
                </a:solidFill>
              </a:rPr>
              <a:t>공고에서 확인한 현황과 해결해야 할 문제를 근거 중심으로 정리합니다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C667F-3C37-49D6-967B-E7BAE07C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565785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BBCAF-F91A-41FE-A603-2248B23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C2446"/>
                </a:solidFill>
              </a:defRPr>
            </a:pPr>
            <a:r>
              <a:rPr sz="1875" b="1">
                <a:solidFill>
                  <a:srgbClr val="6C2446"/>
                </a:solidFill>
              </a:rPr>
              <a:t>목표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28C76-F40C-45DC-87B8-D1DA0B6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1C22"/>
                </a:solidFill>
              </a:defRPr>
            </a:pPr>
            <a:r>
              <a:rPr sz="1575" b="0">
                <a:solidFill>
                  <a:srgbClr val="271C22"/>
                </a:solidFill>
              </a:rPr>
              <a:t>제안 이후 발주처가 얻게 될 변화와 완료 기준을 명확하게 제시합니다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FCD51-5895-4A8A-8375-1BBA484E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839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0247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F9032-CF2D-4BB8-B5C9-F053DB5D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E24E9-8849-447C-9B67-595F8CC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평가기준마다 분명한 대응 근거를 제시합니다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3CEF6-66E4-4AF3-B2E8-E4724528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9C0C5-B1D5-4F73-82D6-EF35600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F89AD-E216-4C17-8F87-09B5105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C2446"/>
                </a:solidFill>
              </a:defRPr>
            </a:pPr>
            <a:r>
              <a:rPr sz="1650" b="1">
                <a:solidFill>
                  <a:srgbClr val="6C2446"/>
                </a:solidFill>
              </a:rPr>
              <a:t>고배점 평가항목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DCC2E-15B3-4003-B714-EFDFD238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C7000-70A0-4EC0-88AB-FE820360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1C22"/>
                </a:solidFill>
              </a:defRPr>
            </a:pPr>
            <a:r>
              <a:rPr sz="1500" b="0">
                <a:solidFill>
                  <a:srgbClr val="271C22"/>
                </a:solidFill>
              </a:rPr>
              <a:t>평가항목에 대응하는 전략과 회사의 증빙 내용을 작성합니다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B45A-0385-4F20-8190-BE5025B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C2446"/>
                </a:solidFill>
              </a:defRPr>
            </a:pPr>
            <a:r>
              <a:rPr sz="1650" b="1">
                <a:solidFill>
                  <a:srgbClr val="6C2446"/>
                </a:solidFill>
              </a:rPr>
              <a:t>제안 대응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BDA43-9D94-4745-9611-44F7EBCA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AE6E2-2C6C-421A-9D48-03446DC8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평가항목에 대응하는 전략과 회사의 증빙 내용을 작성합니다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FF95F-EFFB-414B-A106-97ACEEC1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C2446"/>
                </a:solidFill>
              </a:defRPr>
            </a:pPr>
            <a:r>
              <a:rPr sz="1650" b="1">
                <a:solidFill>
                  <a:srgbClr val="6C2446"/>
                </a:solidFill>
              </a:rPr>
              <a:t>검증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FBD0C-AD0D-45C5-8061-1D534BC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84010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B711B-01C0-410D-A954-A2F99FF5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577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1C22"/>
                </a:solidFill>
              </a:defRPr>
            </a:pPr>
            <a:r>
              <a:rPr sz="1500" b="0">
                <a:solidFill>
                  <a:srgbClr val="271C22"/>
                </a:solidFill>
              </a:rPr>
              <a:t>평가항목에 대응하는 전략과 회사의 증빙 내용을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1703127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55509-24D8-4369-B4BF-3E583ADC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F75D9-063A-4BDA-9C00-66995BC2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수행 절차는 단계와 산출물로 증명합니다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6DD61-21C6-4ADF-92BC-9E3D8950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5F64-16D0-44BD-869B-F7FF8DB3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8D7BA-D364-4DDC-8F9F-824E0209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BAB1-657C-4F69-A372-7B3E33A3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AA8A8-41C2-41E3-87C5-38F5459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1C22"/>
                </a:solidFill>
              </a:defRPr>
            </a:pPr>
            <a:r>
              <a:rPr sz="1725" b="1">
                <a:solidFill>
                  <a:srgbClr val="271C22"/>
                </a:solidFill>
              </a:rPr>
              <a:t>착수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F1355-14B3-4442-88D5-97F4050C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활동과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0E757-A65B-4FB0-8AC0-C8710B7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89C5-2887-4F05-9141-9AFF1BD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1C22"/>
                </a:solidFill>
              </a:defRPr>
            </a:pPr>
            <a:r>
              <a:rPr sz="1725" b="1">
                <a:solidFill>
                  <a:srgbClr val="271C22"/>
                </a:solidFill>
              </a:rPr>
              <a:t>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EFA08-6B64-4F64-BD5E-94DC649E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활동과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8964E-3679-49FD-97B7-C772C68E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B6E9D-C308-4C69-964E-5AE9289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1C22"/>
                </a:solidFill>
              </a:defRPr>
            </a:pPr>
            <a:r>
              <a:rPr sz="1725" b="1">
                <a:solidFill>
                  <a:srgbClr val="271C22"/>
                </a:solidFill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89FAD-75BC-4DE0-8E9B-3E7158BB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활동과 산출물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F22B3-DCC0-4431-85B5-D999D11D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1D2C3-4435-4618-BB15-10D3BD54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1C22"/>
                </a:solidFill>
              </a:defRPr>
            </a:pPr>
            <a:r>
              <a:rPr sz="1725" b="1">
                <a:solidFill>
                  <a:srgbClr val="271C22"/>
                </a:solidFill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F9CFC-2182-4C39-A084-CD5FB3D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5656E"/>
                </a:solidFill>
              </a:defRPr>
            </a:pPr>
            <a:r>
              <a:rPr sz="1350" b="0">
                <a:solidFill>
                  <a:srgbClr val="75656E"/>
                </a:solidFill>
              </a:rPr>
              <a:t>핵심 활동과 산출물</a:t>
            </a:r>
          </a:p>
        </p:txBody>
      </p:sp>
    </p:spTree>
    <p:extLst>
      <p:ext uri="{BB962C8B-B14F-4D97-AF65-F5344CB8AC3E}">
        <p14:creationId xmlns:p14="http://schemas.microsoft.com/office/powerpoint/2010/main" val="385268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8E1B8-7AFB-4A3D-87C9-CA16868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90E08-C047-48EC-A4BE-0B07B1C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핵심 과업은 책임과 완료기준까지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BFD2B-1B52-491C-BAE7-0051C5D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7DDE3-480E-47D1-9E8F-4F17BEA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86622-37E0-44D8-9683-4A925D9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29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4FEC9-5BF8-4013-A90C-F7E0F849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핵심 수행 방안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CBAE-A247-4EB5-ABA3-2CEA3E6A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D4DE"/>
                </a:solidFill>
              </a:defRPr>
            </a:pPr>
            <a:r>
              <a:rPr sz="1575" b="0">
                <a:solidFill>
                  <a:srgbClr val="ECD4DE"/>
                </a:solidFill>
              </a:rPr>
              <a:t>수행 단계, 담당 역할, 협의 방식과 주요 산출물을 구체적으로 작성합니다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3A8B5-7BCA-4198-BAFB-D6753B3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1C22"/>
                </a:solidFill>
              </a:defRPr>
            </a:pPr>
            <a:r>
              <a:rPr sz="2100" b="1">
                <a:solidFill>
                  <a:srgbClr val="271C22"/>
                </a:solidFill>
              </a:rPr>
              <a:t>완료 및 검증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71B09-0EC7-437E-BFB4-9D37573E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5656E"/>
                </a:solidFill>
              </a:defRPr>
            </a:pPr>
            <a:r>
              <a:rPr sz="1575" b="0">
                <a:solidFill>
                  <a:srgbClr val="75656E"/>
                </a:solidFill>
              </a:rPr>
              <a:t>정량 지표와 승인 절차를 기준으로 과업 완료 여부를 검증합니다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085C4-6F57-4D80-929E-20AB6146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4095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5919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58383-F47B-42DB-8FBD-CA2F572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8FA24-E3C9-40BB-8FD8-8A02D34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책임이 분명한 수행 조직으로 의사결정을 단축합니다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F065C-1549-4912-B547-04260640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91C70-3A70-419E-BECC-F84AB5D6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EB9A3-7C19-4CF7-AB73-D58E51F2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1AC6-2C08-4CE5-9959-DCDF9EA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총괄 책임자와 핵심 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EA2F4-0562-4334-A499-BBB4DDC0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30FEA-D79E-4D6D-B169-941A84B4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사업관리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D39C1-F989-406B-B804-4E4FF5B7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담당 역할과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3BE87-768C-48EE-9542-67165EDA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9D2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07BF2-0C0F-43E5-9D94-F4C3501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전문 수행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DE435-F049-43C7-9D7A-B7B06D17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담당 역할과 책임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706C2-6A0F-4AEC-96E1-8FCB575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AC4EE-A1BA-461B-805D-5F70048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품질관리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09E07-BAF7-4806-AA15-BC248935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담당 역할과 책임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46A5A-ABE3-4728-AC81-68EB19F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A3DD8-C2D7-4298-9078-2148573A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운영지원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60A8F-40F9-42C8-B3E3-A945EAEE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529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담당 역할과 책임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3227E-FDDC-440B-B144-692019E7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8803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6061C-1301-40AE-A3E1-4282C3A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E8E68-D0EA-4FAC-8229-E1EFEA0A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마일스톤마다 검토와 승인 시점을 명확히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6ED7-AEAF-4A06-9959-F2CA143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6A712-29A5-483B-97A5-7D65A7EE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FB272-683B-4F18-8367-A8C107A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C77A1-8DA1-4248-AA9D-E1075321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E21D2-D51D-49A4-9CE6-8FD8F42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1C22"/>
                </a:solidFill>
              </a:defRPr>
            </a:pPr>
            <a:r>
              <a:rPr sz="1500" b="1">
                <a:solidFill>
                  <a:srgbClr val="271C22"/>
                </a:solidFill>
              </a:rPr>
              <a:t>착수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CA902-2416-4A44-8D4D-2500A21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주요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4C314-D25D-45D9-9A0B-44C65AE1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A3964-209F-4CAB-8663-D8543E9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1C22"/>
                </a:solidFill>
              </a:defRPr>
            </a:pPr>
            <a:r>
              <a:rPr sz="1500" b="1">
                <a:solidFill>
                  <a:srgbClr val="271C22"/>
                </a:solidFill>
              </a:rPr>
              <a:t>분석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F22ED-77C3-4ED2-97AC-8691B87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주요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A8D02-434B-4487-9A4E-159DB60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8FEA9-3937-4773-969C-A8C6DCE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1C22"/>
                </a:solidFill>
              </a:defRPr>
            </a:pPr>
            <a:r>
              <a:rPr sz="1500" b="1">
                <a:solidFill>
                  <a:srgbClr val="271C22"/>
                </a:solidFill>
              </a:rPr>
              <a:t>중간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C14CF-5DC9-4154-B68A-4F83F40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주요 산출물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7B2E0-43B3-436C-8110-1B6A90D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B07D2-1F61-40EF-8FDF-FC9EB97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1C22"/>
                </a:solidFill>
              </a:defRPr>
            </a:pPr>
            <a:r>
              <a:rPr sz="1500" b="1">
                <a:solidFill>
                  <a:srgbClr val="271C22"/>
                </a:solidFill>
              </a:rPr>
              <a:t>최종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4E58F-F5A6-43F2-9B9E-C2FD6187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주요 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F612E-306A-41DC-933F-3FB72D81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7655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879E8-68F5-46B4-8377-7A36F5A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10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1C22"/>
                </a:solidFill>
              </a:defRPr>
            </a:pPr>
            <a:r>
              <a:rPr sz="1500" b="1">
                <a:solidFill>
                  <a:srgbClr val="271C22"/>
                </a:solidFill>
              </a:rPr>
              <a:t>완료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FE096-913D-46A2-9658-8F4EA76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주요 산출물</a:t>
            </a:r>
          </a:p>
        </p:txBody>
      </p:sp>
    </p:spTree>
    <p:extLst>
      <p:ext uri="{BB962C8B-B14F-4D97-AF65-F5344CB8AC3E}">
        <p14:creationId xmlns:p14="http://schemas.microsoft.com/office/powerpoint/2010/main" val="9921295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EC666-1339-4213-B92F-FFF89EE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A866-C8AF-4FB8-8D00-2C1B205C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검증된 수행 경험을 이번 사업의 성과로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C3541-9B72-4406-B825-70A1926B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E755F-67E0-46B5-8440-2398FCC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AB663-3E31-434B-AF93-DEA05A3C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4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C2446"/>
                </a:solidFill>
              </a:defRPr>
            </a:pPr>
            <a:r>
              <a:rPr sz="2400" b="1">
                <a:solidFill>
                  <a:srgbClr val="6C2446"/>
                </a:solidFill>
              </a:rPr>
              <a:t>회사의 핵심 역량과 유사 수행실적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0358-ADCC-4F48-84F9-BCEDD37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5656E"/>
                </a:solidFill>
              </a:defRPr>
            </a:pPr>
            <a:r>
              <a:rPr sz="1500" b="0">
                <a:solidFill>
                  <a:srgbClr val="75656E"/>
                </a:solidFill>
              </a:rPr>
              <a:t>공고 요구사항과 직접 연결되는 실적만 선별해 제시합니다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C6008-9FCE-455E-8B4E-2014953F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6C24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D54E1-664B-4984-BA66-31075B5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전문 역량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925F7-3494-4DD5-956B-92A971C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CD4DE"/>
                </a:solidFill>
              </a:defRPr>
            </a:pPr>
            <a:r>
              <a:rPr sz="1275" b="0">
                <a:solidFill>
                  <a:srgbClr val="ECD4DE"/>
                </a:solidFill>
              </a:rPr>
              <a:t>검증 가능한 근거를 작성합니다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79AC9-DEC3-40FA-8B42-E712BFB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BCA70-28FC-4D0E-8C78-9AC1DED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유사 실적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42F67-40C5-4681-9E47-5FDCE9B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0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검증 가능한 근거를 작성합니다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E6612-95E4-40B7-9866-F60F01A9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5295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01076-058A-4C87-8B2C-7F7F92F3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1C22"/>
                </a:solidFill>
              </a:defRPr>
            </a:pPr>
            <a:r>
              <a:rPr sz="1575" b="1">
                <a:solidFill>
                  <a:srgbClr val="271C22"/>
                </a:solidFill>
              </a:rPr>
              <a:t>품질 기반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B5DA3-8A87-49C2-A2E5-78C3555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529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5656E"/>
                </a:solidFill>
              </a:defRPr>
            </a:pPr>
            <a:r>
              <a:rPr sz="1275" b="0">
                <a:solidFill>
                  <a:srgbClr val="75656E"/>
                </a:solidFill>
              </a:rPr>
              <a:t>검증 가능한 근거를 작성합니다</a:t>
            </a:r>
          </a:p>
        </p:txBody>
      </p:sp>
    </p:spTree>
    <p:extLst>
      <p:ext uri="{BB962C8B-B14F-4D97-AF65-F5344CB8AC3E}">
        <p14:creationId xmlns:p14="http://schemas.microsoft.com/office/powerpoint/2010/main" val="2046083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2F7D0-D6D1-4A94-9B90-9EFC0967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87259-C42C-46A4-ABFD-BE61A5C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1C22"/>
                </a:solidFill>
              </a:defRPr>
            </a:pPr>
            <a:r>
              <a:rPr sz="2850" b="1">
                <a:solidFill>
                  <a:srgbClr val="271C22"/>
                </a:solidFill>
              </a:rPr>
              <a:t>품질과 위험을 사전에 통제하는 운영 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2254F-2DD6-4864-AB89-EC392099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143FD-89AD-4B46-B90B-84CC8EF3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2D04A-2DD8-49C1-A13A-F4B9EC5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C2446"/>
                </a:solidFill>
              </a:defRPr>
            </a:pPr>
            <a:r>
              <a:rPr sz="1950" b="1">
                <a:solidFill>
                  <a:srgbClr val="6C2446"/>
                </a:solidFill>
              </a:rPr>
              <a:t>품질관리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0FD1E-8879-4075-8211-D0623F88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5656E"/>
                </a:solidFill>
              </a:defRPr>
            </a:pPr>
            <a:r>
              <a:rPr sz="1500" b="0">
                <a:solidFill>
                  <a:srgbClr val="75656E"/>
                </a:solidFill>
              </a:rPr>
              <a:t>예방·점검·개선의 품질관리 절차와 승인 기준을 작성합니다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79E83-9A78-4EEA-A0A4-F01C068F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71650"/>
            <a:ext cx="190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8F650-8C40-4020-9B6F-BF68F41D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C2446"/>
                </a:solidFill>
              </a:defRPr>
            </a:pPr>
            <a:r>
              <a:rPr sz="1950" b="1">
                <a:solidFill>
                  <a:srgbClr val="6C2446"/>
                </a:solidFill>
              </a:rPr>
              <a:t>위험관리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C3186-7243-4269-9F60-D898048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5656E"/>
                </a:solidFill>
              </a:defRPr>
            </a:pPr>
            <a:r>
              <a:rPr sz="1500" b="0">
                <a:solidFill>
                  <a:srgbClr val="75656E"/>
                </a:solidFill>
              </a:rPr>
              <a:t>주요 위험, 예방조치, 발생 시 대응과 책임자를 명확히 작성합니다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A5326-88D9-4A93-84D4-E89E3FD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172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52D33-E122-4EDD-91BA-7D7DC76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1C22"/>
                </a:solidFill>
              </a:defRPr>
            </a:pPr>
            <a:r>
              <a:rPr sz="1350" b="1">
                <a:solidFill>
                  <a:srgbClr val="271C22"/>
                </a:solidFill>
              </a:rPr>
              <a:t>보고 · 협의 · 승인 · 변경관리</a:t>
            </a:r>
          </a:p>
        </p:txBody>
      </p:sp>
    </p:spTree>
    <p:extLst>
      <p:ext uri="{BB962C8B-B14F-4D97-AF65-F5344CB8AC3E}">
        <p14:creationId xmlns:p14="http://schemas.microsoft.com/office/powerpoint/2010/main" val="249838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6C24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94110-1718-4292-B4F7-4DD8F30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38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4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7B2F3-233A-46B0-B7E2-E4FD058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실행으로 증명하는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4FBF4-F50D-4289-A6D9-24D8EAD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CD4DE"/>
                </a:solidFill>
              </a:defRPr>
            </a:pPr>
            <a:r>
              <a:rPr sz="1875" b="0">
                <a:solidFill>
                  <a:srgbClr val="ECD4DE"/>
                </a:solidFill>
              </a:rPr>
              <a:t>발주처의 성공 기준을 끝까지 책임지겠습니다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80D79-8BA1-495D-9490-9BCF971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853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75273-69BB-4FD9-912F-DB7FAAD8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정확한 이해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7D1B-D65A-48F7-A0BE-CF9DC5D8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853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49196-2A21-4B8A-8FBB-4C419424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책임 있는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69C6-9924-40A8-96BD-8B154CA9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05300"/>
            <a:ext cx="3028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853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637A8-0C0B-45C4-9E6C-0352D281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0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검증 가능한 성과</a:t>
            </a:r>
          </a:p>
        </p:txBody>
      </p:sp>
    </p:spTree>
    <p:extLst>
      <p:ext uri="{BB962C8B-B14F-4D97-AF65-F5344CB8AC3E}">
        <p14:creationId xmlns:p14="http://schemas.microsoft.com/office/powerpoint/2010/main" val="627177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2026-08-22T05:47:23.5260000Z</dcterms:created>
  <dcterms:modified xsi:type="dcterms:W3CDTF">2026-08-22T05:47:23.5260000Z</dcterms:modified>
</coreProperties>
</file>