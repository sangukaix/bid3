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d4ab84831342e3" /><Relationship Type="http://schemas.openxmlformats.org/officeDocument/2006/relationships/extended-properties" Target="/docProps/app.xml" Id="R6d6612d6419d4104" /><Relationship Type="http://schemas.openxmlformats.org/officeDocument/2006/relationships/officeDocument" Target="/ppt/presentation.xml" Id="R5bb9ae20af6949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1cc17e3724e07"/>
  </p:sldMasterIdLst>
  <p:notesMasterIdLst>
    <p:notesMasterId xmlns:r="http://schemas.openxmlformats.org/officeDocument/2006/relationships" r:id="Ra25cf424c5e24238"/>
  </p:notesMasterIdLst>
  <p:sldIdLst>
    <p:sldId xmlns:r="http://schemas.openxmlformats.org/officeDocument/2006/relationships" id="256" r:id="R33b54281ca9041a8"/>
    <p:sldId xmlns:r="http://schemas.openxmlformats.org/officeDocument/2006/relationships" id="257" r:id="R48dd7431ea4a4f35"/>
    <p:sldId xmlns:r="http://schemas.openxmlformats.org/officeDocument/2006/relationships" id="258" r:id="R28f8e9e8b96b4db6"/>
    <p:sldId xmlns:r="http://schemas.openxmlformats.org/officeDocument/2006/relationships" id="259" r:id="Rb55b6bb6509443b9"/>
    <p:sldId xmlns:r="http://schemas.openxmlformats.org/officeDocument/2006/relationships" id="260" r:id="Rcda3bf05343d48ee"/>
    <p:sldId xmlns:r="http://schemas.openxmlformats.org/officeDocument/2006/relationships" id="261" r:id="R39e664560e69407a"/>
    <p:sldId xmlns:r="http://schemas.openxmlformats.org/officeDocument/2006/relationships" id="262" r:id="Rb1f13cf7dc16473c"/>
    <p:sldId xmlns:r="http://schemas.openxmlformats.org/officeDocument/2006/relationships" id="263" r:id="R8f30c8039cf94192"/>
    <p:sldId xmlns:r="http://schemas.openxmlformats.org/officeDocument/2006/relationships" id="264" r:id="Rca1fbe7180fe4676"/>
    <p:sldId xmlns:r="http://schemas.openxmlformats.org/officeDocument/2006/relationships" id="265" r:id="R7592abc8d194429c"/>
    <p:sldId xmlns:r="http://schemas.openxmlformats.org/officeDocument/2006/relationships" id="266" r:id="R2f352649923541cf"/>
    <p:sldId xmlns:r="http://schemas.openxmlformats.org/officeDocument/2006/relationships" id="267" r:id="Ra1b4dbf23da347db"/>
    <p:sldId xmlns:r="http://schemas.openxmlformats.org/officeDocument/2006/relationships" id="268" r:id="Ra5b3f277c9a144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51126c4af74b5c" /><Relationship Type="http://schemas.openxmlformats.org/officeDocument/2006/relationships/slideMaster" Target="/ppt/slideMasters/slideMaster1.xml" Id="Rd051cc17e3724e07" /><Relationship Type="http://schemas.openxmlformats.org/officeDocument/2006/relationships/notesMaster" Target="/ppt/notesMasters/notesMaster1.xml" Id="Ra25cf424c5e24238" /><Relationship Type="http://schemas.openxmlformats.org/officeDocument/2006/relationships/presProps" Target="/ppt/presProps.xml" Id="Rade534421af24c24" /><Relationship Type="http://schemas.openxmlformats.org/officeDocument/2006/relationships/tableStyles" Target="/ppt/tableStyles.xml" Id="R96e10c68cade44cc" /><Relationship Type="http://schemas.openxmlformats.org/officeDocument/2006/relationships/slide" Target="/ppt/slides/slide1.xml" Id="R33b54281ca9041a8" /><Relationship Type="http://schemas.openxmlformats.org/officeDocument/2006/relationships/slide" Target="/ppt/slides/slide2.xml" Id="R48dd7431ea4a4f35" /><Relationship Type="http://schemas.openxmlformats.org/officeDocument/2006/relationships/slide" Target="/ppt/slides/slide3.xml" Id="R28f8e9e8b96b4db6" /><Relationship Type="http://schemas.openxmlformats.org/officeDocument/2006/relationships/slide" Target="/ppt/slides/slide4.xml" Id="Rb55b6bb6509443b9" /><Relationship Type="http://schemas.openxmlformats.org/officeDocument/2006/relationships/slide" Target="/ppt/slides/slide5.xml" Id="Rcda3bf05343d48ee" /><Relationship Type="http://schemas.openxmlformats.org/officeDocument/2006/relationships/slide" Target="/ppt/slides/slide6.xml" Id="R39e664560e69407a" /><Relationship Type="http://schemas.openxmlformats.org/officeDocument/2006/relationships/slide" Target="/ppt/slides/slide7.xml" Id="Rb1f13cf7dc16473c" /><Relationship Type="http://schemas.openxmlformats.org/officeDocument/2006/relationships/slide" Target="/ppt/slides/slide8.xml" Id="R8f30c8039cf94192" /><Relationship Type="http://schemas.openxmlformats.org/officeDocument/2006/relationships/slide" Target="/ppt/slides/slide9.xml" Id="Rca1fbe7180fe4676" /><Relationship Type="http://schemas.openxmlformats.org/officeDocument/2006/relationships/slide" Target="/ppt/slides/slide10.xml" Id="R7592abc8d194429c" /><Relationship Type="http://schemas.openxmlformats.org/officeDocument/2006/relationships/slide" Target="/ppt/slides/slide11.xml" Id="R2f352649923541cf" /><Relationship Type="http://schemas.openxmlformats.org/officeDocument/2006/relationships/slide" Target="/ppt/slides/slide12.xml" Id="Ra1b4dbf23da347db" /><Relationship Type="http://schemas.openxmlformats.org/officeDocument/2006/relationships/slide" Target="/ppt/slides/slide13.xml" Id="Ra5b3f277c9a1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5b1b33c9d4d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56ad9e6d044dc" /><Relationship Type="http://schemas.openxmlformats.org/officeDocument/2006/relationships/notesMaster" Target="/ppt/notesMasters/notesMaster1.xml" Id="R4dd2b09ce5f54e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92cb92ad1f4207" /><Relationship Type="http://schemas.openxmlformats.org/officeDocument/2006/relationships/notesMaster" Target="/ppt/notesMasters/notesMaster1.xml" Id="R19c8dfc089f6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670a2b370348e0" /><Relationship Type="http://schemas.openxmlformats.org/officeDocument/2006/relationships/notesMaster" Target="/ppt/notesMasters/notesMaster1.xml" Id="R0e8958a92ad246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baf8132ea845ab" /><Relationship Type="http://schemas.openxmlformats.org/officeDocument/2006/relationships/notesMaster" Target="/ppt/notesMasters/notesMaster1.xml" Id="R826bde15620542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96a63868094ff1" /><Relationship Type="http://schemas.openxmlformats.org/officeDocument/2006/relationships/notesMaster" Target="/ppt/notesMasters/notesMaster1.xml" Id="R71601e03aba4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9922ac2b374243" /><Relationship Type="http://schemas.openxmlformats.org/officeDocument/2006/relationships/notesMaster" Target="/ppt/notesMasters/notesMaster1.xml" Id="Rd79d3a52d3684b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380e15e2734098" /><Relationship Type="http://schemas.openxmlformats.org/officeDocument/2006/relationships/notesMaster" Target="/ppt/notesMasters/notesMaster1.xml" Id="Rac092254b84d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3f26a017ce46e3" /><Relationship Type="http://schemas.openxmlformats.org/officeDocument/2006/relationships/notesMaster" Target="/ppt/notesMasters/notesMaster1.xml" Id="R5104118f09fc42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821861ac824aca" /><Relationship Type="http://schemas.openxmlformats.org/officeDocument/2006/relationships/notesMaster" Target="/ppt/notesMasters/notesMaster1.xml" Id="R26eb6b2c3dbc44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4679195df04230" /><Relationship Type="http://schemas.openxmlformats.org/officeDocument/2006/relationships/notesMaster" Target="/ppt/notesMasters/notesMaster1.xml" Id="Rbffe8478f40c48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8e8e6cd817469c" /><Relationship Type="http://schemas.openxmlformats.org/officeDocument/2006/relationships/notesMaster" Target="/ppt/notesMasters/notesMaster1.xml" Id="R09c1c42cb12a4c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d655bc0dc542f4" /><Relationship Type="http://schemas.openxmlformats.org/officeDocument/2006/relationships/notesMaster" Target="/ppt/notesMasters/notesMaster1.xml" Id="Rfcd0db34ba6149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0f103e430140d8" /><Relationship Type="http://schemas.openxmlformats.org/officeDocument/2006/relationships/notesMaster" Target="/ppt/notesMasters/notesMaster1.xml" Id="R271dbf2f056f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94905e69747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3e72aaa634a70" /><Relationship Type="http://schemas.openxmlformats.org/officeDocument/2006/relationships/slideLayout" Target="/ppt/slideLayouts/slideLayout1.xml" Id="Ra3a46ab46fa14d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a46ab46fa14d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591db53d94a75" /><Relationship Type="http://schemas.openxmlformats.org/officeDocument/2006/relationships/notesSlide" Target="/ppt/notesSlides/notesSlide1.xml" Id="R24990f1ac3474e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055d25df344c9" /><Relationship Type="http://schemas.openxmlformats.org/officeDocument/2006/relationships/notesSlide" Target="/ppt/notesSlides/notesSlide2.xml" Id="Rd8e8ca19868e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c5c6a09ac47b7" /><Relationship Type="http://schemas.openxmlformats.org/officeDocument/2006/relationships/notesSlide" Target="/ppt/notesSlides/notesSlide3.xml" Id="Re0156133e92a42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56dfd3cfe47f7" /><Relationship Type="http://schemas.openxmlformats.org/officeDocument/2006/relationships/notesSlide" Target="/ppt/notesSlides/notesSlide4.xml" Id="Re42d2c6401e042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c2be4a7e44078" /><Relationship Type="http://schemas.openxmlformats.org/officeDocument/2006/relationships/notesSlide" Target="/ppt/notesSlides/notesSlide5.xml" Id="Rc4a068defadd49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ad688ca784387" /><Relationship Type="http://schemas.openxmlformats.org/officeDocument/2006/relationships/notesSlide" Target="/ppt/notesSlides/notesSlide6.xml" Id="Re027cb27d8f84b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854f3b3144500" /><Relationship Type="http://schemas.openxmlformats.org/officeDocument/2006/relationships/notesSlide" Target="/ppt/notesSlides/notesSlide7.xml" Id="Rfb6dc4018f3e47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55ace416b455d" /><Relationship Type="http://schemas.openxmlformats.org/officeDocument/2006/relationships/notesSlide" Target="/ppt/notesSlides/notesSlide8.xml" Id="Raa9055b551284a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3d5106c4949a6" /><Relationship Type="http://schemas.openxmlformats.org/officeDocument/2006/relationships/notesSlide" Target="/ppt/notesSlides/notesSlide9.xml" Id="R4d186a019e2441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dc134a4094308" /><Relationship Type="http://schemas.openxmlformats.org/officeDocument/2006/relationships/notesSlide" Target="/ppt/notesSlides/notesSlide10.xml" Id="Rf5e7db98c7df46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bb82e98ee4283" /><Relationship Type="http://schemas.openxmlformats.org/officeDocument/2006/relationships/notesSlide" Target="/ppt/notesSlides/notesSlide11.xml" Id="R8bd90866046b4b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db35547d4b9d" /><Relationship Type="http://schemas.openxmlformats.org/officeDocument/2006/relationships/notesSlide" Target="/ppt/notesSlides/notesSlide12.xml" Id="R52c627698c314c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03c1dde5e49b6" /><Relationship Type="http://schemas.openxmlformats.org/officeDocument/2006/relationships/notesSlide" Target="/ppt/notesSlides/notesSlide13.xml" Id="Rf56c0b367e30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98E55-CD36-4FE3-903D-4512B153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3495D-8BD5-4B10-98EB-269F3AF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E8"/>
                </a:solidFill>
              </a:defRPr>
            </a:pPr>
            <a:r>
              <a:rPr sz="975" b="1">
                <a:solidFill>
                  <a:srgbClr val="3157E8"/>
                </a:solidFill>
              </a:rPr>
              <a:t>BID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D0E95-B7F7-468F-9C50-5EC7F297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19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C26"/>
                </a:solidFill>
              </a:defRPr>
            </a:pPr>
            <a:r>
              <a:rPr sz="3600" b="1">
                <a:solidFill>
                  <a:srgbClr val="171C26"/>
                </a:solidFill>
              </a:rPr>
              <a:t>사업명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DD5D1-9473-48DE-9015-35F806B9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</a:defRPr>
            </a:pPr>
            <a:r>
              <a:rPr sz="1500" b="0">
                <a:solidFill>
                  <a:srgbClr val="687386"/>
                </a:solidFill>
              </a:rPr>
              <a:t>발주처의 목표를 실행 가능한 성과로 전환하는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36D28-4947-4E70-8953-05EF1833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333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13BE6-1257-4270-8E4B-A58A9CE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제안사명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8D578-C9CD-45F6-8B30-09B1DD7F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714750" cy="49530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84A54-2CA6-490F-BE26-18D05A34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5730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BC631-DAFF-4554-A095-90EF6D4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B3F70-E3F7-4AD5-8E9C-4EF06C45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FFFFF"/>
                </a:solidFill>
              </a:defRPr>
            </a:pPr>
            <a:r>
              <a:rPr sz="7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754DB-6B4F-402E-8FDC-22C8203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CLEAR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EF4B7-DA4F-4AF4-9575-4933A007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정확한 이해 · 실행 중심 설계 · 검증 가능한 성과</a:t>
            </a:r>
          </a:p>
        </p:txBody>
      </p:sp>
    </p:spTree>
    <p:extLst>
      <p:ext uri="{BB962C8B-B14F-4D97-AF65-F5344CB8AC3E}">
        <p14:creationId xmlns:p14="http://schemas.microsoft.com/office/powerpoint/2010/main" val="200646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D3A0A-1DF8-47B9-B8C3-7129D3D6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0033A-4A15-43E0-91BE-9056434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FC76E-8B3E-43F3-85C8-FB2EEE11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제안의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4166E-C3D7-4D0A-81C6-73976537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핵심 의사결정 순서에 맞춰 내용을 구성합니다.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BBB58-F23D-4F11-9C65-F9BEF94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7E8"/>
                </a:solidFill>
              </a:defRPr>
            </a:pPr>
            <a:r>
              <a:rPr sz="1950" b="1">
                <a:solidFill>
                  <a:srgbClr val="3157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2E624-847D-46C9-82EB-965AE19F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사업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5070D-70C6-4513-971E-4F5222C3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1930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461E6-8000-426F-92A3-75E821E8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</a:defRPr>
            </a:pPr>
            <a:r>
              <a:rPr sz="825" b="0">
                <a:solidFill>
                  <a:srgbClr val="687386"/>
                </a:solidFill>
              </a:rPr>
              <a:t>핵심 내용을 한 문장으로 정리합니다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E5654-761D-4681-83F1-1539B9F7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87386"/>
                </a:solidFill>
              </a:defRPr>
            </a:pPr>
            <a:r>
              <a:rPr sz="1950" b="1">
                <a:solidFill>
                  <a:srgbClr val="68738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09CCB-9A22-48BC-A94A-B1DD1729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제안 전략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10B51-FB9B-4FE8-B9F7-68C09250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035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E0920-EAB5-4B0C-BB57-6E6F21CF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908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</a:defRPr>
            </a:pPr>
            <a:r>
              <a:rPr sz="825" b="0">
                <a:solidFill>
                  <a:srgbClr val="687386"/>
                </a:solidFill>
              </a:rPr>
              <a:t>핵심 내용을 한 문장으로 정리합니다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54B38-0853-491A-B1EE-F39D6BCD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87386"/>
                </a:solidFill>
              </a:defRPr>
            </a:pPr>
            <a:r>
              <a:rPr sz="1950" b="1">
                <a:solidFill>
                  <a:srgbClr val="68738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2EC58-5C52-4D6C-9C52-8C41CA97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수행 방안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05738-2B39-40DE-B2A0-BE8540D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8140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35989-56CA-4B44-9615-220410AA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718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</a:defRPr>
            </a:pPr>
            <a:r>
              <a:rPr sz="825" b="0">
                <a:solidFill>
                  <a:srgbClr val="687386"/>
                </a:solidFill>
              </a:rPr>
              <a:t>핵심 내용을 한 문장으로 정리합니다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440E4-B6CF-4022-823A-3B24804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87386"/>
                </a:solidFill>
              </a:defRPr>
            </a:pPr>
            <a:r>
              <a:rPr sz="1950" b="1">
                <a:solidFill>
                  <a:srgbClr val="68738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7CEA6-5099-43AD-8D0B-5004E4A5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관리 체계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14F78-C72D-468D-ABBF-548B928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6245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E5C1F-A817-465F-8D4C-990A670D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29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</a:defRPr>
            </a:pPr>
            <a:r>
              <a:rPr sz="825" b="0">
                <a:solidFill>
                  <a:srgbClr val="687386"/>
                </a:solidFill>
              </a:rPr>
              <a:t>핵심 내용을 한 문장으로 정리합니다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B4FF4F-FBBD-425C-B2DA-AAD7BE5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87386"/>
                </a:solidFill>
              </a:defRPr>
            </a:pPr>
            <a:r>
              <a:rPr sz="1950" b="1">
                <a:solidFill>
                  <a:srgbClr val="687386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77D1B-344F-45BF-B176-A25C91C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회사 역량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3DB6E-4069-4C77-A01D-786DC7C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4350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A12E6-53FD-4DC7-BCE5-99AB1A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33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</a:defRPr>
            </a:pPr>
            <a:r>
              <a:rPr sz="825" b="0">
                <a:solidFill>
                  <a:srgbClr val="687386"/>
                </a:solidFill>
              </a:rPr>
              <a:t>핵심 내용을 한 문장으로 정리합니다</a:t>
            </a:r>
          </a:p>
        </p:txBody>
      </p:sp>
    </p:spTree>
    <p:extLst>
      <p:ext uri="{BB962C8B-B14F-4D97-AF65-F5344CB8AC3E}">
        <p14:creationId xmlns:p14="http://schemas.microsoft.com/office/powerpoint/2010/main" val="257954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E444E-1AE5-4A33-BE10-C064F08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03F30-4796-4DB4-BFA4-00138EF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B8A7"/>
                </a:solidFill>
              </a:defRPr>
            </a:pPr>
            <a:r>
              <a:rPr sz="1050" b="1">
                <a:solidFill>
                  <a:srgbClr val="22B8A7"/>
                </a:solidFill>
              </a:rPr>
              <a:t>SECTION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0925D-2D60-4E08-A595-418A4A79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사업 이해와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제안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5EE2-7416-4BD8-B2D5-3CBFA24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5D8"/>
                </a:solidFill>
              </a:defRPr>
            </a:pPr>
            <a:r>
              <a:rPr sz="1350" b="0">
                <a:solidFill>
                  <a:srgbClr val="B9C5D8"/>
                </a:solidFill>
              </a:rPr>
              <a:t>발주처의 요구를 정확히 해석하고 실행 방향을 제시합니다.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08257-A3A7-43D6-AF92-45DF2B7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28700"/>
            <a:ext cx="2333625" cy="40005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202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CC6E0-8201-4120-A0F7-90175FA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2400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4C56C-BAEF-4741-A606-D54CD9D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152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C3C37-C272-446B-AE0D-845351D9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1123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FA59F-0399-4C7D-B866-FAB965E6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67150"/>
            <a:ext cx="723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7630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9D47F-DAD9-434B-8F22-B389D89B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BB191-F1C3-46B9-B3A2-C99B09EA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3DD84-38C1-46BD-8BB6-53FDD74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제안 핵심을 한눈에 보여드립니다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080BE-C965-4EF0-9763-913F6FB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의사결정자가 먼저 확인해야 할 메시지와 근거입니다.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7319A-C6F3-405A-A1D7-A18D7A32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D7613-8D8F-4520-8909-A3FCAD81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발주처의 핵심 과제를 해결하는 단 하나의 제안 메시지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189E1-FB02-4C33-BDF2-C3A276D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핵심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5EA25-CEDB-4E7E-B768-24D1EF8F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성과 중심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98228-F11C-4574-8E06-06F6B5EF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AE241-2842-464D-A4A8-556A9EDE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B8A7"/>
                </a:solidFill>
              </a:defRPr>
            </a:pPr>
            <a:r>
              <a:rPr sz="1350" b="1">
                <a:solidFill>
                  <a:srgbClr val="22B8A7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95CD3-90F3-412C-B855-D3B1E674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C26"/>
                </a:solidFill>
              </a:defRPr>
            </a:pPr>
            <a:r>
              <a:rPr sz="1350" b="1">
                <a:solidFill>
                  <a:srgbClr val="171C26"/>
                </a:solidFill>
              </a:rPr>
              <a:t>정확한 이해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D37BE-0AB8-4091-A5A5-00EA616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핵심 내용을 근거와 함께 간결하게 설명합니다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D264C-3CFF-4B9D-B934-1597DC92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B54C3-BF8D-4B0C-BDE3-16B633D8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2AF8C-B564-4EAE-B8B2-5CEB2AF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C26"/>
                </a:solidFill>
              </a:defRPr>
            </a:pPr>
            <a:r>
              <a:rPr sz="1350" b="1">
                <a:solidFill>
                  <a:srgbClr val="171C26"/>
                </a:solidFill>
              </a:rPr>
              <a:t>차별화 전략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3D65E-D3C8-4FFD-9FFC-0DA6A9A8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핵심 내용을 근거와 함께 간결하게 설명합니다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AE39D-76BB-4FA0-B1FE-CDD61BA0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73D2C-3D16-44A3-843A-24FD6E10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B8A7"/>
                </a:solidFill>
              </a:defRPr>
            </a:pPr>
            <a:r>
              <a:rPr sz="1350" b="1">
                <a:solidFill>
                  <a:srgbClr val="22B8A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18C64-4B6B-48D7-BBDB-A17D57E3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C26"/>
                </a:solidFill>
              </a:defRPr>
            </a:pPr>
            <a:r>
              <a:rPr sz="1350" b="1">
                <a:solidFill>
                  <a:srgbClr val="171C26"/>
                </a:solidFill>
              </a:rPr>
              <a:t>기대 성과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7401F-6E6C-4610-BA3F-C9ECBBF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핵심 내용을 근거와 함께 간결하게 설명합니다</a:t>
            </a:r>
          </a:p>
        </p:txBody>
      </p:sp>
    </p:spTree>
    <p:extLst>
      <p:ext uri="{BB962C8B-B14F-4D97-AF65-F5344CB8AC3E}">
        <p14:creationId xmlns:p14="http://schemas.microsoft.com/office/powerpoint/2010/main" val="626293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00DBF-0551-4182-9E71-FC58A168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3DC7F-5516-401D-8C37-59D321CE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62280-9A73-4455-8C47-FCDA9466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현재의 과제를 실행 목표로 전환합니다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BE27C-87A6-4347-957F-6E77FE86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문제의 원인과 목표 상태를 분리해 제안 논리를 선명하게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92B29-2F13-414B-8C51-B46319A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4A82C-30F6-4C97-AFB3-D31D87FC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700CC-DBBD-4F3F-855D-3462BD30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현재 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42EDB-1492-4367-AAB6-F22FA7FC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공고와 요구사항에서 확인한 핵심 내용을 정리합니다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EC166-312A-4418-931A-D9FE001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B7652-AD0E-438D-B32F-65D7E582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522C2-C150-45A1-A227-E2B659C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핵심 원인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F6DE4-E853-4828-9720-9700BA1F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공고와 요구사항에서 확인한 핵심 내용을 정리합니다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09E70-0536-4659-BC92-C85AA0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7C302-A5B3-4D27-B257-03A8F4E2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8A694-7E16-4F96-AE17-C6464C89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우선 과제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40FB9-7F68-44BC-B2E6-988E9A8D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공고와 요구사항에서 확인한 핵심 내용을 정리합니다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50151-E1BB-416A-A075-81257ED1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157E8"/>
                </a:solidFill>
              </a:defRPr>
            </a:pPr>
            <a:r>
              <a:rPr sz="3000" b="1">
                <a:solidFill>
                  <a:srgbClr val="3157E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C9299-A0A5-4C10-AC91-40958E3B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0292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CCB88-2139-4864-8FC8-2606421D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B8A7"/>
                </a:solidFill>
              </a:defRPr>
            </a:pPr>
            <a:r>
              <a:rPr sz="1050" b="1">
                <a:solidFill>
                  <a:srgbClr val="22B8A7"/>
                </a:solidFill>
              </a:rPr>
              <a:t>목표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F02D6-59A9-4088-BAFC-0E202B6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C26"/>
                </a:solidFill>
              </a:defRPr>
            </a:pPr>
            <a:r>
              <a:rPr sz="2550" b="1">
                <a:solidFill>
                  <a:srgbClr val="171C26"/>
                </a:solidFill>
              </a:rPr>
              <a:t>제안 이후 달라질</a:t>
            </a:r>
          </a:p>
          <a:p xmlns:a="http://schemas.openxmlformats.org/drawingml/2006/main">
            <a:pPr algn="l">
              <a:defRPr sz="2550" b="1">
                <a:solidFill>
                  <a:srgbClr val="171C26"/>
                </a:solidFill>
              </a:defRPr>
            </a:pPr>
            <a:r>
              <a:rPr sz="2550" b="1">
                <a:solidFill>
                  <a:srgbClr val="171C26"/>
                </a:solidFill>
              </a:rPr>
              <a:t>구체적인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D19D3-8D94-4E77-A464-48DD477A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</a:defRPr>
            </a:pPr>
            <a:r>
              <a:rPr sz="1125" b="0">
                <a:solidFill>
                  <a:srgbClr val="687386"/>
                </a:solidFill>
              </a:rPr>
              <a:t>측정 가능한 성과와 완료 기준을 중심으로 설명합니다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8FE7A-5C30-4371-BE20-025264B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190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0969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135D6-5C85-4DEA-8F5A-6B8C3C59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CCC54-67B1-4398-82C4-CFBCF4DA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9FBF7-E2C9-4470-AE6D-406A0BF4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평가기준마다 명확한 대응 근거를 제시합니다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3D89E-10D6-486E-A54B-DCBA1D4D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고배점 항목과 회사의 증빙을 직접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DCF51-F522-44AB-BD7E-ABE5EFF9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23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964CF-2526-48EE-903D-20E6B7A4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C26"/>
                </a:solidFill>
              </a:defRPr>
            </a:pPr>
            <a:r>
              <a:rPr sz="1125" b="1">
                <a:solidFill>
                  <a:srgbClr val="171C26"/>
                </a:solidFill>
              </a:rPr>
              <a:t>평가항목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6D1C9-4417-40D9-9D31-642AFE2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19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핵심 전략과 회사의 증빙 내용을 연결합니다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0B4AC-C17F-48EE-887B-54599135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97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157E8"/>
                </a:solidFill>
              </a:defRPr>
            </a:pPr>
            <a:r>
              <a:rPr sz="1650" b="1">
                <a:solidFill>
                  <a:srgbClr val="3157E8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FC1B1-EB3D-4566-8A21-FB8A735B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23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B8CB5-B224-47C7-83FB-5444004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C26"/>
                </a:solidFill>
              </a:defRPr>
            </a:pPr>
            <a:r>
              <a:rPr sz="1125" b="1">
                <a:solidFill>
                  <a:srgbClr val="171C26"/>
                </a:solidFill>
              </a:rPr>
              <a:t>평가항목 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AF42C-4EC9-447C-806E-79CC2C36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242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수행 방법과 검증 기준을 함께 제시합니다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2A38F-4A08-4137-B7DE-F70683E2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157E8"/>
                </a:solidFill>
              </a:defRPr>
            </a:pPr>
            <a:r>
              <a:rPr sz="1650" b="1">
                <a:solidFill>
                  <a:srgbClr val="3157E8"/>
                </a:solidFill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96310-0F64-44BE-90E1-CD91B43B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723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F8394-AAA6-4820-B609-71882738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C26"/>
                </a:solidFill>
              </a:defRPr>
            </a:pPr>
            <a:r>
              <a:rPr sz="1125" b="1">
                <a:solidFill>
                  <a:srgbClr val="171C26"/>
                </a:solidFill>
              </a:rPr>
              <a:t>평가항목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84C3F-B2D8-463E-9168-1B7ED7E7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29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유사 실적과 기대 성과를 정리합니다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1BB3B-5E3B-48C7-9CD5-1366F56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95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157E8"/>
                </a:solidFill>
              </a:defRPr>
            </a:pPr>
            <a:r>
              <a:rPr sz="1650" b="1">
                <a:solidFill>
                  <a:srgbClr val="3157E8"/>
                </a:solidFill>
              </a:rPr>
              <a:t>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B440B-6A9E-4EC3-B432-F295D516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916A7-97F6-4370-9F87-62D295ED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WINNING 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ECD8D-686E-4635-9972-723A59C8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38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평가자가 바로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확인할 수 있는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차별화 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2200F-63A0-4D9E-9482-7E54BE6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38650"/>
            <a:ext cx="1238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1665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5387F-F96D-431D-87E7-E0BC95A7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F3247-BB8F-45F5-9380-1D9359AB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9A277-D323-4B90-8C60-BED5CC0F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수행 절차는 단계와 산출물로 증명합니다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D3FEC-3D9D-46F4-AD13-BCFB2C4D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각 단계의 책임과 완료 기준을 한 흐름으로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543FB-1011-4A44-902B-E17A8B9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F18BF-53D4-40CB-905E-7EB5CFAE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50C34-B393-4A6F-819B-EB00AA00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60AC8-7387-4208-BEC8-E29D202E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착수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79133-686F-45A7-85B8-5EEEF6EC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산출물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5153F-07E2-4C3A-8ADA-515A1737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81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F0C80-85E8-4A5D-88EE-6E6BD77F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14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76EDB-539F-4729-A7E4-625A09C5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528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D17D4-5776-4A27-B029-3D18089D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829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산출물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B0C86-584C-4D60-96FF-3610AD46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9525">
            <a:solidFill>
              <a:srgbClr val="3157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3A394-06D0-4BAD-8590-F343F34C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14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37772-8F99-4C79-BA3C-F938845F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528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설계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367B9-CCA9-4E84-B13E-4BA6778D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29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산출물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6F310-BF89-4868-A80C-82F61E60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81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311D3-6C47-46F2-902E-992D49E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514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43766-446D-4945-9243-256C24F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528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81BEB-83EE-4299-AB8A-08928E62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29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산출물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79EC5-3C2E-4AD0-9A26-632F55E1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44F46-75F9-4756-95C3-2B880094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C1DC5-2E4D-4519-9F0F-2A56D7A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528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75B0C-0EFD-4AFB-9781-742F559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29313-DF7B-4866-B30C-9CC6F54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B09CC-D098-45D4-96A2-E28F39B9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7E8"/>
                </a:solidFill>
              </a:defRPr>
            </a:pPr>
            <a:r>
              <a:rPr sz="1050" b="1">
                <a:solidFill>
                  <a:srgbClr val="3157E8"/>
                </a:solidFill>
              </a:rPr>
              <a:t>단계별 검토와 발주처 승인을 거쳐 다음 단계로 이동합니다</a:t>
            </a:r>
          </a:p>
        </p:txBody>
      </p:sp>
    </p:spTree>
    <p:extLst>
      <p:ext uri="{BB962C8B-B14F-4D97-AF65-F5344CB8AC3E}">
        <p14:creationId xmlns:p14="http://schemas.microsoft.com/office/powerpoint/2010/main" val="114820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6EBB7-EDCE-43B0-A260-0F3FBE95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C3C89-3C2E-43B5-BC48-0CA509B4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71DAA-D082-48C8-BDF8-611E2F8E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핵심 과업은 책임과 완료기준까지 설계합니다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A9FEC-1F40-409C-B57E-FB3DE98B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실행 단위를 구체화해 제안의 현실성을 높입니다.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35340-FFD4-4536-9AAA-98E3DF52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9525">
            <a:solidFill>
              <a:srgbClr val="1520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8F192-BB03-472C-A30A-7BC15DD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B8A7"/>
                </a:solidFill>
              </a:defRPr>
            </a:pPr>
            <a:r>
              <a:rPr sz="1350" b="1">
                <a:solidFill>
                  <a:srgbClr val="22B8A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AE50C-999A-4783-B94E-A03E1D29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00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요구사항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91C1B-289E-41C1-94FC-7786136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76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E4"/>
                </a:solidFill>
              </a:defRPr>
            </a:pPr>
            <a:r>
              <a:rPr sz="975" b="0">
                <a:solidFill>
                  <a:srgbClr val="C7D2E4"/>
                </a:solidFill>
              </a:rPr>
              <a:t>공고와 과업지시서의 핵심 요구를 구조화합니다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89522-E31A-400F-BA62-561F9854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449AB-D1D8-4949-86ED-615D46A4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D5336-2BAF-4439-A041-67E1F10A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수행 설계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3AE37-47BC-431A-AE3A-BC4DDBB0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인력·일정·산출물과 협의 절차를 설계합니다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8C509-CFEC-4CDF-BCBE-BC916268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D1A6B-BE06-4AF8-B892-39DFEB3F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6210A-896C-4AFA-8F8B-894A88B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품질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B9B7D-FB7B-4AB4-B1C5-0D5D046D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완료 기준에 따라 결과를 점검하고 보완합니다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21B73-1927-43ED-A461-18DF3066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D7F93-5EF1-46B4-AE9A-5FD432D6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7E8"/>
                </a:solidFill>
              </a:defRPr>
            </a:pPr>
            <a:r>
              <a:rPr sz="1350" b="1">
                <a:solidFill>
                  <a:srgbClr val="3157E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A1C75-EC5A-4DB1-AD23-A3E4881E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C26"/>
                </a:solidFill>
              </a:defRPr>
            </a:pPr>
            <a:r>
              <a:rPr sz="1425" b="1">
                <a:solidFill>
                  <a:srgbClr val="171C26"/>
                </a:solidFill>
              </a:rPr>
              <a:t>성과 정착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70944-F874-42B9-A290-E212A8AC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운영 인계와 지속 개선 방안을 제시합니다</a:t>
            </a:r>
          </a:p>
        </p:txBody>
      </p:sp>
    </p:spTree>
    <p:extLst>
      <p:ext uri="{BB962C8B-B14F-4D97-AF65-F5344CB8AC3E}">
        <p14:creationId xmlns:p14="http://schemas.microsoft.com/office/powerpoint/2010/main" val="923134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E746A-A5E4-4C17-9533-1934411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A761F-9FCF-490D-A944-9357D02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07B21-B07C-4A21-999D-7E687353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책임이 분명한 수행 조직으로 의사결정을 단축합니다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73C5B-53CF-4568-8278-74B98FD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발주처와 제안사의 협업 체계를 한눈에 보여드립니다.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5675A-A1F6-4C45-98FA-77F4DF1D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E4233-C1AE-4AE4-BFD4-8616C4C9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총괄 책임자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7EFFF-004B-427E-9E9E-04EB81CE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AA858-8E51-4F57-8329-6168C52D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438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6977B-2B74-44B1-82BD-5508D03F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7E8"/>
                </a:solidFill>
              </a:defRPr>
            </a:pPr>
            <a:r>
              <a:rPr sz="1125" b="1">
                <a:solidFill>
                  <a:srgbClr val="3157E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B4563-EEEF-4298-A410-DFC2A95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사업관리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1809A-F641-4760-B6E3-41010C47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담당 역할과 책임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C84D8-307A-4794-A506-BE587A76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438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AE246-DBC0-4694-A690-58C958CF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7E8"/>
                </a:solidFill>
              </a:defRPr>
            </a:pPr>
            <a:r>
              <a:rPr sz="1125" b="1">
                <a:solidFill>
                  <a:srgbClr val="3157E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B0181-1C1B-412B-A4E1-827208D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전문 수행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7C74F-31F9-45AF-B040-6C0C6E92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담당 역할과 책임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D64A4-A83B-4975-969E-E169D5D7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2438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73332-EDAE-4EDE-A472-A7A0172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7E8"/>
                </a:solidFill>
              </a:defRPr>
            </a:pPr>
            <a:r>
              <a:rPr sz="1125" b="1">
                <a:solidFill>
                  <a:srgbClr val="3157E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9503F-2502-4AF9-894E-674CE0D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품질관리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E8387-D25B-48EC-BED9-5090D12E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담당 역할과 책임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D9DDB-DDFC-46B3-8405-880AA632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438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B2423-CFD5-4954-9E4E-31F906C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7E8"/>
                </a:solidFill>
              </a:defRPr>
            </a:pPr>
            <a:r>
              <a:rPr sz="1125" b="1">
                <a:solidFill>
                  <a:srgbClr val="3157E8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14820-E6F6-44F5-9C74-EA3B3921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운영지원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898DF-2B5B-4ED4-A179-DFEA4A59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67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담당 역할과 책임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2DA30-4D2F-475A-B94F-CA4C9CD8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DB9B3E-3A8D-4003-AB4F-A2E69146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B8A7"/>
                </a:solidFill>
              </a:defRPr>
            </a:pPr>
            <a:r>
              <a:rPr sz="975" b="1">
                <a:solidFill>
                  <a:srgbClr val="22B8A7"/>
                </a:solidFill>
              </a:rPr>
              <a:t>보고 · 협의 · 승인 · 이슈 대응 절차</a:t>
            </a:r>
          </a:p>
        </p:txBody>
      </p:sp>
    </p:spTree>
    <p:extLst>
      <p:ext uri="{BB962C8B-B14F-4D97-AF65-F5344CB8AC3E}">
        <p14:creationId xmlns:p14="http://schemas.microsoft.com/office/powerpoint/2010/main" val="1365908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B730B-7FA5-40C8-A0AB-39EF740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2C7A1-D347-4499-A0B8-D5D5B3E5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FC49A-F991-4987-B47D-AB33B66A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마일스톤마다 검토와 승인 시점을 명확히 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6723D-D431-4732-B707-148A2337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일정 지연을 예방하고 산출물의 완성도를 관리합니다.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AA178-56B5-4296-81F6-968064BD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E8"/>
                </a:solidFill>
              </a:defRPr>
            </a:pPr>
            <a:r>
              <a:rPr sz="1050" b="1">
                <a:solidFill>
                  <a:srgbClr val="3157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5F12F-6044-49B4-9D41-A9513C77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착수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E7F10-E25F-420F-9275-E94DBEF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80975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DDA25-5394-4212-9BB7-726A3F5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활동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3951F-76ED-4209-A394-E6BA37C9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완료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042B4-B2D7-4329-88BF-D49B9F1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81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E8"/>
                </a:solidFill>
              </a:defRPr>
            </a:pPr>
            <a:r>
              <a:rPr sz="1050" b="1">
                <a:solidFill>
                  <a:srgbClr val="3157E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8323A-07E0-4D9B-BD25-403E4B6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24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1F975-8FF0-4E5A-93A8-D5B34C9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180975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156EB-AA1C-4FAE-AA16-D841464A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95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활동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91A23-1040-489F-B500-06BF3E77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완료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2126A-A3FD-48D4-BD9A-DEAEFD5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E8"/>
                </a:solidFill>
              </a:defRPr>
            </a:pPr>
            <a:r>
              <a:rPr sz="1050" b="1">
                <a:solidFill>
                  <a:srgbClr val="3157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9D6FF-7561-46C4-9BE7-E0371F5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중간검토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4A3BC-DB81-404C-9891-627CCAE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180975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D1430-7730-4345-9C62-F6D28FAA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95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활동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90898-71A2-4A6D-997D-5B65CD57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완료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C1026-1658-4B00-9752-4BEDD9F6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E8"/>
                </a:solidFill>
              </a:defRPr>
            </a:pPr>
            <a:r>
              <a:rPr sz="1050" b="1">
                <a:solidFill>
                  <a:srgbClr val="3157E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DB202-B1B4-4794-B60C-C19E5705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최종검토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35E54-5A10-487B-A7AA-25D7AF7C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180975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D457B-8489-4E6C-BD17-7929986A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활동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C5479-8D26-4665-87FE-1FAC9D3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완료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219FE-9B9C-4D50-9986-C01B58B5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E8"/>
                </a:solidFill>
              </a:defRPr>
            </a:pPr>
            <a:r>
              <a:rPr sz="1050" b="1">
                <a:solidFill>
                  <a:srgbClr val="3157E8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810AF-7803-45A7-B87D-4570CF87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완료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20178F-0095-4BC5-AFA2-77B2BD7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80975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33D70-0283-434C-9425-DFBCCDF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5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주요 활동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41F34-DAEF-41D9-8B7C-8B135648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</a:defRPr>
            </a:pPr>
            <a:r>
              <a:rPr sz="900" b="0">
                <a:solidFill>
                  <a:srgbClr val="687386"/>
                </a:solidFill>
              </a:rPr>
              <a:t>완료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6BA7B-5FF2-4749-9D2A-6C9E13C4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24B34-7AB8-41A1-B58E-03CA639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B8A7"/>
                </a:solidFill>
              </a:defRPr>
            </a:pPr>
            <a:r>
              <a:rPr sz="975" b="1">
                <a:solidFill>
                  <a:srgbClr val="22B8A7"/>
                </a:solidFill>
              </a:rPr>
              <a:t>핵심 마일스톤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ECEFF-9D48-4708-B389-EC4CDBC9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01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발주처 검토 결과를 다음 단계 계획에 즉시 반영합니다</a:t>
            </a:r>
          </a:p>
        </p:txBody>
      </p:sp>
    </p:spTree>
    <p:extLst>
      <p:ext uri="{BB962C8B-B14F-4D97-AF65-F5344CB8AC3E}">
        <p14:creationId xmlns:p14="http://schemas.microsoft.com/office/powerpoint/2010/main" val="1261876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353C5-0681-4187-89D1-E2B137FC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D9145-8605-42BB-B316-59A7096E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63B47-48AF-4DB5-B072-D6B989AD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검증된 경험을 이번 사업의 성과로 연결합니다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A6A1B-63A4-416B-B834-9AB4FBF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주장보다 유사 실적과 재현 가능한 역량을 제시합니다.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2FA37-86A9-4C0B-8F21-A8129468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95650" cy="34671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15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285FB-FBF6-469C-8021-0F094EC5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C0FC0-EC59-491D-A657-A28FDDCD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B8A7"/>
                </a:solidFill>
              </a:defRPr>
            </a:pPr>
            <a:r>
              <a:rPr sz="1200" b="1">
                <a:solidFill>
                  <a:srgbClr val="22B8A7"/>
                </a:solidFill>
              </a:rPr>
              <a:t>핵심 성과 지표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32D0-0F26-4976-8A7D-56EB2DCD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E4"/>
                </a:solidFill>
              </a:defRPr>
            </a:pPr>
            <a:r>
              <a:rPr sz="975" b="0">
                <a:solidFill>
                  <a:srgbClr val="C7D2E4"/>
                </a:solidFill>
              </a:rPr>
              <a:t>측정 기준과 근거를 함께 제시합니다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BADA0-F7AB-446F-A911-FBDFB4B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7162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19936-A2F8-44B6-B32B-CA57788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95868-73CC-4860-8C6A-D13A82DC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전문 역량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C7D36-F6FA-413D-B40D-F1DA5745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670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검증 가능한 회사 정보와 적용 경험을 간결하게 정리합니다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5FAEB-FA3E-4B6A-9486-5994098B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7162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F4E4A-A178-40DC-94BB-D90D372F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619C4-3476-4249-A1AA-CDD9F4E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유사 수행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BA3CB-F534-4397-961C-EF1E5622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670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검증 가능한 회사 정보와 적용 경험을 간결하게 정리합니다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09814-7941-458C-A7F7-54D3A09E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7162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347E5-AF10-4CF6-A5DD-3FACC53B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E1CF9-8BDE-40C0-8283-75C936D8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C26"/>
                </a:solidFill>
              </a:defRPr>
            </a:pPr>
            <a:r>
              <a:rPr sz="1275" b="1">
                <a:solidFill>
                  <a:srgbClr val="171C26"/>
                </a:solidFill>
              </a:rPr>
              <a:t>품질 기반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0D7F4-D61F-44D3-ABE7-D2876DAE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05350"/>
            <a:ext cx="670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</a:defRPr>
            </a:pPr>
            <a:r>
              <a:rPr sz="975" b="0">
                <a:solidFill>
                  <a:srgbClr val="687386"/>
                </a:solidFill>
              </a:rPr>
              <a:t>검증 가능한 회사 정보와 적용 경험을 간결하게 정리합니다</a:t>
            </a:r>
          </a:p>
        </p:txBody>
      </p:sp>
    </p:spTree>
    <p:extLst>
      <p:ext uri="{BB962C8B-B14F-4D97-AF65-F5344CB8AC3E}">
        <p14:creationId xmlns:p14="http://schemas.microsoft.com/office/powerpoint/2010/main" val="15532281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29422-62F1-4D62-9703-6BC1A671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6FA13-5F0D-4179-BB9C-F4C9B97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</a:defRPr>
            </a:pPr>
            <a:r>
              <a:rPr sz="900" b="1">
                <a:solidFill>
                  <a:srgbClr val="687386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5D3F4-3F83-43A9-808C-F30FD3FB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C26"/>
                </a:solidFill>
              </a:defRPr>
            </a:pPr>
            <a:r>
              <a:rPr sz="2250" b="1">
                <a:solidFill>
                  <a:srgbClr val="171C26"/>
                </a:solidFill>
              </a:rPr>
              <a:t>품질과 위험을 사전에 통제하는 운영 체계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91A92-55FC-4C88-B2F3-8C714FE5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</a:defRPr>
            </a:pPr>
            <a:r>
              <a:rPr sz="1050" b="0">
                <a:solidFill>
                  <a:srgbClr val="687386"/>
                </a:solidFill>
              </a:rPr>
              <a:t>예방·검증·보완 절차를 책임자와 함께 제시합니다.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03D7D-1210-4DBB-A3A4-24E257E4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9DE02-2BBD-485F-917C-F3A248CF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E6DCC-F3C3-4AA2-8CE5-1502DCEB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26"/>
                </a:solidFill>
              </a:defRPr>
            </a:pPr>
            <a:r>
              <a:rPr sz="1650" b="1">
                <a:solidFill>
                  <a:srgbClr val="171C26"/>
                </a:solidFill>
              </a:rPr>
              <a:t>품질관리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8A708-7359-46C7-BA6A-33C58396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26"/>
                </a:solidFill>
              </a:defRPr>
            </a:pPr>
            <a:r>
              <a:rPr sz="1650" b="1">
                <a:solidFill>
                  <a:srgbClr val="171C26"/>
                </a:solidFill>
              </a:rPr>
              <a:t>위험관리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A0E6E-951B-415D-A362-BC0D309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C30E2-5781-49BC-9797-703A6833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</a:defRPr>
            </a:pPr>
            <a:r>
              <a:rPr sz="1125" b="0">
                <a:solidFill>
                  <a:srgbClr val="687386"/>
                </a:solidFill>
              </a:rPr>
              <a:t>기준 수립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209C0-0BB9-4726-8464-C749C029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4B675-C657-4845-9A9E-09A6DA7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718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</a:defRPr>
            </a:pPr>
            <a:r>
              <a:rPr sz="1125" b="0">
                <a:solidFill>
                  <a:srgbClr val="687386"/>
                </a:solidFill>
              </a:rPr>
              <a:t>단계별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43ED1-A6F2-4B5E-8ABF-5CCDA915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94A18-FC40-45AB-9BBC-3784910D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386"/>
                </a:solidFill>
              </a:defRPr>
            </a:pPr>
            <a:r>
              <a:rPr sz="1125" b="1">
                <a:solidFill>
                  <a:srgbClr val="687386"/>
                </a:solidFill>
              </a:rPr>
              <a:t>완료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E62DF-2CBD-406B-A833-DFF7FE74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6D8F0-A970-46DB-9EAA-0D74BCE6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</a:defRPr>
            </a:pPr>
            <a:r>
              <a:rPr sz="1125" b="0">
                <a:solidFill>
                  <a:srgbClr val="687386"/>
                </a:solidFill>
              </a:rPr>
              <a:t>위험 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98271-D8FB-4D45-BAE0-3C2047AB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C240F-719C-400F-85A1-A0268D3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386"/>
                </a:solidFill>
              </a:defRPr>
            </a:pPr>
            <a:r>
              <a:rPr sz="1125" b="1">
                <a:solidFill>
                  <a:srgbClr val="687386"/>
                </a:solidFill>
              </a:rPr>
              <a:t>대응 책임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89A51-742C-44A0-9398-43C018F7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4AE0A-17E2-46A5-9DD2-AE34360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</a:defRPr>
            </a:pPr>
            <a:r>
              <a:rPr sz="1125" b="0">
                <a:solidFill>
                  <a:srgbClr val="687386"/>
                </a:solidFill>
              </a:rPr>
              <a:t>재발 방지</a:t>
            </a:r>
          </a:p>
        </p:txBody>
      </p:sp>
    </p:spTree>
    <p:extLst>
      <p:ext uri="{BB962C8B-B14F-4D97-AF65-F5344CB8AC3E}">
        <p14:creationId xmlns:p14="http://schemas.microsoft.com/office/powerpoint/2010/main" val="16080093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EF47D-E5A2-4346-9D4E-97CB8CAD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9BA99-9988-45B2-BFA7-9772F1C1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99060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16D8A-62C2-41BE-9014-CD971E6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B8A7"/>
                </a:solidFill>
              </a:defRPr>
            </a:pPr>
            <a:r>
              <a:rPr sz="975" b="1">
                <a:solidFill>
                  <a:srgbClr val="22B8A7"/>
                </a:solidFill>
              </a:rPr>
              <a:t>FINAL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597BD-C734-40B2-ADA8-C2810FDA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실행으로 증명하는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E65ED-19D3-45B6-8712-06435A8D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7D2E4"/>
                </a:solidFill>
              </a:defRPr>
            </a:pPr>
            <a:r>
              <a:rPr sz="1425" b="0">
                <a:solidFill>
                  <a:srgbClr val="C7D2E4"/>
                </a:solidFill>
              </a:rPr>
              <a:t>발주처의 성공 기준을 끝까지 책임지겠습니다.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91C0A-A9B1-4CC9-8D44-4A8E2BD2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38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AC1D6-EA2F-4B31-8B26-62CFA742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정확한 이해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0A0D-FB62-496A-AC11-11F714CF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62500"/>
            <a:ext cx="2038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35842-136B-4B82-AFAC-771F42F9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76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책임 있는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E4C59-5A98-44B1-89E6-10C62353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2038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406B1-F054-429C-B346-EC1F5658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76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검증 가능한 성과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7DA5F-2976-401F-A47B-2BE959A4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0240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2026-08-22T06:06:59.9620000Z</dcterms:created>
  <dcterms:modified xsi:type="dcterms:W3CDTF">2026-08-22T06:06:59.9620000Z</dcterms:modified>
</coreProperties>
</file>